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4.png"/><Relationship Id="rId7" Type="http://schemas.openxmlformats.org/officeDocument/2006/relationships/image" Target="../media/image-1-7.png"/><Relationship Id="rId8" Type="http://schemas.openxmlformats.org/officeDocument/2006/relationships/image" Target="../media/image-1-4.png"/><Relationship Id="rId9" Type="http://schemas.openxmlformats.org/officeDocument/2006/relationships/image" Target="../media/image-1-7.png"/><Relationship Id="rId10" Type="http://schemas.openxmlformats.org/officeDocument/2006/relationships/image" Target="../media/image-1-4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38912"/>
            <a:ext cx="11155680" cy="1115568"/>
          </a:xfrm>
          <a:prstGeom prst="roundRect">
            <a:avLst>
              <a:gd name="adj" fmla="val 6557"/>
            </a:avLst>
          </a:prstGeom>
          <a:solidFill>
            <a:srgbClr val="FFF3ED">
              <a:alpha val="88000"/>
            </a:srgbClr>
          </a:solidFill>
          <a:ln w="12700">
            <a:solidFill>
              <a:srgbClr val="F05A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26510" y="292608"/>
            <a:ext cx="4908499" cy="29260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1115568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5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Coordination metadata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883664"/>
            <a:ext cx="11155680" cy="4206240"/>
          </a:xfrm>
          <a:prstGeom prst="roundRect">
            <a:avLst>
              <a:gd name="adj" fmla="val 1739"/>
            </a:avLst>
          </a:prstGeom>
          <a:solidFill>
            <a:srgbClr val="F4F8FF">
              <a:alpha val="92000"/>
            </a:srgbClr>
          </a:solidFill>
          <a:ln w="12700">
            <a:solidFill>
              <a:srgbClr val="0B4DB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26510" y="1737360"/>
            <a:ext cx="4908499" cy="29260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764792"/>
            <a:ext cx="1115568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4D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Selective-delivery data plane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931920" y="658368"/>
            <a:ext cx="19202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3335">
            <a:solidFill>
              <a:srgbClr val="F05A24"/>
            </a:solidFill>
            <a:prstDash val="solid"/>
          </a:ln>
        </p:spPr>
      </p:sp>
      <p:pic>
        <p:nvPicPr>
          <p:cNvPr id="9" name="Image 0" descr="C:\Users\postm\Dropbox\ProjectsWorkingSpace\VeriEdge\paper1_veriedge\img\icons\figure2_tight\icon_allocation_commit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06498" y="731520"/>
            <a:ext cx="290924" cy="35661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443984" y="768096"/>
            <a:ext cx="1316736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05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group G_j</a:t>
            </a:r>
            <a:endParaRPr lang="en-US" sz="880" dirty="0"/>
          </a:p>
        </p:txBody>
      </p:sp>
      <p:sp>
        <p:nvSpPr>
          <p:cNvPr id="11" name="Shape 8"/>
          <p:cNvSpPr/>
          <p:nvPr/>
        </p:nvSpPr>
        <p:spPr>
          <a:xfrm>
            <a:off x="6355080" y="658368"/>
            <a:ext cx="19202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3335">
            <a:solidFill>
              <a:srgbClr val="F05A24"/>
            </a:solidFill>
            <a:prstDash val="solid"/>
          </a:ln>
        </p:spPr>
      </p:sp>
      <p:pic>
        <p:nvPicPr>
          <p:cNvPr id="12" name="Image 1" descr="C:\Users\postm\Dropbox\ProjectsWorkingSpace\VeriEdge\paper1_veriedge\img\icons\figure2_tight\icon_result_trace_commitm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5674" y="731520"/>
            <a:ext cx="278892" cy="35661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867144" y="768096"/>
            <a:ext cx="1316736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05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Payload commitment com_j</a:t>
            </a:r>
            <a:endParaRPr lang="en-US" sz="840" dirty="0"/>
          </a:p>
        </p:txBody>
      </p:sp>
      <p:sp>
        <p:nvSpPr>
          <p:cNvPr id="14" name="Shape 10"/>
          <p:cNvSpPr/>
          <p:nvPr/>
        </p:nvSpPr>
        <p:spPr>
          <a:xfrm>
            <a:off x="804672" y="2907792"/>
            <a:ext cx="1170432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3335">
            <a:solidFill>
              <a:srgbClr val="0B4DBB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77824" y="3017520"/>
            <a:ext cx="1005840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endParaRPr lang="en-US" sz="920" dirty="0"/>
          </a:p>
        </p:txBody>
      </p:sp>
      <p:sp>
        <p:nvSpPr>
          <p:cNvPr id="16" name="Text 12"/>
          <p:cNvSpPr/>
          <p:nvPr/>
        </p:nvSpPr>
        <p:spPr>
          <a:xfrm>
            <a:off x="896112" y="3054096"/>
            <a:ext cx="987552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B4D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Requester</a:t>
            </a:r>
            <a:endParaRPr lang="en-US" sz="920" dirty="0"/>
          </a:p>
        </p:txBody>
      </p:sp>
      <p:pic>
        <p:nvPicPr>
          <p:cNvPr id="17" name="Image 2" descr="C:\Users\postm\Dropbox\ProjectsWorkingSpace\VeriEdge\paper1_veriedge\img\icons\figure2_tight\icon_request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9624" y="3355848"/>
            <a:ext cx="446208" cy="310896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2514600" y="2542032"/>
            <a:ext cx="187452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3335">
            <a:solidFill>
              <a:srgbClr val="111111"/>
            </a:solidFill>
            <a:prstDash val="solid"/>
          </a:ln>
        </p:spPr>
      </p:sp>
      <p:pic>
        <p:nvPicPr>
          <p:cNvPr id="19" name="Image 3" descr="C:\Users\postm\Dropbox\ProjectsWorkingSpace\VeriEdge\paper1_veriedge\img\icons\figure2_tight\icon_targeted_key_releas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4328" y="2730085"/>
            <a:ext cx="420624" cy="37370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3026664" y="2651760"/>
            <a:ext cx="1271016" cy="28492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 once</a:t>
            </a:r>
            <a:endParaRPr lang="en-US" sz="850" dirty="0"/>
          </a:p>
        </p:txBody>
      </p:sp>
      <p:sp>
        <p:nvSpPr>
          <p:cNvPr id="21" name="Text 15"/>
          <p:cNvSpPr/>
          <p:nvPr/>
        </p:nvSpPr>
        <p:spPr>
          <a:xfrm>
            <a:off x="3026664" y="2961924"/>
            <a:ext cx="1271016" cy="20994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C_j = E_sym(k_j, m_j)</a:t>
            </a:r>
            <a:endParaRPr lang="en-US" sz="680" dirty="0"/>
          </a:p>
        </p:txBody>
      </p:sp>
      <p:sp>
        <p:nvSpPr>
          <p:cNvPr id="22" name="Shape 16"/>
          <p:cNvSpPr/>
          <p:nvPr/>
        </p:nvSpPr>
        <p:spPr>
          <a:xfrm>
            <a:off x="5029200" y="2542032"/>
            <a:ext cx="169164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3335">
            <a:solidFill>
              <a:srgbClr val="111111"/>
            </a:solidFill>
            <a:prstDash val="solid"/>
          </a:ln>
        </p:spPr>
      </p:sp>
      <p:pic>
        <p:nvPicPr>
          <p:cNvPr id="23" name="Image 4" descr="C:\Users\postm\Dropbox\ProjectsWorkingSpace\VeriEdge\paper1_veriedge\img\icons\figure2_tight\icon_ipfs_storag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53203" y="2706624"/>
            <a:ext cx="392075" cy="42062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541264" y="2651760"/>
            <a:ext cx="1088136" cy="28492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IPFS / storage</a:t>
            </a:r>
            <a:endParaRPr lang="en-US" sz="850" dirty="0"/>
          </a:p>
        </p:txBody>
      </p:sp>
      <p:sp>
        <p:nvSpPr>
          <p:cNvPr id="25" name="Text 18"/>
          <p:cNvSpPr/>
          <p:nvPr/>
        </p:nvSpPr>
        <p:spPr>
          <a:xfrm>
            <a:off x="5541264" y="2961924"/>
            <a:ext cx="1088136" cy="20994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ciphertext C_j</a:t>
            </a:r>
            <a:endParaRPr lang="en-US" sz="680" dirty="0"/>
          </a:p>
        </p:txBody>
      </p:sp>
      <p:sp>
        <p:nvSpPr>
          <p:cNvPr id="26" name="Shape 19"/>
          <p:cNvSpPr/>
          <p:nvPr/>
        </p:nvSpPr>
        <p:spPr>
          <a:xfrm>
            <a:off x="2514600" y="4160520"/>
            <a:ext cx="1993392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3335">
            <a:solidFill>
              <a:srgbClr val="111111"/>
            </a:solidFill>
            <a:prstDash val="solid"/>
          </a:ln>
        </p:spPr>
      </p:sp>
      <p:pic>
        <p:nvPicPr>
          <p:cNvPr id="27" name="Image 5" descr="C:\Users\postm\Dropbox\ProjectsWorkingSpace\VeriEdge\paper1_veriedge\img\icons\figure2_tight\icon_targeted_key_releas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24328" y="4366861"/>
            <a:ext cx="420624" cy="373702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3026664" y="4270248"/>
            <a:ext cx="1389888" cy="29882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access package</a:t>
            </a:r>
            <a:endParaRPr lang="en-US" sz="840" dirty="0"/>
          </a:p>
        </p:txBody>
      </p:sp>
      <p:sp>
        <p:nvSpPr>
          <p:cNvPr id="29" name="Text 21"/>
          <p:cNvSpPr/>
          <p:nvPr/>
        </p:nvSpPr>
        <p:spPr>
          <a:xfrm>
            <a:off x="3026664" y="4600895"/>
            <a:ext cx="1389888" cy="2201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e_{i,j} = Enc_i(ℓ_j,k_j)</a:t>
            </a:r>
            <a:endParaRPr lang="en-US" sz="680" dirty="0"/>
          </a:p>
        </p:txBody>
      </p:sp>
      <p:sp>
        <p:nvSpPr>
          <p:cNvPr id="30" name="Shape 22"/>
          <p:cNvSpPr/>
          <p:nvPr/>
        </p:nvSpPr>
        <p:spPr>
          <a:xfrm>
            <a:off x="7543800" y="2907792"/>
            <a:ext cx="13258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3335">
            <a:solidFill>
              <a:srgbClr val="0B4DBB"/>
            </a:solidFill>
            <a:prstDash val="solid"/>
          </a:ln>
        </p:spPr>
      </p:sp>
      <p:pic>
        <p:nvPicPr>
          <p:cNvPr id="31" name="Image 6" descr="C:\Users\postm\Dropbox\ProjectsWorkingSpace\VeriEdge\paper1_veriedge\img\icons\figure2_tight\icon_provider_group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53528" y="3288825"/>
            <a:ext cx="331470" cy="106613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8055864" y="3017520"/>
            <a:ext cx="722376" cy="33009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B4D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</a:t>
            </a:r>
            <a:endParaRPr lang="en-US" sz="820" dirty="0"/>
          </a:p>
          <a:p>
            <a:pPr algn="ctr" indent="0" marL="0">
              <a:buNone/>
            </a:pPr>
            <a:r>
              <a:rPr lang="en-US" sz="820" b="1" dirty="0">
                <a:solidFill>
                  <a:srgbClr val="0B4D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</a:t>
            </a:r>
            <a:endParaRPr lang="en-US" sz="820" dirty="0"/>
          </a:p>
        </p:txBody>
      </p:sp>
      <p:sp>
        <p:nvSpPr>
          <p:cNvPr id="33" name="Text 24"/>
          <p:cNvSpPr/>
          <p:nvPr/>
        </p:nvSpPr>
        <p:spPr>
          <a:xfrm>
            <a:off x="8055864" y="3394253"/>
            <a:ext cx="722376" cy="24323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∈ G_j</a:t>
            </a:r>
            <a:endParaRPr lang="en-US" sz="680" dirty="0"/>
          </a:p>
        </p:txBody>
      </p:sp>
      <p:sp>
        <p:nvSpPr>
          <p:cNvPr id="34" name="Shape 25"/>
          <p:cNvSpPr/>
          <p:nvPr/>
        </p:nvSpPr>
        <p:spPr>
          <a:xfrm>
            <a:off x="9948672" y="2907792"/>
            <a:ext cx="1353312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3335">
            <a:solidFill>
              <a:srgbClr val="111111"/>
            </a:solidFill>
            <a:prstDash val="solid"/>
          </a:ln>
        </p:spPr>
      </p:sp>
      <p:pic>
        <p:nvPicPr>
          <p:cNvPr id="35" name="Image 7" descr="C:\Users\postm\Dropbox\ProjectsWorkingSpace\VeriEdge\paper1_veriedge\img\icons\figure2_tight\icon_targeted_key_releas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58400" y="3191839"/>
            <a:ext cx="338328" cy="300586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10460736" y="3017520"/>
            <a:ext cx="749808" cy="33009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 &amp; decrypt</a:t>
            </a:r>
            <a:endParaRPr lang="en-US" sz="800" dirty="0"/>
          </a:p>
        </p:txBody>
      </p:sp>
      <p:sp>
        <p:nvSpPr>
          <p:cNvPr id="37" name="Text 27"/>
          <p:cNvSpPr/>
          <p:nvPr/>
        </p:nvSpPr>
        <p:spPr>
          <a:xfrm>
            <a:off x="10460736" y="3394253"/>
            <a:ext cx="749808" cy="24323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(ℓ_j,k_j), C_j</a:t>
            </a:r>
            <a:endParaRPr lang="en-US" sz="680" dirty="0"/>
          </a:p>
        </p:txBody>
      </p:sp>
      <p:sp>
        <p:nvSpPr>
          <p:cNvPr id="38" name="Shape 28"/>
          <p:cNvSpPr/>
          <p:nvPr/>
        </p:nvSpPr>
        <p:spPr>
          <a:xfrm>
            <a:off x="7315200" y="4956048"/>
            <a:ext cx="1627632" cy="658368"/>
          </a:xfrm>
          <a:prstGeom prst="roundRect">
            <a:avLst>
              <a:gd name="adj" fmla="val 8333"/>
            </a:avLst>
          </a:prstGeom>
          <a:solidFill>
            <a:srgbClr val="F7F7F8"/>
          </a:solidFill>
          <a:ln w="13335">
            <a:solidFill>
              <a:srgbClr val="6B7280"/>
            </a:solidFill>
            <a:prstDash val="solid"/>
          </a:ln>
        </p:spPr>
      </p:sp>
      <p:pic>
        <p:nvPicPr>
          <p:cNvPr id="39" name="Image 8" descr="C:\Users\postm\Dropbox\ProjectsWorkingSpace\VeriEdge\paper1_veriedge\img\icons\figure2_tight\icon_provider_group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24928" y="5219794"/>
            <a:ext cx="406908" cy="130877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7827264" y="5065776"/>
            <a:ext cx="1024128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Non-winner /</a:t>
            </a:r>
            <a:endParaRPr lang="en-US" sz="760" dirty="0"/>
          </a:p>
          <a:p>
            <a:pPr algn="ctr" indent="0" marL="0">
              <a:buNone/>
            </a:pPr>
            <a:r>
              <a:rPr lang="en-US" sz="76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observer</a:t>
            </a:r>
            <a:endParaRPr lang="en-US" sz="760" dirty="0"/>
          </a:p>
        </p:txBody>
      </p:sp>
      <p:sp>
        <p:nvSpPr>
          <p:cNvPr id="41" name="Shape 30"/>
          <p:cNvSpPr/>
          <p:nvPr/>
        </p:nvSpPr>
        <p:spPr>
          <a:xfrm>
            <a:off x="9765792" y="4956048"/>
            <a:ext cx="1627632" cy="658368"/>
          </a:xfrm>
          <a:prstGeom prst="roundRect">
            <a:avLst>
              <a:gd name="adj" fmla="val 8333"/>
            </a:avLst>
          </a:prstGeom>
          <a:solidFill>
            <a:srgbClr val="F7F7F8"/>
          </a:solidFill>
          <a:ln w="13335">
            <a:solidFill>
              <a:srgbClr val="6B7280"/>
            </a:solidFill>
            <a:prstDash val="solid"/>
          </a:ln>
        </p:spPr>
      </p:sp>
      <p:pic>
        <p:nvPicPr>
          <p:cNvPr id="42" name="Image 9" descr="C:\Users\postm\Dropbox\ProjectsWorkingSpace\VeriEdge\paper1_veriedge\img\icons\figure2_tight\icon_targeted_key_releas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75520" y="5104474"/>
            <a:ext cx="406908" cy="361516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10277856" y="5065776"/>
            <a:ext cx="1024128" cy="2501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access tuple</a:t>
            </a:r>
            <a:endParaRPr lang="en-US" sz="760" dirty="0"/>
          </a:p>
        </p:txBody>
      </p:sp>
      <p:sp>
        <p:nvSpPr>
          <p:cNvPr id="44" name="Text 32"/>
          <p:cNvSpPr/>
          <p:nvPr/>
        </p:nvSpPr>
        <p:spPr>
          <a:xfrm>
            <a:off x="10277856" y="5324734"/>
            <a:ext cx="1024128" cy="18434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plaintext recovery</a:t>
            </a:r>
            <a:endParaRPr lang="en-US" sz="680" dirty="0"/>
          </a:p>
        </p:txBody>
      </p:sp>
      <p:sp>
        <p:nvSpPr>
          <p:cNvPr id="45" name="Shape 33"/>
          <p:cNvSpPr/>
          <p:nvPr/>
        </p:nvSpPr>
        <p:spPr>
          <a:xfrm>
            <a:off x="1389888" y="914400"/>
            <a:ext cx="2542032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46" name="Shape 34"/>
          <p:cNvSpPr/>
          <p:nvPr/>
        </p:nvSpPr>
        <p:spPr>
          <a:xfrm>
            <a:off x="1389888" y="914400"/>
            <a:ext cx="0" cy="1993392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  <a:headEnd type="none"/>
            <a:tailEnd type="triangle"/>
          </a:ln>
        </p:spPr>
      </p:sp>
      <p:sp>
        <p:nvSpPr>
          <p:cNvPr id="47" name="Text 35"/>
          <p:cNvSpPr/>
          <p:nvPr/>
        </p:nvSpPr>
        <p:spPr>
          <a:xfrm>
            <a:off x="1417320" y="1078992"/>
            <a:ext cx="114300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 providers</a:t>
            </a:r>
            <a:endParaRPr lang="en-US" sz="720" dirty="0"/>
          </a:p>
        </p:txBody>
      </p:sp>
      <p:sp>
        <p:nvSpPr>
          <p:cNvPr id="48" name="Shape 36"/>
          <p:cNvSpPr/>
          <p:nvPr/>
        </p:nvSpPr>
        <p:spPr>
          <a:xfrm>
            <a:off x="4892040" y="1161288"/>
            <a:ext cx="0" cy="50292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49" name="Shape 37"/>
          <p:cNvSpPr/>
          <p:nvPr/>
        </p:nvSpPr>
        <p:spPr>
          <a:xfrm>
            <a:off x="4892040" y="1664208"/>
            <a:ext cx="3319272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50" name="Shape 38"/>
          <p:cNvSpPr/>
          <p:nvPr/>
        </p:nvSpPr>
        <p:spPr>
          <a:xfrm>
            <a:off x="8211312" y="1664208"/>
            <a:ext cx="0" cy="1243584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  <a:headEnd type="none"/>
            <a:tailEnd type="triangle"/>
          </a:ln>
        </p:spPr>
      </p:sp>
      <p:sp>
        <p:nvSpPr>
          <p:cNvPr id="51" name="Text 39"/>
          <p:cNvSpPr/>
          <p:nvPr/>
        </p:nvSpPr>
        <p:spPr>
          <a:xfrm>
            <a:off x="7635240" y="1481328"/>
            <a:ext cx="123444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membership in G_j</a:t>
            </a:r>
            <a:endParaRPr lang="en-US" sz="720" dirty="0"/>
          </a:p>
        </p:txBody>
      </p:sp>
      <p:sp>
        <p:nvSpPr>
          <p:cNvPr id="52" name="Shape 40"/>
          <p:cNvSpPr/>
          <p:nvPr/>
        </p:nvSpPr>
        <p:spPr>
          <a:xfrm>
            <a:off x="3474720" y="1444752"/>
            <a:ext cx="0" cy="109728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53" name="Shape 41"/>
          <p:cNvSpPr/>
          <p:nvPr/>
        </p:nvSpPr>
        <p:spPr>
          <a:xfrm>
            <a:off x="3474720" y="1444752"/>
            <a:ext cx="3840480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54" name="Shape 42"/>
          <p:cNvSpPr/>
          <p:nvPr/>
        </p:nvSpPr>
        <p:spPr>
          <a:xfrm>
            <a:off x="7315200" y="1161288"/>
            <a:ext cx="0" cy="283464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  <a:headEnd type="triangle"/>
            <a:tailEnd type="none"/>
          </a:ln>
        </p:spPr>
      </p:sp>
      <p:sp>
        <p:nvSpPr>
          <p:cNvPr id="55" name="Text 43"/>
          <p:cNvSpPr/>
          <p:nvPr/>
        </p:nvSpPr>
        <p:spPr>
          <a:xfrm>
            <a:off x="3730752" y="1536192"/>
            <a:ext cx="82296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 com_j</a:t>
            </a:r>
            <a:endParaRPr lang="en-US" sz="720" dirty="0"/>
          </a:p>
        </p:txBody>
      </p:sp>
      <p:sp>
        <p:nvSpPr>
          <p:cNvPr id="56" name="Shape 44"/>
          <p:cNvSpPr/>
          <p:nvPr/>
        </p:nvSpPr>
        <p:spPr>
          <a:xfrm>
            <a:off x="1975104" y="3154680"/>
            <a:ext cx="539496" cy="0"/>
          </a:xfrm>
          <a:prstGeom prst="line">
            <a:avLst/>
          </a:prstGeom>
          <a:noFill/>
          <a:ln w="15240">
            <a:solidFill>
              <a:srgbClr val="0B4DBB"/>
            </a:solidFill>
            <a:prstDash val="solid"/>
            <a:headEnd type="none"/>
            <a:tailEnd type="triangle"/>
          </a:ln>
        </p:spPr>
      </p:sp>
      <p:sp>
        <p:nvSpPr>
          <p:cNvPr id="57" name="Text 45"/>
          <p:cNvSpPr/>
          <p:nvPr/>
        </p:nvSpPr>
        <p:spPr>
          <a:xfrm>
            <a:off x="1920240" y="2944368"/>
            <a:ext cx="713232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payload m_j</a:t>
            </a:r>
            <a:endParaRPr lang="en-US" sz="720" dirty="0"/>
          </a:p>
        </p:txBody>
      </p:sp>
      <p:sp>
        <p:nvSpPr>
          <p:cNvPr id="58" name="Shape 46"/>
          <p:cNvSpPr/>
          <p:nvPr/>
        </p:nvSpPr>
        <p:spPr>
          <a:xfrm>
            <a:off x="4389120" y="2916936"/>
            <a:ext cx="640080" cy="0"/>
          </a:xfrm>
          <a:prstGeom prst="line">
            <a:avLst/>
          </a:prstGeom>
          <a:noFill/>
          <a:ln w="15240">
            <a:solidFill>
              <a:srgbClr val="0B4DBB"/>
            </a:solidFill>
            <a:prstDash val="solid"/>
            <a:headEnd type="none"/>
            <a:tailEnd type="triangle"/>
          </a:ln>
        </p:spPr>
      </p:sp>
      <p:sp>
        <p:nvSpPr>
          <p:cNvPr id="59" name="Text 47"/>
          <p:cNvSpPr/>
          <p:nvPr/>
        </p:nvSpPr>
        <p:spPr>
          <a:xfrm>
            <a:off x="4407408" y="2724912"/>
            <a:ext cx="621792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C_j</a:t>
            </a:r>
            <a:endParaRPr lang="en-US" sz="720" dirty="0"/>
          </a:p>
        </p:txBody>
      </p:sp>
      <p:sp>
        <p:nvSpPr>
          <p:cNvPr id="60" name="Shape 48"/>
          <p:cNvSpPr/>
          <p:nvPr/>
        </p:nvSpPr>
        <p:spPr>
          <a:xfrm>
            <a:off x="1975104" y="3566160"/>
            <a:ext cx="237744" cy="0"/>
          </a:xfrm>
          <a:prstGeom prst="line">
            <a:avLst/>
          </a:prstGeom>
          <a:noFill/>
          <a:ln w="15240">
            <a:solidFill>
              <a:srgbClr val="0B4DBB"/>
            </a:solidFill>
            <a:prstDash val="solid"/>
            <a:headEnd type="none"/>
            <a:tailEnd type="none"/>
          </a:ln>
        </p:spPr>
      </p:sp>
      <p:sp>
        <p:nvSpPr>
          <p:cNvPr id="61" name="Shape 49"/>
          <p:cNvSpPr/>
          <p:nvPr/>
        </p:nvSpPr>
        <p:spPr>
          <a:xfrm>
            <a:off x="2212848" y="3566160"/>
            <a:ext cx="0" cy="987552"/>
          </a:xfrm>
          <a:prstGeom prst="line">
            <a:avLst/>
          </a:prstGeom>
          <a:noFill/>
          <a:ln w="15240">
            <a:solidFill>
              <a:srgbClr val="0B4DBB"/>
            </a:solidFill>
            <a:prstDash val="solid"/>
            <a:headEnd type="none"/>
            <a:tailEnd type="none"/>
          </a:ln>
        </p:spPr>
      </p:sp>
      <p:sp>
        <p:nvSpPr>
          <p:cNvPr id="62" name="Shape 50"/>
          <p:cNvSpPr/>
          <p:nvPr/>
        </p:nvSpPr>
        <p:spPr>
          <a:xfrm>
            <a:off x="2212848" y="4553712"/>
            <a:ext cx="301752" cy="0"/>
          </a:xfrm>
          <a:prstGeom prst="line">
            <a:avLst/>
          </a:prstGeom>
          <a:noFill/>
          <a:ln w="15240">
            <a:solidFill>
              <a:srgbClr val="0B4DBB"/>
            </a:solidFill>
            <a:prstDash val="solid"/>
            <a:headEnd type="none"/>
            <a:tailEnd type="triangle"/>
          </a:ln>
        </p:spPr>
      </p:sp>
      <p:sp>
        <p:nvSpPr>
          <p:cNvPr id="63" name="Text 51"/>
          <p:cNvSpPr/>
          <p:nvPr/>
        </p:nvSpPr>
        <p:spPr>
          <a:xfrm>
            <a:off x="1847088" y="4352544"/>
            <a:ext cx="64008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tuple</a:t>
            </a:r>
            <a:endParaRPr lang="en-US" sz="720" dirty="0"/>
          </a:p>
        </p:txBody>
      </p:sp>
      <p:sp>
        <p:nvSpPr>
          <p:cNvPr id="64" name="Shape 52"/>
          <p:cNvSpPr/>
          <p:nvPr/>
        </p:nvSpPr>
        <p:spPr>
          <a:xfrm>
            <a:off x="4507992" y="4553712"/>
            <a:ext cx="1435608" cy="0"/>
          </a:xfrm>
          <a:prstGeom prst="line">
            <a:avLst/>
          </a:prstGeom>
          <a:noFill/>
          <a:ln w="15240">
            <a:solidFill>
              <a:srgbClr val="0B4DBB"/>
            </a:solidFill>
            <a:prstDash val="solid"/>
            <a:headEnd type="none"/>
            <a:tailEnd type="none"/>
          </a:ln>
        </p:spPr>
      </p:sp>
      <p:sp>
        <p:nvSpPr>
          <p:cNvPr id="65" name="Shape 53"/>
          <p:cNvSpPr/>
          <p:nvPr/>
        </p:nvSpPr>
        <p:spPr>
          <a:xfrm>
            <a:off x="5943600" y="3566160"/>
            <a:ext cx="0" cy="987552"/>
          </a:xfrm>
          <a:prstGeom prst="line">
            <a:avLst/>
          </a:prstGeom>
          <a:noFill/>
          <a:ln w="15240">
            <a:solidFill>
              <a:srgbClr val="0B4DBB"/>
            </a:solidFill>
            <a:prstDash val="solid"/>
            <a:headEnd type="none"/>
            <a:tailEnd type="none"/>
          </a:ln>
        </p:spPr>
      </p:sp>
      <p:sp>
        <p:nvSpPr>
          <p:cNvPr id="66" name="Shape 54"/>
          <p:cNvSpPr/>
          <p:nvPr/>
        </p:nvSpPr>
        <p:spPr>
          <a:xfrm>
            <a:off x="5943600" y="3566160"/>
            <a:ext cx="1600200" cy="0"/>
          </a:xfrm>
          <a:prstGeom prst="line">
            <a:avLst/>
          </a:prstGeom>
          <a:noFill/>
          <a:ln w="15240">
            <a:solidFill>
              <a:srgbClr val="0B4DBB"/>
            </a:solidFill>
            <a:prstDash val="solid"/>
            <a:headEnd type="none"/>
            <a:tailEnd type="triangle"/>
          </a:ln>
        </p:spPr>
      </p:sp>
      <p:sp>
        <p:nvSpPr>
          <p:cNvPr id="67" name="Text 55"/>
          <p:cNvSpPr/>
          <p:nvPr/>
        </p:nvSpPr>
        <p:spPr>
          <a:xfrm>
            <a:off x="4773168" y="4343400"/>
            <a:ext cx="1115568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package e_{i,j}</a:t>
            </a:r>
            <a:endParaRPr lang="en-US" sz="720" dirty="0"/>
          </a:p>
        </p:txBody>
      </p:sp>
      <p:sp>
        <p:nvSpPr>
          <p:cNvPr id="68" name="Shape 56"/>
          <p:cNvSpPr/>
          <p:nvPr/>
        </p:nvSpPr>
        <p:spPr>
          <a:xfrm>
            <a:off x="6720840" y="2916936"/>
            <a:ext cx="3227832" cy="0"/>
          </a:xfrm>
          <a:prstGeom prst="line">
            <a:avLst/>
          </a:prstGeom>
          <a:noFill/>
          <a:ln w="15240">
            <a:solidFill>
              <a:srgbClr val="0B4DBB"/>
            </a:solidFill>
            <a:prstDash val="solid"/>
            <a:headEnd type="none"/>
            <a:tailEnd type="none"/>
          </a:ln>
        </p:spPr>
      </p:sp>
      <p:sp>
        <p:nvSpPr>
          <p:cNvPr id="69" name="Shape 57"/>
          <p:cNvSpPr/>
          <p:nvPr/>
        </p:nvSpPr>
        <p:spPr>
          <a:xfrm>
            <a:off x="9948672" y="2916936"/>
            <a:ext cx="0" cy="237744"/>
          </a:xfrm>
          <a:prstGeom prst="line">
            <a:avLst/>
          </a:prstGeom>
          <a:noFill/>
          <a:ln w="15240">
            <a:solidFill>
              <a:srgbClr val="0B4DBB"/>
            </a:solidFill>
            <a:prstDash val="solid"/>
            <a:headEnd type="none"/>
            <a:tailEnd type="triangle"/>
          </a:ln>
        </p:spPr>
      </p:sp>
      <p:sp>
        <p:nvSpPr>
          <p:cNvPr id="70" name="Text 58"/>
          <p:cNvSpPr/>
          <p:nvPr/>
        </p:nvSpPr>
        <p:spPr>
          <a:xfrm>
            <a:off x="7315200" y="2724912"/>
            <a:ext cx="621792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 C_j</a:t>
            </a:r>
            <a:endParaRPr lang="en-US" sz="720" dirty="0"/>
          </a:p>
        </p:txBody>
      </p:sp>
      <p:sp>
        <p:nvSpPr>
          <p:cNvPr id="71" name="Shape 59"/>
          <p:cNvSpPr/>
          <p:nvPr/>
        </p:nvSpPr>
        <p:spPr>
          <a:xfrm>
            <a:off x="8869680" y="3364992"/>
            <a:ext cx="1078992" cy="0"/>
          </a:xfrm>
          <a:prstGeom prst="line">
            <a:avLst/>
          </a:prstGeom>
          <a:noFill/>
          <a:ln w="15240">
            <a:solidFill>
              <a:srgbClr val="0B4DBB"/>
            </a:solidFill>
            <a:prstDash val="solid"/>
            <a:headEnd type="none"/>
            <a:tailEnd type="triangle"/>
          </a:ln>
        </p:spPr>
      </p:sp>
      <p:sp>
        <p:nvSpPr>
          <p:cNvPr id="72" name="Text 60"/>
          <p:cNvSpPr/>
          <p:nvPr/>
        </p:nvSpPr>
        <p:spPr>
          <a:xfrm>
            <a:off x="8979408" y="3163824"/>
            <a:ext cx="64008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decrypt</a:t>
            </a:r>
            <a:endParaRPr lang="en-US" sz="720" dirty="0"/>
          </a:p>
        </p:txBody>
      </p:sp>
      <p:sp>
        <p:nvSpPr>
          <p:cNvPr id="73" name="Shape 61"/>
          <p:cNvSpPr/>
          <p:nvPr/>
        </p:nvSpPr>
        <p:spPr>
          <a:xfrm>
            <a:off x="5870448" y="3291840"/>
            <a:ext cx="0" cy="1993392"/>
          </a:xfrm>
          <a:prstGeom prst="line">
            <a:avLst/>
          </a:prstGeom>
          <a:noFill/>
          <a:ln w="15240">
            <a:solidFill>
              <a:srgbClr val="6B7280"/>
            </a:solidFill>
            <a:prstDash val="dash"/>
            <a:headEnd type="none"/>
            <a:tailEnd type="none"/>
          </a:ln>
        </p:spPr>
      </p:sp>
      <p:sp>
        <p:nvSpPr>
          <p:cNvPr id="74" name="Shape 62"/>
          <p:cNvSpPr/>
          <p:nvPr/>
        </p:nvSpPr>
        <p:spPr>
          <a:xfrm>
            <a:off x="5870448" y="5285232"/>
            <a:ext cx="1444752" cy="0"/>
          </a:xfrm>
          <a:prstGeom prst="line">
            <a:avLst/>
          </a:prstGeom>
          <a:noFill/>
          <a:ln w="15240">
            <a:solidFill>
              <a:srgbClr val="6B7280"/>
            </a:solidFill>
            <a:prstDash val="dash"/>
            <a:headEnd type="none"/>
            <a:tailEnd type="triangle"/>
          </a:ln>
        </p:spPr>
      </p:sp>
      <p:sp>
        <p:nvSpPr>
          <p:cNvPr id="75" name="Text 63"/>
          <p:cNvSpPr/>
          <p:nvPr/>
        </p:nvSpPr>
        <p:spPr>
          <a:xfrm>
            <a:off x="5897880" y="4983480"/>
            <a:ext cx="841248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ciphertext visible</a:t>
            </a:r>
            <a:endParaRPr lang="en-US" sz="720" dirty="0"/>
          </a:p>
        </p:txBody>
      </p:sp>
      <p:sp>
        <p:nvSpPr>
          <p:cNvPr id="76" name="Shape 64"/>
          <p:cNvSpPr/>
          <p:nvPr/>
        </p:nvSpPr>
        <p:spPr>
          <a:xfrm>
            <a:off x="8942832" y="5285232"/>
            <a:ext cx="822960" cy="0"/>
          </a:xfrm>
          <a:prstGeom prst="line">
            <a:avLst/>
          </a:prstGeom>
          <a:noFill/>
          <a:ln w="15240">
            <a:solidFill>
              <a:srgbClr val="6B7280"/>
            </a:solidFill>
            <a:prstDash val="dash"/>
            <a:headEnd type="none"/>
            <a:tailEnd type="triangle"/>
          </a:ln>
        </p:spPr>
      </p:sp>
      <p:sp>
        <p:nvSpPr>
          <p:cNvPr id="77" name="Text 65"/>
          <p:cNvSpPr/>
          <p:nvPr/>
        </p:nvSpPr>
        <p:spPr>
          <a:xfrm>
            <a:off x="8869680" y="5074920"/>
            <a:ext cx="82296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e_{i,j}, no k_j</a:t>
            </a:r>
            <a:endParaRPr lang="en-US" sz="720" dirty="0"/>
          </a:p>
        </p:txBody>
      </p:sp>
      <p:sp>
        <p:nvSpPr>
          <p:cNvPr id="78" name="Shape 66"/>
          <p:cNvSpPr/>
          <p:nvPr/>
        </p:nvSpPr>
        <p:spPr>
          <a:xfrm>
            <a:off x="2743200" y="6355080"/>
            <a:ext cx="457200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  <a:headEnd type="none"/>
            <a:tailEnd type="triangle"/>
          </a:ln>
        </p:spPr>
      </p:sp>
      <p:sp>
        <p:nvSpPr>
          <p:cNvPr id="79" name="Text 67"/>
          <p:cNvSpPr/>
          <p:nvPr/>
        </p:nvSpPr>
        <p:spPr>
          <a:xfrm>
            <a:off x="3291840" y="6272784"/>
            <a:ext cx="713232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coordination</a:t>
            </a:r>
            <a:endParaRPr lang="en-US" sz="680" dirty="0"/>
          </a:p>
        </p:txBody>
      </p:sp>
      <p:sp>
        <p:nvSpPr>
          <p:cNvPr id="80" name="Shape 68"/>
          <p:cNvSpPr/>
          <p:nvPr/>
        </p:nvSpPr>
        <p:spPr>
          <a:xfrm>
            <a:off x="4480560" y="6355080"/>
            <a:ext cx="457200" cy="0"/>
          </a:xfrm>
          <a:prstGeom prst="line">
            <a:avLst/>
          </a:prstGeom>
          <a:noFill/>
          <a:ln w="15240">
            <a:solidFill>
              <a:srgbClr val="0B4DBB"/>
            </a:solidFill>
            <a:prstDash val="solid"/>
            <a:headEnd type="none"/>
            <a:tailEnd type="triangle"/>
          </a:ln>
        </p:spPr>
      </p:sp>
      <p:sp>
        <p:nvSpPr>
          <p:cNvPr id="81" name="Text 69"/>
          <p:cNvSpPr/>
          <p:nvPr/>
        </p:nvSpPr>
        <p:spPr>
          <a:xfrm>
            <a:off x="5029200" y="6272784"/>
            <a:ext cx="566928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</a:t>
            </a:r>
            <a:endParaRPr lang="en-US" sz="680" dirty="0"/>
          </a:p>
        </p:txBody>
      </p:sp>
      <p:sp>
        <p:nvSpPr>
          <p:cNvPr id="82" name="Shape 70"/>
          <p:cNvSpPr/>
          <p:nvPr/>
        </p:nvSpPr>
        <p:spPr>
          <a:xfrm>
            <a:off x="5989320" y="6355080"/>
            <a:ext cx="457200" cy="0"/>
          </a:xfrm>
          <a:prstGeom prst="line">
            <a:avLst/>
          </a:prstGeom>
          <a:noFill/>
          <a:ln w="15240">
            <a:solidFill>
              <a:srgbClr val="6B7280"/>
            </a:solidFill>
            <a:prstDash val="dash"/>
            <a:headEnd type="none"/>
            <a:tailEnd type="triangle"/>
          </a:ln>
        </p:spPr>
      </p:sp>
      <p:sp>
        <p:nvSpPr>
          <p:cNvPr id="83" name="Text 71"/>
          <p:cNvSpPr/>
          <p:nvPr/>
        </p:nvSpPr>
        <p:spPr>
          <a:xfrm>
            <a:off x="6537960" y="6272784"/>
            <a:ext cx="566928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denied</a:t>
            </a:r>
            <a:endParaRPr lang="en-US" sz="6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VeriEdge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VeriEdge Figure 2 Simplified Editable Layout</dc:title>
  <dc:subject>Simplified editable Figure 2 layout for VeriEdge</dc:subject>
  <dc:creator>Codex</dc:creator>
  <cp:lastModifiedBy>Codex</cp:lastModifiedBy>
  <cp:revision>1</cp:revision>
  <dcterms:created xsi:type="dcterms:W3CDTF">2026-05-03T10:14:20Z</dcterms:created>
  <dcterms:modified xsi:type="dcterms:W3CDTF">2026-05-03T10:14:20Z</dcterms:modified>
</cp:coreProperties>
</file>