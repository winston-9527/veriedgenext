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344400" cy="7497763"/>
  <p:notesSz cx="7497763" cy="1234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5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9" y="4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78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r="http://schemas.openxmlformats.org/officeDocument/2006/relationships" xmlns:p="http://schemas.openxmlformats.org/presentationml/2006/main" mc:Ignorable="a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committed panel"/>
          <p:cNvSpPr/>
          <p:nvPr/>
        </p:nvSpPr>
        <p:spPr>
          <a:xfrm>
            <a:off x="192881" y="278339"/>
            <a:ext cx="11958638" cy="1696130"/>
          </a:xfrm>
          <a:prstGeom prst="roundRect">
            <a:avLst/>
          </a:prstGeom>
          <a:solidFill>
            <a:srgbClr val="F3F8FF"/>
          </a:solidFill>
          <a:ln w="10160">
            <a:solidFill>
              <a:srgbClr val="1557A6"/>
            </a:solidFill>
          </a:ln>
        </p:spPr>
      </p:sp>
      <p:sp>
        <p:nvSpPr>
          <p:cNvPr id="3" name="thc baseline panel"/>
          <p:cNvSpPr/>
          <p:nvPr/>
        </p:nvSpPr>
        <p:spPr>
          <a:xfrm>
            <a:off x="192881" y="2322393"/>
            <a:ext cx="11958638" cy="1852695"/>
          </a:xfrm>
          <a:prstGeom prst="roundRect">
            <a:avLst/>
          </a:prstGeom>
          <a:solidFill>
            <a:srgbClr val="F7F7F7"/>
          </a:solidFill>
          <a:ln w="10160">
            <a:solidFill>
              <a:srgbClr val="B8BEC6"/>
            </a:solidFill>
          </a:ln>
        </p:spPr>
      </p:sp>
      <p:sp>
        <p:nvSpPr>
          <p:cNvPr id="4" name="tstc escalation panel"/>
          <p:cNvSpPr/>
          <p:nvPr/>
        </p:nvSpPr>
        <p:spPr>
          <a:xfrm>
            <a:off x="192881" y="4488220"/>
            <a:ext cx="11958638" cy="2731204"/>
          </a:xfrm>
          <a:prstGeom prst="roundRect">
            <a:avLst/>
          </a:prstGeom>
          <a:solidFill>
            <a:srgbClr val="F1FBFC"/>
          </a:solidFill>
          <a:ln w="10160">
            <a:solidFill>
              <a:srgbClr val="0E6F78"/>
            </a:solidFill>
          </a:ln>
        </p:spPr>
      </p:sp>
      <p:sp>
        <p:nvSpPr>
          <p:cNvPr id="5" name="top title"/>
          <p:cNvSpPr/>
          <p:nvPr/>
        </p:nvSpPr>
        <p:spPr>
          <a:xfrm>
            <a:off x="3471862" y="382716"/>
            <a:ext cx="5400675" cy="3131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1700" b="1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Committed sharded prefill instance</a:t>
            </a:r>
            <a:endParaRPr lang="en-US" sz="1700"/>
          </a:p>
        </p:txBody>
      </p:sp>
      <p:sp>
        <p:nvSpPr>
          <p:cNvPr id="6" name="middle title"/>
          <p:cNvSpPr/>
          <p:nvPr/>
        </p:nvSpPr>
        <p:spPr>
          <a:xfrm>
            <a:off x="4860608" y="2452864"/>
            <a:ext cx="2623185" cy="3131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1700" b="1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THC baseline</a:t>
            </a:r>
            <a:endParaRPr lang="en-US" sz="1700"/>
          </a:p>
        </p:txBody>
      </p:sp>
      <p:sp>
        <p:nvSpPr>
          <p:cNvPr id="7" name="bottom title"/>
          <p:cNvSpPr/>
          <p:nvPr/>
        </p:nvSpPr>
        <p:spPr>
          <a:xfrm>
            <a:off x="4513421" y="4618692"/>
            <a:ext cx="3317558" cy="31313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1700" b="1">
                <a:solidFill>
                  <a:srgbClr val="0E6F78"/>
                </a:solidFill>
                <a:latin typeface="Aptos"/>
                <a:ea typeface="Aptos"/>
                <a:cs typeface="Cambria Math"/>
              </a:rPr>
              <a:t>TSTC escalation path</a:t>
            </a:r>
            <a:endParaRPr lang="en-US" sz="1700"/>
          </a:p>
        </p:txBody>
      </p:sp>
      <p:sp>
        <p:nvSpPr>
          <p:cNvPr id="8" name="tokens label"/>
          <p:cNvSpPr/>
          <p:nvPr/>
        </p:nvSpPr>
        <p:spPr>
          <a:xfrm>
            <a:off x="366474" y="1343857"/>
            <a:ext cx="655796" cy="20005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900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tokens</a:t>
            </a:r>
            <a:endParaRPr lang="en-US" sz="900"/>
          </a:p>
        </p:txBody>
      </p:sp>
      <p:sp>
        <p:nvSpPr>
          <p:cNvPr id="9" name="token document"/>
          <p:cNvSpPr/>
          <p:nvPr/>
        </p:nvSpPr>
        <p:spPr>
          <a:xfrm>
            <a:off x="524637" y="782829"/>
            <a:ext cx="293180" cy="434905"/>
          </a:xfrm>
          <a:prstGeom prst="rect">
            <a:avLst/>
          </a:prstGeom>
          <a:solidFill>
            <a:srgbClr val="FFFFFF"/>
          </a:solidFill>
          <a:ln w="8255">
            <a:solidFill>
              <a:srgbClr val="6F7782"/>
            </a:solidFill>
          </a:ln>
        </p:spPr>
      </p:sp>
      <p:cxnSp>
        <p:nvCxnSpPr>
          <p:cNvPr id="10" name="document line 1"/>
          <p:cNvCxnSpPr/>
          <p:nvPr/>
        </p:nvCxnSpPr>
        <p:spPr>
          <a:xfrm>
            <a:off x="570928" y="956791"/>
            <a:ext cx="216027" cy="91"/>
          </a:xfrm>
          <a:prstGeom prst="line">
            <a:avLst/>
          </a:prstGeom>
          <a:ln w="6350">
            <a:solidFill>
              <a:srgbClr val="6F7782"/>
            </a:solidFill>
          </a:ln>
        </p:spPr>
      </p:cxnSp>
      <p:cxnSp>
        <p:nvCxnSpPr>
          <p:cNvPr id="11" name="document line 2"/>
          <p:cNvCxnSpPr/>
          <p:nvPr/>
        </p:nvCxnSpPr>
        <p:spPr>
          <a:xfrm>
            <a:off x="570928" y="1052470"/>
            <a:ext cx="216027" cy="91"/>
          </a:xfrm>
          <a:prstGeom prst="line">
            <a:avLst/>
          </a:prstGeom>
          <a:ln w="6350">
            <a:solidFill>
              <a:srgbClr val="6F7782"/>
            </a:solidFill>
          </a:ln>
        </p:spPr>
      </p:cxnSp>
      <p:cxnSp>
        <p:nvCxnSpPr>
          <p:cNvPr id="12" name="document line 3"/>
          <p:cNvCxnSpPr/>
          <p:nvPr/>
        </p:nvCxnSpPr>
        <p:spPr>
          <a:xfrm>
            <a:off x="570928" y="1148149"/>
            <a:ext cx="169735" cy="91"/>
          </a:xfrm>
          <a:prstGeom prst="line">
            <a:avLst/>
          </a:prstGeom>
          <a:ln w="6350">
            <a:solidFill>
              <a:srgbClr val="6F7782"/>
            </a:solidFill>
          </a:ln>
        </p:spPr>
      </p:cxnSp>
      <p:sp>
        <p:nvSpPr>
          <p:cNvPr id="13" name="Shard 1 box"/>
          <p:cNvSpPr/>
          <p:nvPr/>
        </p:nvSpPr>
        <p:spPr>
          <a:xfrm>
            <a:off x="1226725" y="921999"/>
            <a:ext cx="1327023" cy="74803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57A6"/>
            </a:solidFill>
          </a:ln>
        </p:spPr>
      </p:sp>
      <p:sp>
        <p:nvSpPr>
          <p:cNvPr id="14" name="server bar top"/>
          <p:cNvSpPr/>
          <p:nvPr/>
        </p:nvSpPr>
        <p:spPr>
          <a:xfrm>
            <a:off x="1728216" y="991584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15" name="server bar middle"/>
          <p:cNvSpPr/>
          <p:nvPr/>
        </p:nvSpPr>
        <p:spPr>
          <a:xfrm>
            <a:off x="1728216" y="1095961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16" name="server bar bottom"/>
          <p:cNvSpPr/>
          <p:nvPr/>
        </p:nvSpPr>
        <p:spPr>
          <a:xfrm>
            <a:off x="1728216" y="1200338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17" name="Shard 1 label"/>
          <p:cNvSpPr/>
          <p:nvPr/>
        </p:nvSpPr>
        <p:spPr>
          <a:xfrm>
            <a:off x="1427321" y="1356904"/>
            <a:ext cx="925830" cy="19135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1000" b="1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Shard 1</a:t>
            </a:r>
            <a:endParaRPr lang="en-US" sz="1000"/>
          </a:p>
        </p:txBody>
      </p:sp>
      <p:sp>
        <p:nvSpPr>
          <p:cNvPr id="18" name="Shard 2 box"/>
          <p:cNvSpPr/>
          <p:nvPr/>
        </p:nvSpPr>
        <p:spPr>
          <a:xfrm>
            <a:off x="3772757" y="921999"/>
            <a:ext cx="1327023" cy="74803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57A6"/>
            </a:solidFill>
          </a:ln>
        </p:spPr>
      </p:sp>
      <p:sp>
        <p:nvSpPr>
          <p:cNvPr id="19" name="server bar top"/>
          <p:cNvSpPr/>
          <p:nvPr/>
        </p:nvSpPr>
        <p:spPr>
          <a:xfrm>
            <a:off x="4274248" y="991584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20" name="server bar middle"/>
          <p:cNvSpPr/>
          <p:nvPr/>
        </p:nvSpPr>
        <p:spPr>
          <a:xfrm>
            <a:off x="4274248" y="1095961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21" name="server bar bottom"/>
          <p:cNvSpPr/>
          <p:nvPr/>
        </p:nvSpPr>
        <p:spPr>
          <a:xfrm>
            <a:off x="4274248" y="1200338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22" name="Shard 2 label"/>
          <p:cNvSpPr/>
          <p:nvPr/>
        </p:nvSpPr>
        <p:spPr>
          <a:xfrm>
            <a:off x="3973354" y="1356904"/>
            <a:ext cx="925830" cy="19135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1000" b="1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Shard 2</a:t>
            </a:r>
            <a:endParaRPr lang="en-US" sz="1000"/>
          </a:p>
        </p:txBody>
      </p:sp>
      <p:sp>
        <p:nvSpPr>
          <p:cNvPr id="23" name="Shard 3 box"/>
          <p:cNvSpPr/>
          <p:nvPr/>
        </p:nvSpPr>
        <p:spPr>
          <a:xfrm>
            <a:off x="6318790" y="921999"/>
            <a:ext cx="1327023" cy="74803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57A6"/>
            </a:solidFill>
          </a:ln>
        </p:spPr>
      </p:sp>
      <p:sp>
        <p:nvSpPr>
          <p:cNvPr id="24" name="server bar top"/>
          <p:cNvSpPr/>
          <p:nvPr/>
        </p:nvSpPr>
        <p:spPr>
          <a:xfrm>
            <a:off x="6820281" y="991584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25" name="server bar middle"/>
          <p:cNvSpPr/>
          <p:nvPr/>
        </p:nvSpPr>
        <p:spPr>
          <a:xfrm>
            <a:off x="6820281" y="1095961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26" name="server bar bottom"/>
          <p:cNvSpPr/>
          <p:nvPr/>
        </p:nvSpPr>
        <p:spPr>
          <a:xfrm>
            <a:off x="6820281" y="1200338"/>
            <a:ext cx="324040" cy="104377"/>
          </a:xfrm>
          <a:prstGeom prst="roundRect">
            <a:avLst/>
          </a:prstGeom>
          <a:solidFill>
            <a:srgbClr val="E1F3E8"/>
          </a:solidFill>
          <a:ln w="6985">
            <a:solidFill>
              <a:srgbClr val="58A56E"/>
            </a:solidFill>
          </a:ln>
        </p:spPr>
      </p:sp>
      <p:sp>
        <p:nvSpPr>
          <p:cNvPr id="27" name="Shard 3 label"/>
          <p:cNvSpPr/>
          <p:nvPr/>
        </p:nvSpPr>
        <p:spPr>
          <a:xfrm>
            <a:off x="6519386" y="1356904"/>
            <a:ext cx="925830" cy="19135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1000" b="1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Shard 3</a:t>
            </a:r>
            <a:endParaRPr lang="en-US" sz="1000"/>
          </a:p>
        </p:txBody>
      </p:sp>
      <p:sp>
        <p:nvSpPr>
          <p:cNvPr id="28" name="C₁ checkpoint"/>
          <p:cNvSpPr/>
          <p:nvPr/>
        </p:nvSpPr>
        <p:spPr>
          <a:xfrm>
            <a:off x="2846927" y="982885"/>
            <a:ext cx="555498" cy="626263"/>
          </a:xfrm>
          <a:prstGeom prst="ellipse">
            <a:avLst/>
          </a:prstGeom>
          <a:solidFill>
            <a:srgbClr val="FFF0E5"/>
          </a:solidFill>
          <a:ln w="11430">
            <a:solidFill>
              <a:srgbClr val="F47B20"/>
            </a:solidFill>
          </a:ln>
        </p:spPr>
      </p:sp>
      <mc:AlternateContent>
        <mc:Choice Requires="a14">
          <p:sp>
            <p:nvSpPr>
              <p:cNvPr id="29" name="C₁ equation"/>
              <p:cNvSpPr/>
              <p:nvPr/>
            </p:nvSpPr>
            <p:spPr>
              <a:xfrm>
                <a:off x="2870073" y="1130753"/>
                <a:ext cx="509206" cy="3305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b="0" i="1" dirty="0" smtClean="0">
                          <a:solidFill>
                            <a:srgbClr val="F47B2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C₁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9" name="C₁ equation fallback"/>
              <p:cNvSpPr txBox="1"/>
              <p:nvPr/>
            </p:nvSpPr>
            <p:spPr>
              <a:xfrm>
                <a:off x="2870073" y="1130753"/>
                <a:ext cx="509206" cy="3305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1300">
                    <a:solidFill>
                      <a:srgbClr val="F47B20"/>
                    </a:solidFill>
                    <a:latin typeface="Aptos"/>
                    <a:ea typeface="Aptos"/>
                    <a:cs typeface="Cambria Math"/>
                  </a:rPr>
                  <a:t>C₁</a:t>
                </a:r>
                <a:endParaRPr lang="en-US" sz="1300"/>
              </a:p>
            </p:txBody>
          </p:sp>
        </mc:Fallback>
      </mc:AlternateContent>
      <p:sp>
        <p:nvSpPr>
          <p:cNvPr id="30" name="C₂ checkpoint"/>
          <p:cNvSpPr/>
          <p:nvPr/>
        </p:nvSpPr>
        <p:spPr>
          <a:xfrm>
            <a:off x="5392960" y="982885"/>
            <a:ext cx="555498" cy="626263"/>
          </a:xfrm>
          <a:prstGeom prst="ellipse">
            <a:avLst/>
          </a:prstGeom>
          <a:solidFill>
            <a:srgbClr val="FFF0E5"/>
          </a:solidFill>
          <a:ln w="11430">
            <a:solidFill>
              <a:srgbClr val="F47B20"/>
            </a:solidFill>
          </a:ln>
        </p:spPr>
      </p:sp>
      <mc:AlternateContent>
        <mc:Choice Requires="a14">
          <p:sp>
            <p:nvSpPr>
              <p:cNvPr id="31" name="C₂ equation"/>
              <p:cNvSpPr/>
              <p:nvPr/>
            </p:nvSpPr>
            <p:spPr>
              <a:xfrm>
                <a:off x="5416106" y="1130753"/>
                <a:ext cx="509206" cy="3305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b="0" i="1" dirty="0" smtClean="0">
                          <a:solidFill>
                            <a:srgbClr val="F47B2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C₂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1" name="C₂ equation fallback"/>
              <p:cNvSpPr txBox="1"/>
              <p:nvPr/>
            </p:nvSpPr>
            <p:spPr>
              <a:xfrm>
                <a:off x="5416106" y="1130753"/>
                <a:ext cx="509206" cy="3305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1300">
                    <a:solidFill>
                      <a:srgbClr val="F47B20"/>
                    </a:solidFill>
                    <a:latin typeface="Aptos"/>
                    <a:ea typeface="Aptos"/>
                    <a:cs typeface="Cambria Math"/>
                  </a:rPr>
                  <a:t>C₂</a:t>
                </a:r>
                <a:endParaRPr lang="en-US" sz="1300"/>
              </a:p>
            </p:txBody>
          </p:sp>
        </mc:Fallback>
      </mc:AlternateContent>
      <p:sp>
        <p:nvSpPr>
          <p:cNvPr id="32" name="C₃ checkpoint"/>
          <p:cNvSpPr/>
          <p:nvPr/>
        </p:nvSpPr>
        <p:spPr>
          <a:xfrm>
            <a:off x="7938992" y="982885"/>
            <a:ext cx="555498" cy="626263"/>
          </a:xfrm>
          <a:prstGeom prst="ellipse">
            <a:avLst/>
          </a:prstGeom>
          <a:solidFill>
            <a:srgbClr val="FFF0E5"/>
          </a:solidFill>
          <a:ln w="11430">
            <a:solidFill>
              <a:srgbClr val="F47B20"/>
            </a:solidFill>
          </a:ln>
        </p:spPr>
      </p:sp>
      <mc:AlternateContent>
        <mc:Choice Requires="a14">
          <p:sp>
            <p:nvSpPr>
              <p:cNvPr id="33" name="C₃ equation"/>
              <p:cNvSpPr/>
              <p:nvPr/>
            </p:nvSpPr>
            <p:spPr>
              <a:xfrm>
                <a:off x="7962138" y="1130753"/>
                <a:ext cx="509206" cy="3305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b="0" i="1" dirty="0" smtClean="0">
                          <a:solidFill>
                            <a:srgbClr val="F47B2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C₃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3" name="C₃ equation fallback"/>
              <p:cNvSpPr txBox="1"/>
              <p:nvPr/>
            </p:nvSpPr>
            <p:spPr>
              <a:xfrm>
                <a:off x="7962138" y="1130753"/>
                <a:ext cx="509206" cy="3305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1300">
                    <a:solidFill>
                      <a:srgbClr val="F47B20"/>
                    </a:solidFill>
                    <a:latin typeface="Aptos"/>
                    <a:ea typeface="Aptos"/>
                    <a:cs typeface="Cambria Math"/>
                  </a:rPr>
                  <a:t>C₃</a:t>
                </a:r>
                <a:endParaRPr lang="en-US" sz="1300"/>
              </a:p>
            </p:txBody>
          </p:sp>
        </mc:Fallback>
      </mc:AlternateContent>
      <p:cxnSp>
        <p:nvCxnSpPr>
          <p:cNvPr id="34" name="tokens to shard1"/>
          <p:cNvCxnSpPr/>
          <p:nvPr/>
        </p:nvCxnSpPr>
        <p:spPr>
          <a:xfrm>
            <a:off x="941260" y="1296017"/>
            <a:ext cx="285464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cxnSp>
        <p:nvCxnSpPr>
          <p:cNvPr id="35" name="shard1 to C1"/>
          <p:cNvCxnSpPr/>
          <p:nvPr/>
        </p:nvCxnSpPr>
        <p:spPr>
          <a:xfrm>
            <a:off x="2553748" y="1296017"/>
            <a:ext cx="293179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cxnSp>
        <p:nvCxnSpPr>
          <p:cNvPr id="36" name="C1 to shard2"/>
          <p:cNvCxnSpPr/>
          <p:nvPr/>
        </p:nvCxnSpPr>
        <p:spPr>
          <a:xfrm>
            <a:off x="3402425" y="1296017"/>
            <a:ext cx="370332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cxnSp>
        <p:nvCxnSpPr>
          <p:cNvPr id="37" name="shard2 to C2"/>
          <p:cNvCxnSpPr/>
          <p:nvPr/>
        </p:nvCxnSpPr>
        <p:spPr>
          <a:xfrm>
            <a:off x="5099780" y="1296017"/>
            <a:ext cx="293180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cxnSp>
        <p:nvCxnSpPr>
          <p:cNvPr id="38" name="C2 to shard3"/>
          <p:cNvCxnSpPr/>
          <p:nvPr/>
        </p:nvCxnSpPr>
        <p:spPr>
          <a:xfrm>
            <a:off x="5948458" y="1296017"/>
            <a:ext cx="370332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cxnSp>
        <p:nvCxnSpPr>
          <p:cNvPr id="39" name="shard3 to C3"/>
          <p:cNvCxnSpPr/>
          <p:nvPr/>
        </p:nvCxnSpPr>
        <p:spPr>
          <a:xfrm>
            <a:off x="7645813" y="1296017"/>
            <a:ext cx="293179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sp>
        <p:nvSpPr>
          <p:cNvPr id="40" name="checked boundaries label"/>
          <p:cNvSpPr/>
          <p:nvPr/>
        </p:nvSpPr>
        <p:spPr>
          <a:xfrm>
            <a:off x="9316164" y="921999"/>
            <a:ext cx="1813084" cy="243547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l"/>
            <a:r>
              <a:rPr lang="en-US" sz="900">
                <a:solidFill>
                  <a:srgbClr val="1557A6"/>
                </a:solidFill>
                <a:latin typeface="Aptos"/>
                <a:ea typeface="Aptos"/>
                <a:cs typeface="Cambria Math"/>
              </a:rPr>
              <a:t>checked boundaries</a:t>
            </a:r>
            <a:endParaRPr lang="en-US" sz="900"/>
          </a:p>
        </p:txBody>
      </p:sp>
      <mc:AlternateContent>
        <mc:Choice Requires="a14">
          <p:sp>
            <p:nvSpPr>
              <p:cNvPr id="41" name="boundary equation"/>
              <p:cNvSpPr/>
              <p:nvPr/>
            </p:nvSpPr>
            <p:spPr>
              <a:xfrm>
                <a:off x="9316164" y="1156847"/>
                <a:ext cx="1813084" cy="278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rgbClr val="1557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ℬⱼ = {C₁, C₂, C₃}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1" name="boundary equation fallback"/>
              <p:cNvSpPr txBox="1"/>
              <p:nvPr/>
            </p:nvSpPr>
            <p:spPr>
              <a:xfrm>
                <a:off x="9316164" y="1156847"/>
                <a:ext cx="1813084" cy="278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l"/>
                <a:r>
                  <a:rPr lang="en-US" sz="1200">
                    <a:solidFill>
                      <a:srgbClr val="1557A6"/>
                    </a:solidFill>
                    <a:latin typeface="Aptos"/>
                    <a:ea typeface="Aptos"/>
                    <a:cs typeface="Cambria Math"/>
                  </a:rPr>
                  <a:t>ℬⱼ = {C₁, C₂, C₃}</a:t>
                </a:r>
                <a:endParaRPr lang="en-US" sz="1200"/>
              </a:p>
            </p:txBody>
          </p:sp>
        </mc:Fallback>
      </mc:AlternateContent>
      <p:sp>
        <p:nvSpPr>
          <p:cNvPr id="42" name="Hash(Ser(Hⱼ,₁)) box"/>
          <p:cNvSpPr/>
          <p:nvPr/>
        </p:nvSpPr>
        <p:spPr>
          <a:xfrm>
            <a:off x="1041559" y="3087826"/>
            <a:ext cx="1697355" cy="643659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6F7782"/>
            </a:solidFill>
          </a:ln>
        </p:spPr>
      </p:sp>
      <mc:AlternateContent>
        <mc:Choice Requires="a14">
          <p:sp>
            <p:nvSpPr>
              <p:cNvPr id="43" name="Hash(Ser(Hⱼ,₁)) equation"/>
              <p:cNvSpPr/>
              <p:nvPr/>
            </p:nvSpPr>
            <p:spPr>
              <a:xfrm>
                <a:off x="1095566" y="3235694"/>
                <a:ext cx="1589342" cy="347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Hash(Ser(Hⱼ,₁))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3" name="Hash(Ser(Hⱼ,₁)) equation fallback"/>
              <p:cNvSpPr txBox="1"/>
              <p:nvPr/>
            </p:nvSpPr>
            <p:spPr>
              <a:xfrm>
                <a:off x="1095566" y="3235694"/>
                <a:ext cx="1589342" cy="347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10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Hash(Ser(Hⱼ,₁))</a:t>
                </a:r>
                <a:endParaRPr lang="en-US" sz="1000"/>
              </a:p>
            </p:txBody>
          </p:sp>
        </mc:Fallback>
      </mc:AlternateContent>
      <p:sp>
        <p:nvSpPr>
          <p:cNvPr id="44" name="Hash(Ser(Hⱼ,₂)) box"/>
          <p:cNvSpPr/>
          <p:nvPr/>
        </p:nvSpPr>
        <p:spPr>
          <a:xfrm>
            <a:off x="3587591" y="3087826"/>
            <a:ext cx="1697355" cy="643659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6F7782"/>
            </a:solidFill>
          </a:ln>
        </p:spPr>
      </p:sp>
      <mc:AlternateContent>
        <mc:Choice Requires="a14">
          <p:sp>
            <p:nvSpPr>
              <p:cNvPr id="45" name="Hash(Ser(Hⱼ,₂)) equation"/>
              <p:cNvSpPr/>
              <p:nvPr/>
            </p:nvSpPr>
            <p:spPr>
              <a:xfrm>
                <a:off x="3641598" y="3235694"/>
                <a:ext cx="1589342" cy="347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Hash(Ser(Hⱼ,₂))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5" name="Hash(Ser(Hⱼ,₂)) equation fallback"/>
              <p:cNvSpPr txBox="1"/>
              <p:nvPr/>
            </p:nvSpPr>
            <p:spPr>
              <a:xfrm>
                <a:off x="3641598" y="3235694"/>
                <a:ext cx="1589342" cy="347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10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Hash(Ser(Hⱼ,₂))</a:t>
                </a:r>
                <a:endParaRPr lang="en-US" sz="1000"/>
              </a:p>
            </p:txBody>
          </p:sp>
        </mc:Fallback>
      </mc:AlternateContent>
      <p:sp>
        <p:nvSpPr>
          <p:cNvPr id="46" name="Hash(Ser(Hⱼ,₃)) box"/>
          <p:cNvSpPr/>
          <p:nvPr/>
        </p:nvSpPr>
        <p:spPr>
          <a:xfrm>
            <a:off x="6133624" y="3087826"/>
            <a:ext cx="1697355" cy="643659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6F7782"/>
            </a:solidFill>
          </a:ln>
        </p:spPr>
      </p:sp>
      <mc:AlternateContent>
        <mc:Choice Requires="a14">
          <p:sp>
            <p:nvSpPr>
              <p:cNvPr id="47" name="Hash(Ser(Hⱼ,₃)) equation"/>
              <p:cNvSpPr/>
              <p:nvPr/>
            </p:nvSpPr>
            <p:spPr>
              <a:xfrm>
                <a:off x="6187631" y="3235694"/>
                <a:ext cx="1589342" cy="347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Hash(Ser(Hⱼ,₃))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7" name="Hash(Ser(Hⱼ,₃)) equation fallback"/>
              <p:cNvSpPr txBox="1"/>
              <p:nvPr/>
            </p:nvSpPr>
            <p:spPr>
              <a:xfrm>
                <a:off x="6187631" y="3235694"/>
                <a:ext cx="1589342" cy="347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10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Hash(Ser(Hⱼ,₃))</a:t>
                </a:r>
                <a:endParaRPr lang="en-US" sz="1000"/>
              </a:p>
            </p:txBody>
          </p:sp>
        </mc:Fallback>
      </mc:AlternateContent>
      <p:sp>
        <p:nvSpPr>
          <p:cNvPr id="48" name="first mismatch box"/>
          <p:cNvSpPr/>
          <p:nvPr/>
        </p:nvSpPr>
        <p:spPr>
          <a:xfrm>
            <a:off x="8178165" y="3087826"/>
            <a:ext cx="1697355" cy="6436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E6F78"/>
            </a:solidFill>
          </a:ln>
        </p:spPr>
      </p:sp>
      <p:sp>
        <p:nvSpPr>
          <p:cNvPr id="49" name="search lens"/>
          <p:cNvSpPr/>
          <p:nvPr/>
        </p:nvSpPr>
        <p:spPr>
          <a:xfrm>
            <a:off x="8359473" y="3266137"/>
            <a:ext cx="254603" cy="287037"/>
          </a:xfrm>
          <a:prstGeom prst="ellipse">
            <a:avLst/>
          </a:prstGeom>
          <a:noFill/>
          <a:ln w="12700">
            <a:solidFill>
              <a:srgbClr val="0E6F78"/>
            </a:solidFill>
          </a:ln>
        </p:spPr>
      </p:sp>
      <p:cxnSp>
        <p:nvCxnSpPr>
          <p:cNvPr id="50" name="search handle"/>
          <p:cNvCxnSpPr/>
          <p:nvPr/>
        </p:nvCxnSpPr>
        <p:spPr>
          <a:xfrm>
            <a:off x="8587073" y="3522731"/>
            <a:ext cx="115729" cy="130472"/>
          </a:xfrm>
          <a:prstGeom prst="line">
            <a:avLst/>
          </a:prstGeom>
          <a:ln w="12700">
            <a:solidFill>
              <a:srgbClr val="0E6F78"/>
            </a:solidFill>
          </a:ln>
        </p:spPr>
      </p:cxnSp>
      <p:sp>
        <p:nvSpPr>
          <p:cNvPr id="51" name="first mismatch label"/>
          <p:cNvSpPr/>
          <p:nvPr/>
        </p:nvSpPr>
        <p:spPr>
          <a:xfrm>
            <a:off x="8594788" y="3279184"/>
            <a:ext cx="1095566" cy="260943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900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first mismatch</a:t>
            </a:r>
            <a:endParaRPr lang="en-US" sz="900"/>
          </a:p>
        </p:txBody>
      </p:sp>
      <p:cxnSp>
        <p:nvCxnSpPr>
          <p:cNvPr id="52" name="C1 to THC1 segment 1"/>
          <p:cNvCxnSpPr/>
          <p:nvPr/>
        </p:nvCxnSpPr>
        <p:spPr>
          <a:xfrm>
            <a:off x="3124676" y="1609149"/>
            <a:ext cx="91" cy="295735"/>
          </a:xfrm>
          <a:prstGeom prst="line">
            <a:avLst/>
          </a:prstGeom>
          <a:ln w="9525">
            <a:solidFill>
              <a:srgbClr val="6F7782"/>
            </a:solidFill>
          </a:ln>
        </p:spPr>
      </p:cxnSp>
      <p:cxnSp>
        <p:nvCxnSpPr>
          <p:cNvPr id="53" name="C1 to THC1 segment 2"/>
          <p:cNvCxnSpPr/>
          <p:nvPr/>
        </p:nvCxnSpPr>
        <p:spPr>
          <a:xfrm flipH="1">
            <a:off x="1890236" y="1904884"/>
            <a:ext cx="1234440" cy="91"/>
          </a:xfrm>
          <a:prstGeom prst="line">
            <a:avLst/>
          </a:prstGeom>
          <a:ln w="9525">
            <a:solidFill>
              <a:srgbClr val="6F7782"/>
            </a:solidFill>
          </a:ln>
        </p:spPr>
      </p:cxnSp>
      <p:cxnSp>
        <p:nvCxnSpPr>
          <p:cNvPr id="54" name="C1 to THC1 segment 3"/>
          <p:cNvCxnSpPr/>
          <p:nvPr/>
        </p:nvCxnSpPr>
        <p:spPr>
          <a:xfrm>
            <a:off x="1890236" y="1904884"/>
            <a:ext cx="91" cy="1182942"/>
          </a:xfrm>
          <a:prstGeom prst="line">
            <a:avLst/>
          </a:prstGeom>
          <a:ln w="9525">
            <a:solidFill>
              <a:srgbClr val="6F7782"/>
            </a:solidFill>
            <a:headEnd type="triangle" w="sm" len="sm"/>
          </a:ln>
        </p:spPr>
      </p:cxnSp>
      <p:cxnSp>
        <p:nvCxnSpPr>
          <p:cNvPr id="55" name="C2 to THC2 segment 1"/>
          <p:cNvCxnSpPr/>
          <p:nvPr/>
        </p:nvCxnSpPr>
        <p:spPr>
          <a:xfrm>
            <a:off x="5670709" y="1609149"/>
            <a:ext cx="91" cy="295735"/>
          </a:xfrm>
          <a:prstGeom prst="line">
            <a:avLst/>
          </a:prstGeom>
          <a:ln w="9525">
            <a:solidFill>
              <a:srgbClr val="6F7782"/>
            </a:solidFill>
          </a:ln>
        </p:spPr>
      </p:cxnSp>
      <p:cxnSp>
        <p:nvCxnSpPr>
          <p:cNvPr id="56" name="C2 to THC2 segment 2"/>
          <p:cNvCxnSpPr/>
          <p:nvPr/>
        </p:nvCxnSpPr>
        <p:spPr>
          <a:xfrm flipH="1">
            <a:off x="4436269" y="1904884"/>
            <a:ext cx="1234440" cy="91"/>
          </a:xfrm>
          <a:prstGeom prst="line">
            <a:avLst/>
          </a:prstGeom>
          <a:ln w="9525">
            <a:solidFill>
              <a:srgbClr val="6F7782"/>
            </a:solidFill>
          </a:ln>
        </p:spPr>
      </p:cxnSp>
      <p:cxnSp>
        <p:nvCxnSpPr>
          <p:cNvPr id="57" name="C2 to THC2 segment 3"/>
          <p:cNvCxnSpPr/>
          <p:nvPr/>
        </p:nvCxnSpPr>
        <p:spPr>
          <a:xfrm>
            <a:off x="4436269" y="1904884"/>
            <a:ext cx="91" cy="1182942"/>
          </a:xfrm>
          <a:prstGeom prst="line">
            <a:avLst/>
          </a:prstGeom>
          <a:ln w="9525">
            <a:solidFill>
              <a:srgbClr val="6F7782"/>
            </a:solidFill>
            <a:headEnd type="triangle" w="sm" len="sm"/>
          </a:ln>
        </p:spPr>
      </p:cxnSp>
      <p:cxnSp>
        <p:nvCxnSpPr>
          <p:cNvPr id="58" name="C3 to THC3 segment 1"/>
          <p:cNvCxnSpPr/>
          <p:nvPr/>
        </p:nvCxnSpPr>
        <p:spPr>
          <a:xfrm>
            <a:off x="8216741" y="1609149"/>
            <a:ext cx="91" cy="295735"/>
          </a:xfrm>
          <a:prstGeom prst="line">
            <a:avLst/>
          </a:prstGeom>
          <a:ln w="9525">
            <a:solidFill>
              <a:srgbClr val="6F7782"/>
            </a:solidFill>
          </a:ln>
        </p:spPr>
      </p:cxnSp>
      <p:cxnSp>
        <p:nvCxnSpPr>
          <p:cNvPr id="59" name="C3 to THC3 segment 2"/>
          <p:cNvCxnSpPr/>
          <p:nvPr/>
        </p:nvCxnSpPr>
        <p:spPr>
          <a:xfrm flipH="1">
            <a:off x="6982301" y="1904884"/>
            <a:ext cx="1234440" cy="91"/>
          </a:xfrm>
          <a:prstGeom prst="line">
            <a:avLst/>
          </a:prstGeom>
          <a:ln w="9525">
            <a:solidFill>
              <a:srgbClr val="6F7782"/>
            </a:solidFill>
          </a:ln>
        </p:spPr>
      </p:cxnSp>
      <p:cxnSp>
        <p:nvCxnSpPr>
          <p:cNvPr id="60" name="C3 to THC3 segment 3"/>
          <p:cNvCxnSpPr/>
          <p:nvPr/>
        </p:nvCxnSpPr>
        <p:spPr>
          <a:xfrm>
            <a:off x="6982301" y="1904884"/>
            <a:ext cx="91" cy="1182942"/>
          </a:xfrm>
          <a:prstGeom prst="line">
            <a:avLst/>
          </a:prstGeom>
          <a:ln w="9525">
            <a:solidFill>
              <a:srgbClr val="6F7782"/>
            </a:solidFill>
            <a:headEnd type="triangle" w="sm" len="sm"/>
          </a:ln>
        </p:spPr>
      </p:cxnSp>
      <p:cxnSp>
        <p:nvCxnSpPr>
          <p:cNvPr id="61" name="THC1 to THC2"/>
          <p:cNvCxnSpPr/>
          <p:nvPr/>
        </p:nvCxnSpPr>
        <p:spPr>
          <a:xfrm>
            <a:off x="2738914" y="3409656"/>
            <a:ext cx="848678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cxnSp>
        <p:nvCxnSpPr>
          <p:cNvPr id="62" name="THC2 to THC3"/>
          <p:cNvCxnSpPr/>
          <p:nvPr/>
        </p:nvCxnSpPr>
        <p:spPr>
          <a:xfrm>
            <a:off x="5284946" y="3409656"/>
            <a:ext cx="848678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cxnSp>
        <p:nvCxnSpPr>
          <p:cNvPr id="63" name="THC3 to outcome"/>
          <p:cNvCxnSpPr/>
          <p:nvPr/>
        </p:nvCxnSpPr>
        <p:spPr>
          <a:xfrm>
            <a:off x="7830979" y="3409656"/>
            <a:ext cx="347186" cy="91"/>
          </a:xfrm>
          <a:prstGeom prst="line">
            <a:avLst/>
          </a:prstGeom>
          <a:ln w="10795">
            <a:solidFill>
              <a:srgbClr val="1C2630"/>
            </a:solidFill>
            <a:headEnd type="triangle" w="sm" len="sm"/>
          </a:ln>
        </p:spPr>
      </p:cxnSp>
      <p:sp>
        <p:nvSpPr>
          <p:cNvPr id="64" name="full tensor note"/>
          <p:cNvSpPr/>
          <p:nvPr/>
        </p:nvSpPr>
        <p:spPr>
          <a:xfrm>
            <a:off x="1369457" y="3879353"/>
            <a:ext cx="1041559" cy="19135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>
                <a:solidFill>
                  <a:srgbClr val="6F7782"/>
                </a:solidFill>
                <a:latin typeface="Aptos"/>
                <a:ea typeface="Aptos"/>
                <a:cs typeface="Cambria Math"/>
              </a:rPr>
              <a:t>full tensor</a:t>
            </a:r>
            <a:endParaRPr lang="en-US" sz="800"/>
          </a:p>
        </p:txBody>
      </p:sp>
      <p:sp>
        <p:nvSpPr>
          <p:cNvPr id="65" name="exact compare note"/>
          <p:cNvSpPr/>
          <p:nvPr/>
        </p:nvSpPr>
        <p:spPr>
          <a:xfrm>
            <a:off x="3915489" y="3879353"/>
            <a:ext cx="1041559" cy="19135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>
                <a:solidFill>
                  <a:srgbClr val="6F7782"/>
                </a:solidFill>
                <a:latin typeface="Aptos"/>
                <a:ea typeface="Aptos"/>
                <a:cs typeface="Cambria Math"/>
              </a:rPr>
              <a:t>exact compare</a:t>
            </a:r>
            <a:endParaRPr lang="en-US" sz="800"/>
          </a:p>
        </p:txBody>
      </p:sp>
      <p:sp>
        <p:nvSpPr>
          <p:cNvPr id="66" name="byte-level chain note"/>
          <p:cNvSpPr/>
          <p:nvPr/>
        </p:nvSpPr>
        <p:spPr>
          <a:xfrm>
            <a:off x="6403658" y="3879353"/>
            <a:ext cx="1157288" cy="19135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>
                <a:solidFill>
                  <a:srgbClr val="6F7782"/>
                </a:solidFill>
                <a:latin typeface="Aptos"/>
                <a:ea typeface="Aptos"/>
                <a:cs typeface="Cambria Math"/>
              </a:rPr>
              <a:t>byte-level chain</a:t>
            </a:r>
            <a:endParaRPr lang="en-US" sz="800"/>
          </a:p>
        </p:txBody>
      </p:sp>
      <p:sp>
        <p:nvSpPr>
          <p:cNvPr id="67" name="byte difference note"/>
          <p:cNvSpPr/>
          <p:nvPr/>
        </p:nvSpPr>
        <p:spPr>
          <a:xfrm>
            <a:off x="7985284" y="2809487"/>
            <a:ext cx="1697355" cy="243547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900">
                <a:solidFill>
                  <a:srgbClr val="C9252C"/>
                </a:solidFill>
                <a:latin typeface="Aptos"/>
                <a:ea typeface="Aptos"/>
                <a:cs typeface="Cambria Math"/>
              </a:rPr>
              <a:t>byte difference =&gt; mismatch</a:t>
            </a:r>
            <a:endParaRPr lang="en-US" sz="900"/>
          </a:p>
        </p:txBody>
      </p:sp>
      <p:sp>
        <p:nvSpPr>
          <p:cNvPr id="68" name="THC limitation note"/>
          <p:cNvSpPr/>
          <p:nvPr/>
        </p:nvSpPr>
        <p:spPr>
          <a:xfrm>
            <a:off x="9663351" y="3144363"/>
            <a:ext cx="1967389" cy="391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 i="1">
                <a:solidFill>
                  <a:srgbClr val="6F7782"/>
                </a:solidFill>
                <a:latin typeface="Aptos"/>
                <a:ea typeface="Aptos"/>
                <a:cs typeface="Cambria Math"/>
              </a:rPr>
              <a:t>strict byte equality</a:t>
            </a:r>
            <a:endParaRPr lang="en-US" sz="800"/>
          </a:p>
          <a:p>
            <a:pPr algn="ctr"/>
            <a:r>
              <a:rPr lang="en-US" sz="800" i="1">
                <a:solidFill>
                  <a:srgbClr val="6F7782"/>
                </a:solidFill>
                <a:latin typeface="Aptos"/>
                <a:ea typeface="Aptos"/>
                <a:cs typeface="Cambria Math"/>
              </a:rPr>
              <a:t>sensitive to honest drift</a:t>
            </a:r>
            <a:endParaRPr lang="en-US" sz="800"/>
          </a:p>
        </p:txBody>
      </p:sp>
      <p:sp>
        <p:nvSpPr>
          <p:cNvPr id="69" name="sample box"/>
          <p:cNvSpPr/>
          <p:nvPr/>
        </p:nvSpPr>
        <p:spPr>
          <a:xfrm>
            <a:off x="462915" y="5427615"/>
            <a:ext cx="1465898" cy="626263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E6F78"/>
            </a:solidFill>
          </a:ln>
        </p:spPr>
      </p:sp>
      <p:sp>
        <p:nvSpPr>
          <p:cNvPr id="70" name="sample dice body"/>
          <p:cNvSpPr/>
          <p:nvPr/>
        </p:nvSpPr>
        <p:spPr>
          <a:xfrm>
            <a:off x="532352" y="5575483"/>
            <a:ext cx="293180" cy="330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E6F78"/>
            </a:solidFill>
          </a:ln>
        </p:spPr>
      </p:sp>
      <p:sp>
        <p:nvSpPr>
          <p:cNvPr id="71" name="sample dice dot"/>
          <p:cNvSpPr/>
          <p:nvPr/>
        </p:nvSpPr>
        <p:spPr>
          <a:xfrm>
            <a:off x="588288" y="5638544"/>
            <a:ext cx="27003" cy="30443"/>
          </a:xfrm>
          <a:prstGeom prst="ellipse">
            <a:avLst/>
          </a:prstGeom>
          <a:solidFill>
            <a:srgbClr val="0E6F78"/>
          </a:solidFill>
          <a:ln w="1270">
            <a:solidFill>
              <a:srgbClr val="0E6F78"/>
            </a:solidFill>
          </a:ln>
        </p:spPr>
      </p:sp>
      <p:sp>
        <p:nvSpPr>
          <p:cNvPr id="72" name="sample dice dot"/>
          <p:cNvSpPr/>
          <p:nvPr/>
        </p:nvSpPr>
        <p:spPr>
          <a:xfrm>
            <a:off x="742593" y="5638544"/>
            <a:ext cx="27003" cy="30443"/>
          </a:xfrm>
          <a:prstGeom prst="ellipse">
            <a:avLst/>
          </a:prstGeom>
          <a:solidFill>
            <a:srgbClr val="0E6F78"/>
          </a:solidFill>
          <a:ln w="1270">
            <a:solidFill>
              <a:srgbClr val="0E6F78"/>
            </a:solidFill>
          </a:ln>
        </p:spPr>
      </p:sp>
      <p:sp>
        <p:nvSpPr>
          <p:cNvPr id="73" name="sample dice dot"/>
          <p:cNvSpPr/>
          <p:nvPr/>
        </p:nvSpPr>
        <p:spPr>
          <a:xfrm>
            <a:off x="665440" y="5725525"/>
            <a:ext cx="27003" cy="30443"/>
          </a:xfrm>
          <a:prstGeom prst="ellipse">
            <a:avLst/>
          </a:prstGeom>
          <a:solidFill>
            <a:srgbClr val="0E6F78"/>
          </a:solidFill>
          <a:ln w="1270">
            <a:solidFill>
              <a:srgbClr val="0E6F78"/>
            </a:solidFill>
          </a:ln>
        </p:spPr>
      </p:sp>
      <p:sp>
        <p:nvSpPr>
          <p:cNvPr id="74" name="sample dice dot"/>
          <p:cNvSpPr/>
          <p:nvPr/>
        </p:nvSpPr>
        <p:spPr>
          <a:xfrm>
            <a:off x="588288" y="5812506"/>
            <a:ext cx="27003" cy="30443"/>
          </a:xfrm>
          <a:prstGeom prst="ellipse">
            <a:avLst/>
          </a:prstGeom>
          <a:solidFill>
            <a:srgbClr val="0E6F78"/>
          </a:solidFill>
          <a:ln w="1270">
            <a:solidFill>
              <a:srgbClr val="0E6F78"/>
            </a:solidFill>
          </a:ln>
        </p:spPr>
      </p:sp>
      <p:sp>
        <p:nvSpPr>
          <p:cNvPr id="75" name="sample dice dot"/>
          <p:cNvSpPr/>
          <p:nvPr/>
        </p:nvSpPr>
        <p:spPr>
          <a:xfrm>
            <a:off x="742593" y="5812506"/>
            <a:ext cx="27003" cy="30443"/>
          </a:xfrm>
          <a:prstGeom prst="ellipse">
            <a:avLst/>
          </a:prstGeom>
          <a:solidFill>
            <a:srgbClr val="0E6F78"/>
          </a:solidFill>
          <a:ln w="1270">
            <a:solidFill>
              <a:srgbClr val="0E6F78"/>
            </a:solidFill>
          </a:ln>
        </p:spPr>
      </p:sp>
      <p:sp>
        <p:nvSpPr>
          <p:cNvPr id="76" name="sample label"/>
          <p:cNvSpPr/>
          <p:nvPr/>
        </p:nvSpPr>
        <p:spPr>
          <a:xfrm>
            <a:off x="864108" y="5627671"/>
            <a:ext cx="925830" cy="226151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sample</a:t>
            </a:r>
            <a:endParaRPr lang="en-US" sz="800"/>
          </a:p>
        </p:txBody>
      </p:sp>
      <mc:AlternateContent>
        <mc:Choice Requires="a14">
          <p:sp>
            <p:nvSpPr>
              <p:cNvPr id="77" name="sample omega"/>
              <p:cNvSpPr/>
              <p:nvPr/>
            </p:nvSpPr>
            <p:spPr>
              <a:xfrm>
                <a:off x="1435036" y="5627671"/>
                <a:ext cx="385762" cy="226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Ωₖ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7" name="sample omega fallback"/>
              <p:cNvSpPr txBox="1"/>
              <p:nvPr/>
            </p:nvSpPr>
            <p:spPr>
              <a:xfrm>
                <a:off x="1435036" y="5627671"/>
                <a:ext cx="385762" cy="226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10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Ωₖ</a:t>
                </a:r>
                <a:endParaRPr lang="en-US" sz="1000"/>
              </a:p>
            </p:txBody>
          </p:sp>
        </mc:Fallback>
      </mc:AlternateContent>
      <p:sp>
        <p:nvSpPr>
          <p:cNvPr id="78" name="sketch box"/>
          <p:cNvSpPr/>
          <p:nvPr/>
        </p:nvSpPr>
        <p:spPr>
          <a:xfrm>
            <a:off x="2256711" y="5427615"/>
            <a:ext cx="1813084" cy="626263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E6F78"/>
            </a:solidFill>
          </a:ln>
        </p:spPr>
      </p:sp>
      <p:sp>
        <p:nvSpPr>
          <p:cNvPr id="79" name="filter funnel top"/>
          <p:cNvSpPr/>
          <p:nvPr/>
        </p:nvSpPr>
        <p:spPr>
          <a:xfrm>
            <a:off x="2322290" y="5575483"/>
            <a:ext cx="324040" cy="139170"/>
          </a:xfrm>
          <a:prstGeom prst="trapezoid">
            <a:avLst/>
          </a:prstGeom>
          <a:solidFill>
            <a:srgbClr val="EAF7F7"/>
          </a:solidFill>
          <a:ln w="8890">
            <a:solidFill>
              <a:srgbClr val="0E6F78"/>
            </a:solidFill>
          </a:ln>
        </p:spPr>
      </p:sp>
      <p:sp>
        <p:nvSpPr>
          <p:cNvPr id="80" name="filter stem"/>
          <p:cNvSpPr/>
          <p:nvPr/>
        </p:nvSpPr>
        <p:spPr>
          <a:xfrm>
            <a:off x="2422589" y="5714652"/>
            <a:ext cx="123444" cy="191358"/>
          </a:xfrm>
          <a:prstGeom prst="rect">
            <a:avLst/>
          </a:prstGeom>
          <a:solidFill>
            <a:srgbClr val="EAF7F7"/>
          </a:solidFill>
          <a:ln w="8890">
            <a:solidFill>
              <a:srgbClr val="0E6F78"/>
            </a:solidFill>
          </a:ln>
        </p:spPr>
      </p:sp>
      <p:sp>
        <p:nvSpPr>
          <p:cNvPr id="81" name="sketch label"/>
          <p:cNvSpPr/>
          <p:nvPr/>
        </p:nvSpPr>
        <p:spPr>
          <a:xfrm>
            <a:off x="2681049" y="5488502"/>
            <a:ext cx="1041559" cy="19135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sketch</a:t>
            </a:r>
            <a:endParaRPr lang="en-US" sz="800"/>
          </a:p>
        </p:txBody>
      </p:sp>
      <mc:AlternateContent>
        <mc:Choice Requires="a14">
          <p:sp>
            <p:nvSpPr>
              <p:cNvPr id="82" name="sketch equation"/>
              <p:cNvSpPr/>
              <p:nvPr/>
            </p:nvSpPr>
            <p:spPr>
              <a:xfrm>
                <a:off x="2681049" y="5714652"/>
                <a:ext cx="1350169" cy="260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zⱼ,ₖ = Φⱼ,ₖ(Hⱼ,ₖ)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2" name="sketch equation fallback"/>
              <p:cNvSpPr txBox="1"/>
              <p:nvPr/>
            </p:nvSpPr>
            <p:spPr>
              <a:xfrm>
                <a:off x="2681049" y="5714652"/>
                <a:ext cx="1350169" cy="260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9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zⱼ,ₖ = Φⱼ,ₖ(Hⱼ,ₖ)</a:t>
                </a:r>
                <a:endParaRPr lang="en-US" sz="900"/>
              </a:p>
            </p:txBody>
          </p:sp>
        </mc:Fallback>
      </mc:AlternateContent>
      <p:sp>
        <p:nvSpPr>
          <p:cNvPr id="83" name="compare box"/>
          <p:cNvSpPr/>
          <p:nvPr/>
        </p:nvSpPr>
        <p:spPr>
          <a:xfrm>
            <a:off x="4443984" y="5358030"/>
            <a:ext cx="1681925" cy="765433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E6F78"/>
            </a:solidFill>
          </a:ln>
        </p:spPr>
      </p:sp>
      <p:sp>
        <p:nvSpPr>
          <p:cNvPr id="84" name="compare gap label"/>
          <p:cNvSpPr/>
          <p:nvPr/>
        </p:nvSpPr>
        <p:spPr>
          <a:xfrm>
            <a:off x="4667726" y="5453709"/>
            <a:ext cx="1234440" cy="173962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>
                <a:solidFill>
                  <a:srgbClr val="1C2630"/>
                </a:solidFill>
                <a:latin typeface="Aptos"/>
                <a:ea typeface="Aptos"/>
                <a:cs typeface="Cambria Math"/>
              </a:rPr>
              <a:t>compare gap</a:t>
            </a:r>
            <a:endParaRPr lang="en-US" sz="800"/>
          </a:p>
        </p:txBody>
      </p:sp>
      <mc:AlternateContent>
        <mc:Choice Requires="a14">
          <p:sp>
            <p:nvSpPr>
              <p:cNvPr id="85" name="gap equation"/>
              <p:cNvSpPr/>
              <p:nvPr/>
            </p:nvSpPr>
            <p:spPr>
              <a:xfrm>
                <a:off x="4532709" y="5627671"/>
                <a:ext cx="1504474" cy="226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δⱼ,ₖ = μ(zⱼ,ₖ,z′ⱼ,ₖ)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5" name="gap equation fallback"/>
              <p:cNvSpPr txBox="1"/>
              <p:nvPr/>
            </p:nvSpPr>
            <p:spPr>
              <a:xfrm>
                <a:off x="4532709" y="5627671"/>
                <a:ext cx="1504474" cy="226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8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δⱼ,ₖ = μ(zⱼ,ₖ,z′ⱼ,ₖ)</a:t>
                </a:r>
                <a:endParaRPr lang="en-US" sz="800"/>
              </a:p>
            </p:txBody>
          </p:sp>
        </mc:Fallback>
      </mc:AlternateContent>
      <mc:AlternateContent>
        <mc:Choice Requires="a14">
          <p:sp>
            <p:nvSpPr>
              <p:cNvPr id="86" name="threshold equation"/>
              <p:cNvSpPr/>
              <p:nvPr/>
            </p:nvSpPr>
            <p:spPr>
              <a:xfrm>
                <a:off x="4532709" y="5845124"/>
                <a:ext cx="1504474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δⱼ,ₖ ≤ Γⱼ,ₖ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6" name="threshold equation fallback"/>
              <p:cNvSpPr txBox="1"/>
              <p:nvPr/>
            </p:nvSpPr>
            <p:spPr>
              <a:xfrm>
                <a:off x="4532709" y="5845124"/>
                <a:ext cx="1504474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8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δⱼ,ₖ ≤ Γⱼ,ₖ</a:t>
                </a:r>
                <a:endParaRPr lang="en-US" sz="800"/>
              </a:p>
            </p:txBody>
          </p:sp>
        </mc:Fallback>
      </mc:AlternateContent>
      <p:sp>
        <p:nvSpPr>
          <p:cNvPr id="87" name="digest box"/>
          <p:cNvSpPr/>
          <p:nvPr/>
        </p:nvSpPr>
        <p:spPr>
          <a:xfrm>
            <a:off x="6511671" y="5427615"/>
            <a:ext cx="1712786" cy="626263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E6F78"/>
            </a:solidFill>
          </a:ln>
        </p:spPr>
      </p:sp>
      <mc:AlternateContent>
        <mc:Choice Requires="a14">
          <p:sp>
            <p:nvSpPr>
              <p:cNvPr id="88" name="digest equation"/>
              <p:cNvSpPr/>
              <p:nvPr/>
            </p:nvSpPr>
            <p:spPr>
              <a:xfrm>
                <a:off x="6712268" y="5505898"/>
                <a:ext cx="1311592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digest gⱼ,ₖ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8" name="digest equation fallback"/>
              <p:cNvSpPr txBox="1"/>
              <p:nvPr/>
            </p:nvSpPr>
            <p:spPr>
              <a:xfrm>
                <a:off x="6712268" y="5505898"/>
                <a:ext cx="1311592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8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digest gⱼ,ₖ</a:t>
                </a:r>
                <a:endParaRPr lang="en-US" sz="800"/>
              </a:p>
            </p:txBody>
          </p:sp>
        </mc:Fallback>
      </mc:AlternateContent>
      <mc:AlternateContent>
        <mc:Choice Requires="a14">
          <p:sp>
            <p:nvSpPr>
              <p:cNvPr id="89" name="chain equation"/>
              <p:cNvSpPr/>
              <p:nvPr/>
            </p:nvSpPr>
            <p:spPr>
              <a:xfrm>
                <a:off x="6712268" y="5758143"/>
                <a:ext cx="1311592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chain cⱼ,ₖ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9" name="chain equation fallback"/>
              <p:cNvSpPr txBox="1"/>
              <p:nvPr/>
            </p:nvSpPr>
            <p:spPr>
              <a:xfrm>
                <a:off x="6712268" y="5758143"/>
                <a:ext cx="1311592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8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chain cⱼ,ₖ</a:t>
                </a:r>
                <a:endParaRPr lang="en-US" sz="800"/>
              </a:p>
            </p:txBody>
          </p:sp>
        </mc:Fallback>
      </mc:AlternateContent>
      <p:sp>
        <p:nvSpPr>
          <p:cNvPr id="90" name="localized boundary box"/>
          <p:cNvSpPr/>
          <p:nvPr/>
        </p:nvSpPr>
        <p:spPr>
          <a:xfrm>
            <a:off x="8467487" y="5418917"/>
            <a:ext cx="1658779" cy="6436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E6F78"/>
            </a:solidFill>
          </a:ln>
        </p:spPr>
      </p:sp>
      <mc:AlternateContent>
        <mc:Choice Requires="a14">
          <p:sp>
            <p:nvSpPr>
              <p:cNvPr id="91" name="first above threshold equation"/>
              <p:cNvSpPr/>
              <p:nvPr/>
            </p:nvSpPr>
            <p:spPr>
              <a:xfrm>
                <a:off x="8563928" y="5523294"/>
                <a:ext cx="1465898" cy="226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first δⱼ,ₖ &gt; Γⱼ,ₖ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1" name="first above threshold equation fallback"/>
              <p:cNvSpPr txBox="1"/>
              <p:nvPr/>
            </p:nvSpPr>
            <p:spPr>
              <a:xfrm>
                <a:off x="8563928" y="5523294"/>
                <a:ext cx="1465898" cy="226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8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first δⱼ,ₖ &gt; Γⱼ,ₖ</a:t>
                </a:r>
                <a:endParaRPr lang="en-US" sz="800"/>
              </a:p>
            </p:txBody>
          </p:sp>
        </mc:Fallback>
      </mc:AlternateContent>
      <mc:AlternateContent>
        <mc:Choice Requires="a14">
          <p:sp>
            <p:nvSpPr>
              <p:cNvPr id="92" name="localized boundary equation"/>
              <p:cNvSpPr/>
              <p:nvPr/>
            </p:nvSpPr>
            <p:spPr>
              <a:xfrm>
                <a:off x="8641080" y="5775539"/>
                <a:ext cx="1311592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rgbClr val="1C263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-&gt; b*ⱼ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2" name="localized boundary equation fallback"/>
              <p:cNvSpPr txBox="1"/>
              <p:nvPr/>
            </p:nvSpPr>
            <p:spPr>
              <a:xfrm>
                <a:off x="8641080" y="5775539"/>
                <a:ext cx="1311592" cy="2087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900">
                    <a:solidFill>
                      <a:srgbClr val="1C2630"/>
                    </a:solidFill>
                    <a:latin typeface="Aptos"/>
                    <a:ea typeface="Aptos"/>
                    <a:cs typeface="Cambria Math"/>
                  </a:rPr>
                  <a:t>-&gt; b*ⱼ</a:t>
                </a:r>
                <a:endParaRPr lang="en-US" sz="900"/>
              </a:p>
            </p:txBody>
          </p:sp>
        </mc:Fallback>
      </mc:AlternateContent>
      <p:cxnSp>
        <p:nvCxnSpPr>
          <p:cNvPr id="93" name="sample to sketch"/>
          <p:cNvCxnSpPr/>
          <p:nvPr/>
        </p:nvCxnSpPr>
        <p:spPr>
          <a:xfrm>
            <a:off x="1928812" y="5740747"/>
            <a:ext cx="324041" cy="91"/>
          </a:xfrm>
          <a:prstGeom prst="line">
            <a:avLst/>
          </a:prstGeom>
          <a:ln w="10795">
            <a:solidFill>
              <a:srgbClr val="1557A6"/>
            </a:solidFill>
            <a:headEnd type="triangle" w="sm" len="sm"/>
          </a:ln>
        </p:spPr>
      </p:cxnSp>
      <p:cxnSp>
        <p:nvCxnSpPr>
          <p:cNvPr id="94" name="sketch to compare"/>
          <p:cNvCxnSpPr/>
          <p:nvPr/>
        </p:nvCxnSpPr>
        <p:spPr>
          <a:xfrm>
            <a:off x="4065937" y="5740747"/>
            <a:ext cx="378047" cy="91"/>
          </a:xfrm>
          <a:prstGeom prst="line">
            <a:avLst/>
          </a:prstGeom>
          <a:ln w="10795">
            <a:solidFill>
              <a:srgbClr val="1557A6"/>
            </a:solidFill>
            <a:headEnd type="triangle" w="sm" len="sm"/>
          </a:ln>
        </p:spPr>
      </p:cxnSp>
      <p:cxnSp>
        <p:nvCxnSpPr>
          <p:cNvPr id="95" name="compare to digest"/>
          <p:cNvCxnSpPr/>
          <p:nvPr/>
        </p:nvCxnSpPr>
        <p:spPr>
          <a:xfrm>
            <a:off x="6125909" y="5740747"/>
            <a:ext cx="385762" cy="91"/>
          </a:xfrm>
          <a:prstGeom prst="line">
            <a:avLst/>
          </a:prstGeom>
          <a:ln w="10795">
            <a:solidFill>
              <a:srgbClr val="1557A6"/>
            </a:solidFill>
            <a:headEnd type="triangle" w="sm" len="sm"/>
          </a:ln>
        </p:spPr>
      </p:cxnSp>
      <p:cxnSp>
        <p:nvCxnSpPr>
          <p:cNvPr id="96" name="digest to loc"/>
          <p:cNvCxnSpPr/>
          <p:nvPr/>
        </p:nvCxnSpPr>
        <p:spPr>
          <a:xfrm>
            <a:off x="8224456" y="5740747"/>
            <a:ext cx="246888" cy="91"/>
          </a:xfrm>
          <a:prstGeom prst="line">
            <a:avLst/>
          </a:prstGeom>
          <a:ln w="10795">
            <a:solidFill>
              <a:srgbClr val="1557A6"/>
            </a:solidFill>
            <a:headEnd type="triangle" w="sm" len="sm"/>
          </a:ln>
        </p:spPr>
      </p:cxnSp>
      <p:cxnSp>
        <p:nvCxnSpPr>
          <p:cNvPr id="97" name="checkpoint to sketch bus"/>
          <p:cNvCxnSpPr/>
          <p:nvPr/>
        </p:nvCxnSpPr>
        <p:spPr>
          <a:xfrm>
            <a:off x="3124676" y="1609149"/>
            <a:ext cx="91" cy="2713807"/>
          </a:xfrm>
          <a:prstGeom prst="line">
            <a:avLst/>
          </a:prstGeom>
          <a:ln w="7874">
            <a:solidFill>
              <a:srgbClr val="0E6F78"/>
            </a:solidFill>
          </a:ln>
        </p:spPr>
      </p:cxnSp>
      <p:cxnSp>
        <p:nvCxnSpPr>
          <p:cNvPr id="98" name="checkpoint to sketch bus"/>
          <p:cNvCxnSpPr/>
          <p:nvPr/>
        </p:nvCxnSpPr>
        <p:spPr>
          <a:xfrm>
            <a:off x="5670709" y="1609149"/>
            <a:ext cx="91" cy="2713807"/>
          </a:xfrm>
          <a:prstGeom prst="line">
            <a:avLst/>
          </a:prstGeom>
          <a:ln w="7874">
            <a:solidFill>
              <a:srgbClr val="0E6F78"/>
            </a:solidFill>
          </a:ln>
        </p:spPr>
      </p:cxnSp>
      <p:cxnSp>
        <p:nvCxnSpPr>
          <p:cNvPr id="99" name="checkpoint to sketch bus"/>
          <p:cNvCxnSpPr/>
          <p:nvPr/>
        </p:nvCxnSpPr>
        <p:spPr>
          <a:xfrm>
            <a:off x="8216741" y="1609149"/>
            <a:ext cx="91" cy="2713807"/>
          </a:xfrm>
          <a:prstGeom prst="line">
            <a:avLst/>
          </a:prstGeom>
          <a:ln w="7874">
            <a:solidFill>
              <a:srgbClr val="0E6F78"/>
            </a:solidFill>
          </a:ln>
        </p:spPr>
      </p:cxnSp>
      <p:cxnSp>
        <p:nvCxnSpPr>
          <p:cNvPr id="100" name="sketch bus"/>
          <p:cNvCxnSpPr/>
          <p:nvPr/>
        </p:nvCxnSpPr>
        <p:spPr>
          <a:xfrm>
            <a:off x="3124676" y="4322956"/>
            <a:ext cx="5092065" cy="91"/>
          </a:xfrm>
          <a:prstGeom prst="line">
            <a:avLst/>
          </a:prstGeom>
          <a:ln w="7874">
            <a:solidFill>
              <a:srgbClr val="0E6F78"/>
            </a:solidFill>
          </a:ln>
        </p:spPr>
      </p:cxnSp>
      <p:cxnSp>
        <p:nvCxnSpPr>
          <p:cNvPr id="101" name="bus back to sample"/>
          <p:cNvCxnSpPr/>
          <p:nvPr/>
        </p:nvCxnSpPr>
        <p:spPr>
          <a:xfrm flipH="1">
            <a:off x="1195864" y="4322956"/>
            <a:ext cx="1928812" cy="91"/>
          </a:xfrm>
          <a:prstGeom prst="line">
            <a:avLst/>
          </a:prstGeom>
          <a:ln w="7874">
            <a:solidFill>
              <a:srgbClr val="0E6F78"/>
            </a:solidFill>
          </a:ln>
        </p:spPr>
      </p:cxnSp>
      <p:cxnSp>
        <p:nvCxnSpPr>
          <p:cNvPr id="102" name="sample input arrow"/>
          <p:cNvCxnSpPr/>
          <p:nvPr/>
        </p:nvCxnSpPr>
        <p:spPr>
          <a:xfrm>
            <a:off x="1195864" y="4322956"/>
            <a:ext cx="91" cy="1104659"/>
          </a:xfrm>
          <a:prstGeom prst="line">
            <a:avLst/>
          </a:prstGeom>
          <a:ln w="9525">
            <a:solidFill>
              <a:srgbClr val="0E6F78"/>
            </a:solidFill>
            <a:headEnd type="triangle" w="sm" len="sm"/>
          </a:ln>
        </p:spPr>
      </p:cxnSp>
      <mc:AlternateContent>
        <mc:Choice Requires="a14">
          <p:sp>
            <p:nvSpPr>
              <p:cNvPr id="103" name="for each boundary equation"/>
              <p:cNvSpPr/>
              <p:nvPr/>
            </p:nvSpPr>
            <p:spPr>
              <a:xfrm>
                <a:off x="1253728" y="5027502"/>
                <a:ext cx="1427321" cy="243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rgbClr val="0E6F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for each k in ℬⱼ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3" name="for each boundary equation fallback"/>
              <p:cNvSpPr txBox="1"/>
              <p:nvPr/>
            </p:nvSpPr>
            <p:spPr>
              <a:xfrm>
                <a:off x="1253728" y="5027502"/>
                <a:ext cx="1427321" cy="243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900">
                    <a:solidFill>
                      <a:srgbClr val="0E6F78"/>
                    </a:solidFill>
                    <a:latin typeface="Aptos"/>
                    <a:ea typeface="Aptos"/>
                    <a:cs typeface="Cambria Math"/>
                  </a:rPr>
                  <a:t>for each k in ℬⱼ</a:t>
                </a:r>
                <a:endParaRPr lang="en-US" sz="900"/>
              </a:p>
            </p:txBody>
          </p:sp>
        </mc:Fallback>
      </mc:AlternateContent>
      <mc:AlternateContent>
        <mc:Choice Requires="a14">
          <p:sp>
            <p:nvSpPr>
              <p:cNvPr id="104" name="reference sketch equation"/>
              <p:cNvSpPr/>
              <p:nvPr/>
            </p:nvSpPr>
            <p:spPr>
              <a:xfrm>
                <a:off x="4301252" y="5010106"/>
                <a:ext cx="1967389" cy="243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rgbClr val="0E6F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reference or replayed sketch z′ⱼ,ₖ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4" name="reference sketch equation fallback"/>
              <p:cNvSpPr txBox="1"/>
              <p:nvPr/>
            </p:nvSpPr>
            <p:spPr>
              <a:xfrm>
                <a:off x="4301252" y="5010106"/>
                <a:ext cx="1967389" cy="243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900">
                    <a:solidFill>
                      <a:srgbClr val="0E6F78"/>
                    </a:solidFill>
                    <a:latin typeface="Aptos"/>
                    <a:ea typeface="Aptos"/>
                    <a:cs typeface="Cambria Math"/>
                  </a:rPr>
                  <a:t>reference or replayed sketch z′ⱼ,ₖ</a:t>
                </a:r>
                <a:endParaRPr lang="en-US" sz="900"/>
              </a:p>
            </p:txBody>
          </p:sp>
        </mc:Fallback>
      </mc:AlternateContent>
      <p:sp>
        <p:nvSpPr>
          <p:cNvPr id="105" name="reveal sketches note"/>
          <p:cNvSpPr/>
          <p:nvPr/>
        </p:nvSpPr>
        <p:spPr>
          <a:xfrm>
            <a:off x="1523762" y="6636651"/>
            <a:ext cx="2584609" cy="295735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>
                <a:solidFill>
                  <a:srgbClr val="0E6F78"/>
                </a:solidFill>
                <a:latin typeface="Aptos"/>
                <a:ea typeface="Aptos"/>
                <a:cs typeface="Cambria Math"/>
              </a:rPr>
              <a:t>reveal sketches, not full checkpoints</a:t>
            </a:r>
            <a:endParaRPr lang="en-US" sz="800"/>
          </a:p>
        </p:txBody>
      </p:sp>
      <mc:AlternateContent>
        <mc:Choice Requires="a14">
          <p:sp>
            <p:nvSpPr>
              <p:cNvPr id="106" name="signature localization equation"/>
              <p:cNvSpPr/>
              <p:nvPr/>
            </p:nvSpPr>
            <p:spPr>
              <a:xfrm>
                <a:off x="5651421" y="6636651"/>
                <a:ext cx="3047524" cy="295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27432" tIns="27432" rIns="27432" bIns="27432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rgbClr val="0E6F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itchFamily="18" charset="0"/>
                        </a:rPr>
                        <m:t>above-tolerance boundary -&gt; b*ⱼ via σⱼ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6" name="signature localization equation fallback"/>
              <p:cNvSpPr txBox="1"/>
              <p:nvPr/>
            </p:nvSpPr>
            <p:spPr>
              <a:xfrm>
                <a:off x="5651421" y="6636651"/>
                <a:ext cx="3047524" cy="295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 lIns="45720" tIns="45720" rIns="45720" bIns="45720"/>
              <a:lstStyle/>
              <a:p>
                <a:pPr algn="ctr"/>
                <a:r>
                  <a:rPr lang="en-US" sz="800">
                    <a:solidFill>
                      <a:srgbClr val="0E6F78"/>
                    </a:solidFill>
                    <a:latin typeface="Aptos"/>
                    <a:ea typeface="Aptos"/>
                    <a:cs typeface="Cambria Math"/>
                  </a:rPr>
                  <a:t>above-tolerance boundary -&gt; b*ⱼ via σⱼ</a:t>
                </a:r>
                <a:endParaRPr lang="en-US" sz="800"/>
              </a:p>
            </p:txBody>
          </p:sp>
        </mc:Fallback>
      </mc:AlternateContent>
      <p:sp>
        <p:nvSpPr>
          <p:cNvPr id="107" name="tstc benefit note"/>
          <p:cNvSpPr/>
          <p:nvPr/>
        </p:nvSpPr>
        <p:spPr>
          <a:xfrm>
            <a:off x="9624774" y="6001690"/>
            <a:ext cx="1890236" cy="521886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45720" rIns="45720" bIns="45720"/>
          <a:lstStyle/>
          <a:p>
            <a:pPr algn="ctr"/>
            <a:r>
              <a:rPr lang="en-US" sz="800" i="1">
                <a:solidFill>
                  <a:srgbClr val="0E6F78"/>
                </a:solidFill>
                <a:latin typeface="Aptos"/>
                <a:ea typeface="Aptos"/>
                <a:cs typeface="Cambria Math"/>
              </a:rPr>
              <a:t>compact sketches</a:t>
            </a:r>
            <a:endParaRPr lang="en-US" sz="800"/>
          </a:p>
          <a:p>
            <a:pPr algn="ctr"/>
            <a:r>
              <a:rPr lang="en-US" sz="800" i="1">
                <a:solidFill>
                  <a:srgbClr val="0E6F78"/>
                </a:solidFill>
                <a:latin typeface="Aptos"/>
                <a:ea typeface="Aptos"/>
                <a:cs typeface="Cambria Math"/>
              </a:rPr>
              <a:t>calibrated tolerance</a:t>
            </a:r>
            <a:endParaRPr lang="en-US" sz="800"/>
          </a:p>
          <a:p>
            <a:pPr algn="ctr"/>
            <a:r>
              <a:rPr lang="en-US" sz="800" i="1">
                <a:solidFill>
                  <a:srgbClr val="0E6F78"/>
                </a:solidFill>
                <a:latin typeface="Aptos"/>
                <a:ea typeface="Aptos"/>
                <a:cs typeface="Cambria Math"/>
              </a:rPr>
              <a:t>digest chain preserves localization</a:t>
            </a:r>
            <a:endParaRPr lang="en-US" sz="800"/>
          </a:p>
        </p:txBody>
      </p:sp>
      <p:sp>
        <p:nvSpPr>
          <p:cNvPr id="108" name="target outer"/>
          <p:cNvSpPr/>
          <p:nvPr/>
        </p:nvSpPr>
        <p:spPr>
          <a:xfrm>
            <a:off x="11333702" y="5992992"/>
            <a:ext cx="478345" cy="53928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E6F78"/>
            </a:solidFill>
          </a:ln>
        </p:spPr>
      </p:sp>
      <p:sp>
        <p:nvSpPr>
          <p:cNvPr id="109" name="target middle"/>
          <p:cNvSpPr/>
          <p:nvPr/>
        </p:nvSpPr>
        <p:spPr>
          <a:xfrm>
            <a:off x="11418570" y="6088671"/>
            <a:ext cx="308610" cy="347924"/>
          </a:xfrm>
          <a:prstGeom prst="ellipse">
            <a:avLst/>
          </a:prstGeom>
          <a:noFill/>
          <a:ln w="10160">
            <a:solidFill>
              <a:srgbClr val="0E6F78"/>
            </a:solidFill>
          </a:ln>
        </p:spPr>
      </p:sp>
      <p:sp>
        <p:nvSpPr>
          <p:cNvPr id="110" name="target core"/>
          <p:cNvSpPr/>
          <p:nvPr/>
        </p:nvSpPr>
        <p:spPr>
          <a:xfrm>
            <a:off x="11518868" y="6201746"/>
            <a:ext cx="108014" cy="121773"/>
          </a:xfrm>
          <a:prstGeom prst="ellipse">
            <a:avLst/>
          </a:prstGeom>
          <a:solidFill>
            <a:srgbClr val="0E6F78"/>
          </a:solidFill>
          <a:ln w="10160">
            <a:solidFill>
              <a:srgbClr val="0E6F78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196</Words>
  <Application>Microsoft Office PowerPoint</Application>
  <PresentationFormat>自定义</PresentationFormat>
  <Paragraphs>77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 Math</vt:lpstr>
      <vt:lpstr>Office Theme</vt:lpstr>
      <vt:lpstr>PowerPoint 演示文稿</vt:lpstr>
    </vt:vector>
  </TitlesOfParts>
  <Company>Anonymous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system model and workflow</dc:title>
  <dc:subject>Figure 1 system workflow</dc:subject>
  <dc:creator>VeriEdge</dc:creator>
  <cp:lastModifiedBy>T. Wang</cp:lastModifiedBy>
  <cp:revision>11</cp:revision>
  <dcterms:created xsi:type="dcterms:W3CDTF">2026-05-05T15:07:10Z</dcterms:created>
  <dcterms:modified xsi:type="dcterms:W3CDTF">2026-05-06T11:27:32Z</dcterms:modified>
</cp:coreProperties>
</file>