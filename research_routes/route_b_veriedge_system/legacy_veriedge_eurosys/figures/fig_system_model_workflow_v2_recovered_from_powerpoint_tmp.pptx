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344400" cy="7497763"/>
  <p:notesSz cx="7497763" cy="12344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F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7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-46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78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4" y="163077"/>
            <a:ext cx="2331720" cy="3019415"/>
          </a:xfrm>
          <a:prstGeom prst="roundRect">
            <a:avLst>
              <a:gd name="adj" fmla="val 5490"/>
            </a:avLst>
          </a:prstGeom>
          <a:solidFill>
            <a:srgbClr val="F2F7FF"/>
          </a:solidFill>
          <a:ln w="16510">
            <a:solidFill>
              <a:srgbClr val="1557A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6" y="334331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6696" y="402336"/>
            <a:ext cx="832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96696" y="7084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i="1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task plaintext</a:t>
            </a:r>
            <a:endParaRPr lang="en-US" sz="830" dirty="0"/>
          </a:p>
        </p:txBody>
      </p:sp>
      <p:sp>
        <p:nvSpPr>
          <p:cNvPr id="6" name="Shape 3"/>
          <p:cNvSpPr/>
          <p:nvPr/>
        </p:nvSpPr>
        <p:spPr>
          <a:xfrm>
            <a:off x="438912" y="932688"/>
            <a:ext cx="1654207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1557A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47" y="103057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1339" y="1036699"/>
            <a:ext cx="111290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task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20959" y="1218438"/>
            <a:ext cx="10185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descriptor only</a:t>
            </a:r>
            <a:endParaRPr lang="en-US" sz="720" dirty="0"/>
          </a:p>
        </p:txBody>
      </p:sp>
      <p:sp>
        <p:nvSpPr>
          <p:cNvPr id="10" name="Shape 6"/>
          <p:cNvSpPr/>
          <p:nvPr/>
        </p:nvSpPr>
        <p:spPr>
          <a:xfrm>
            <a:off x="438912" y="1527048"/>
            <a:ext cx="1654207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1557A6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62763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1339" y="1663921"/>
            <a:ext cx="11689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 payload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20959" y="1833085"/>
            <a:ext cx="11081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C_j = Enc_k(x_j)</a:t>
            </a:r>
            <a:endParaRPr lang="en-US" sz="720" dirty="0"/>
          </a:p>
        </p:txBody>
      </p:sp>
      <p:sp>
        <p:nvSpPr>
          <p:cNvPr id="14" name="Shape 9"/>
          <p:cNvSpPr/>
          <p:nvPr/>
        </p:nvSpPr>
        <p:spPr>
          <a:xfrm>
            <a:off x="438912" y="2121408"/>
            <a:ext cx="1654207" cy="4937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1557A6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22199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9294" y="2261995"/>
            <a:ext cx="1235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access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817959" y="2443258"/>
            <a:ext cx="1143857" cy="1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e_i,j after commit</a:t>
            </a:r>
            <a:endParaRPr lang="en-US" sz="72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2736720"/>
            <a:ext cx="310896" cy="3108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2"/>
              <p:cNvSpPr/>
              <p:nvPr/>
            </p:nvSpPr>
            <p:spPr>
              <a:xfrm>
                <a:off x="786384" y="2836020"/>
                <a:ext cx="1249680" cy="14354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720" dirty="0">
                    <a:solidFill>
                      <a:srgbClr val="5F6C7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outside access-tuple</a:t>
                </a:r>
                <a:r>
                  <a:rPr lang="en-US" sz="720" dirty="0"/>
                  <a:t> </a:t>
                </a:r>
                <a:r>
                  <a:rPr lang="en-US" sz="720" dirty="0">
                    <a:solidFill>
                      <a:srgbClr val="5F6C7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path of </a:t>
                </a:r>
                <a14:m>
                  <m:oMath xmlns:m="http://schemas.openxmlformats.org/officeDocument/2006/math">
                    <m:r>
                      <a:rPr lang="en-US" sz="720" i="1" dirty="0" smtClean="0">
                        <a:solidFill>
                          <a:srgbClr val="5F6C7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ptos" pitchFamily="34" charset="-120"/>
                      </a:rPr>
                      <m:t>𝒪</m:t>
                    </m:r>
                  </m:oMath>
                </a14:m>
                <a:endParaRPr lang="en-US" sz="720" dirty="0"/>
              </a:p>
            </p:txBody>
          </p:sp>
        </mc:Choice>
        <mc:Fallback>
          <p:sp>
            <p:nvSpPr>
              <p:cNvPr id="19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" y="2836020"/>
                <a:ext cx="1249680" cy="143541"/>
              </a:xfrm>
              <a:prstGeom prst="rect">
                <a:avLst/>
              </a:prstGeom>
              <a:blipFill>
                <a:blip r:embed="rId8"/>
                <a:stretch>
                  <a:fillRect l="-4390" t="-20833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Shape 46"/>
          <p:cNvSpPr/>
          <p:nvPr/>
        </p:nvSpPr>
        <p:spPr>
          <a:xfrm>
            <a:off x="502920" y="5815584"/>
            <a:ext cx="5943600" cy="1261872"/>
          </a:xfrm>
          <a:prstGeom prst="roundRect">
            <a:avLst>
              <a:gd name="adj" fmla="val 8696"/>
            </a:avLst>
          </a:prstGeom>
          <a:solidFill>
            <a:srgbClr val="F7F3FF"/>
          </a:solidFill>
          <a:ln w="15240">
            <a:solidFill>
              <a:srgbClr val="5B3B93"/>
            </a:solidFill>
            <a:prstDash val="solid"/>
          </a:ln>
        </p:spPr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989320"/>
            <a:ext cx="347472" cy="347472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1263469" y="60670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5B3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/ Ledger L</a:t>
            </a:r>
            <a:endParaRPr lang="en-US" sz="1230" dirty="0"/>
          </a:p>
        </p:txBody>
      </p:sp>
      <p:sp>
        <p:nvSpPr>
          <p:cNvPr id="68" name="Shape 48"/>
          <p:cNvSpPr/>
          <p:nvPr/>
        </p:nvSpPr>
        <p:spPr>
          <a:xfrm>
            <a:off x="731520" y="6437376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69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" y="6519672"/>
            <a:ext cx="201168" cy="201168"/>
          </a:xfrm>
          <a:prstGeom prst="rect">
            <a:avLst/>
          </a:prstGeom>
        </p:spPr>
      </p:pic>
      <p:sp>
        <p:nvSpPr>
          <p:cNvPr id="70" name="Text 49"/>
          <p:cNvSpPr/>
          <p:nvPr/>
        </p:nvSpPr>
        <p:spPr>
          <a:xfrm>
            <a:off x="1078992" y="6510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commitments</a:t>
            </a:r>
            <a:endParaRPr lang="en-US" sz="680" dirty="0"/>
          </a:p>
        </p:txBody>
      </p:sp>
      <p:sp>
        <p:nvSpPr>
          <p:cNvPr id="71" name="Shape 50"/>
          <p:cNvSpPr/>
          <p:nvPr/>
        </p:nvSpPr>
        <p:spPr>
          <a:xfrm>
            <a:off x="2121408" y="6437376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72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3704" y="6519672"/>
            <a:ext cx="201168" cy="201168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2468880" y="6510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escrow</a:t>
            </a:r>
            <a:endParaRPr lang="en-US" sz="680" dirty="0"/>
          </a:p>
        </p:txBody>
      </p:sp>
      <p:sp>
        <p:nvSpPr>
          <p:cNvPr id="74" name="Shape 52"/>
          <p:cNvSpPr/>
          <p:nvPr/>
        </p:nvSpPr>
        <p:spPr>
          <a:xfrm>
            <a:off x="3511296" y="6437376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75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3592" y="6519672"/>
            <a:ext cx="201168" cy="201168"/>
          </a:xfrm>
          <a:prstGeom prst="rect">
            <a:avLst/>
          </a:prstGeom>
        </p:spPr>
      </p:pic>
      <p:sp>
        <p:nvSpPr>
          <p:cNvPr id="76" name="Text 53"/>
          <p:cNvSpPr/>
          <p:nvPr/>
        </p:nvSpPr>
        <p:spPr>
          <a:xfrm>
            <a:off x="3858768" y="6510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680" dirty="0"/>
          </a:p>
        </p:txBody>
      </p:sp>
      <p:sp>
        <p:nvSpPr>
          <p:cNvPr id="77" name="Shape 54"/>
          <p:cNvSpPr/>
          <p:nvPr/>
        </p:nvSpPr>
        <p:spPr>
          <a:xfrm>
            <a:off x="4901184" y="6437376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78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3480" y="6519672"/>
            <a:ext cx="201168" cy="201168"/>
          </a:xfrm>
          <a:prstGeom prst="rect">
            <a:avLst/>
          </a:prstGeom>
        </p:spPr>
      </p:pic>
      <p:sp>
        <p:nvSpPr>
          <p:cNvPr id="79" name="Text 55"/>
          <p:cNvSpPr/>
          <p:nvPr/>
        </p:nvSpPr>
        <p:spPr>
          <a:xfrm>
            <a:off x="5248656" y="6510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680" dirty="0"/>
          </a:p>
        </p:txBody>
      </p:sp>
      <p:sp>
        <p:nvSpPr>
          <p:cNvPr id="80" name="Shape 56"/>
          <p:cNvSpPr/>
          <p:nvPr/>
        </p:nvSpPr>
        <p:spPr>
          <a:xfrm>
            <a:off x="6812280" y="5815584"/>
            <a:ext cx="3374136" cy="1261872"/>
          </a:xfrm>
          <a:prstGeom prst="roundRect">
            <a:avLst>
              <a:gd name="adj" fmla="val 8696"/>
            </a:avLst>
          </a:prstGeom>
          <a:solidFill>
            <a:srgbClr val="F1F8FF"/>
          </a:solidFill>
          <a:ln w="15240">
            <a:solidFill>
              <a:srgbClr val="0B65A3"/>
            </a:solidFill>
            <a:prstDash val="solid"/>
          </a:ln>
        </p:spPr>
      </p:sp>
      <p:pic>
        <p:nvPicPr>
          <p:cNvPr id="81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5980176"/>
            <a:ext cx="347472" cy="347472"/>
          </a:xfrm>
          <a:prstGeom prst="rect">
            <a:avLst/>
          </a:prstGeom>
        </p:spPr>
      </p:pic>
      <p:sp>
        <p:nvSpPr>
          <p:cNvPr id="82" name="Text 57"/>
          <p:cNvSpPr/>
          <p:nvPr/>
        </p:nvSpPr>
        <p:spPr>
          <a:xfrm>
            <a:off x="7498080" y="60258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B6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Off-chain Data Store D</a:t>
            </a:r>
            <a:endParaRPr lang="en-US" sz="1230" dirty="0"/>
          </a:p>
        </p:txBody>
      </p:sp>
      <p:sp>
        <p:nvSpPr>
          <p:cNvPr id="83" name="Shape 58"/>
          <p:cNvSpPr/>
          <p:nvPr/>
        </p:nvSpPr>
        <p:spPr>
          <a:xfrm>
            <a:off x="7086600" y="6437376"/>
            <a:ext cx="1189196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8E1F5"/>
            </a:solidFill>
            <a:prstDash val="solid"/>
          </a:ln>
        </p:spPr>
      </p:sp>
      <p:pic>
        <p:nvPicPr>
          <p:cNvPr id="84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5472" y="6510528"/>
            <a:ext cx="219456" cy="219456"/>
          </a:xfrm>
          <a:prstGeom prst="rect">
            <a:avLst/>
          </a:prstGeom>
        </p:spPr>
      </p:pic>
      <p:sp>
        <p:nvSpPr>
          <p:cNvPr id="85" name="Text 59"/>
          <p:cNvSpPr/>
          <p:nvPr/>
        </p:nvSpPr>
        <p:spPr>
          <a:xfrm>
            <a:off x="7498080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task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C_j</a:t>
            </a:r>
            <a:endParaRPr lang="en-US" sz="680" dirty="0"/>
          </a:p>
        </p:txBody>
      </p:sp>
      <p:sp>
        <p:nvSpPr>
          <p:cNvPr id="86" name="Shape 60"/>
          <p:cNvSpPr/>
          <p:nvPr/>
        </p:nvSpPr>
        <p:spPr>
          <a:xfrm>
            <a:off x="8549640" y="6437376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8E1F5"/>
            </a:solidFill>
            <a:prstDash val="solid"/>
          </a:ln>
        </p:spPr>
      </p:sp>
      <p:pic>
        <p:nvPicPr>
          <p:cNvPr id="87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77656" y="6510528"/>
            <a:ext cx="219456" cy="219456"/>
          </a:xfrm>
          <a:prstGeom prst="rect">
            <a:avLst/>
          </a:prstGeom>
        </p:spPr>
      </p:pic>
      <p:sp>
        <p:nvSpPr>
          <p:cNvPr id="88" name="Text 61"/>
          <p:cNvSpPr/>
          <p:nvPr/>
        </p:nvSpPr>
        <p:spPr>
          <a:xfrm>
            <a:off x="8979408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680" dirty="0"/>
          </a:p>
        </p:txBody>
      </p:sp>
      <p:sp>
        <p:nvSpPr>
          <p:cNvPr id="89" name="Shape 62"/>
          <p:cNvSpPr/>
          <p:nvPr/>
        </p:nvSpPr>
        <p:spPr>
          <a:xfrm>
            <a:off x="4983480" y="452628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5B3B93"/>
            </a:solidFill>
            <a:prstDash val="solid"/>
          </a:ln>
        </p:spPr>
      </p:sp>
      <p:pic>
        <p:nvPicPr>
          <p:cNvPr id="90" name="Image 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66360" y="4681728"/>
            <a:ext cx="256032" cy="256032"/>
          </a:xfrm>
          <a:prstGeom prst="rect">
            <a:avLst/>
          </a:prstGeom>
        </p:spPr>
      </p:pic>
      <p:sp>
        <p:nvSpPr>
          <p:cNvPr id="91" name="Text 63"/>
          <p:cNvSpPr/>
          <p:nvPr/>
        </p:nvSpPr>
        <p:spPr>
          <a:xfrm>
            <a:off x="5486400" y="47091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5B3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Verify(E_j, pi_j, theta_j)</a:t>
            </a:r>
            <a:endParaRPr lang="en-US" sz="860" dirty="0"/>
          </a:p>
        </p:txBody>
      </p:sp>
      <p:sp>
        <p:nvSpPr>
          <p:cNvPr id="92" name="Text 64"/>
          <p:cNvSpPr/>
          <p:nvPr/>
        </p:nvSpPr>
        <p:spPr>
          <a:xfrm>
            <a:off x="5486400" y="49194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TSTC challenge verifier</a:t>
            </a:r>
            <a:endParaRPr lang="en-US" sz="680" dirty="0"/>
          </a:p>
        </p:txBody>
      </p:sp>
      <p:sp>
        <p:nvSpPr>
          <p:cNvPr id="93" name="Shape 65"/>
          <p:cNvSpPr/>
          <p:nvPr/>
        </p:nvSpPr>
        <p:spPr>
          <a:xfrm>
            <a:off x="2560320" y="1261872"/>
            <a:ext cx="411480" cy="0"/>
          </a:xfrm>
          <a:prstGeom prst="line">
            <a:avLst/>
          </a:prstGeom>
          <a:noFill/>
          <a:ln w="17780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94" name="Shape 66"/>
          <p:cNvSpPr/>
          <p:nvPr/>
        </p:nvSpPr>
        <p:spPr>
          <a:xfrm>
            <a:off x="2670048" y="978408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95" name="Text 67"/>
          <p:cNvSpPr/>
          <p:nvPr/>
        </p:nvSpPr>
        <p:spPr>
          <a:xfrm>
            <a:off x="2670048" y="98298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6" name="Text 68"/>
          <p:cNvSpPr/>
          <p:nvPr/>
        </p:nvSpPr>
        <p:spPr>
          <a:xfrm>
            <a:off x="2633472" y="84124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descriptor</a:t>
            </a:r>
            <a:endParaRPr lang="en-US" sz="660" dirty="0"/>
          </a:p>
        </p:txBody>
      </p: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A1F661AB-0345-7FE5-C305-DEB87278F863}"/>
              </a:ext>
            </a:extLst>
          </p:cNvPr>
          <p:cNvGrpSpPr/>
          <p:nvPr/>
        </p:nvGrpSpPr>
        <p:grpSpPr>
          <a:xfrm>
            <a:off x="6181344" y="1087819"/>
            <a:ext cx="475488" cy="393192"/>
            <a:chOff x="5943600" y="868680"/>
            <a:chExt cx="475488" cy="393192"/>
          </a:xfrm>
        </p:grpSpPr>
        <p:sp>
          <p:nvSpPr>
            <p:cNvPr id="98" name="Shape 70"/>
            <p:cNvSpPr/>
            <p:nvPr/>
          </p:nvSpPr>
          <p:spPr>
            <a:xfrm>
              <a:off x="6053328" y="1014984"/>
              <a:ext cx="246888" cy="246888"/>
            </a:xfrm>
            <a:prstGeom prst="ellipse">
              <a:avLst/>
            </a:prstGeom>
            <a:solidFill>
              <a:srgbClr val="1557A6"/>
            </a:solidFill>
            <a:ln w="12700">
              <a:solidFill>
                <a:srgbClr val="1557A6">
                  <a:alpha val="0"/>
                </a:srgbClr>
              </a:solidFill>
              <a:prstDash val="solid"/>
            </a:ln>
          </p:spPr>
        </p:sp>
        <p:sp>
          <p:nvSpPr>
            <p:cNvPr id="99" name="Text 71"/>
            <p:cNvSpPr/>
            <p:nvPr/>
          </p:nvSpPr>
          <p:spPr>
            <a:xfrm>
              <a:off x="6053328" y="1005649"/>
              <a:ext cx="24688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</a:t>
              </a:r>
              <a:endParaRPr lang="en-US" sz="850" dirty="0"/>
            </a:p>
          </p:txBody>
        </p:sp>
        <p:sp>
          <p:nvSpPr>
            <p:cNvPr id="100" name="Text 72"/>
            <p:cNvSpPr/>
            <p:nvPr/>
          </p:nvSpPr>
          <p:spPr>
            <a:xfrm>
              <a:off x="5943600" y="868680"/>
              <a:ext cx="47548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660" dirty="0">
                  <a:solidFill>
                    <a:srgbClr val="1557A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profiles</a:t>
              </a:r>
              <a:endParaRPr lang="en-US" sz="660" dirty="0"/>
            </a:p>
          </p:txBody>
        </p:sp>
      </p:grpSp>
      <p:sp>
        <p:nvSpPr>
          <p:cNvPr id="101" name="Shape 73"/>
          <p:cNvSpPr/>
          <p:nvPr/>
        </p:nvSpPr>
        <p:spPr>
          <a:xfrm>
            <a:off x="4434840" y="3474720"/>
            <a:ext cx="0" cy="2340864"/>
          </a:xfrm>
          <a:prstGeom prst="line">
            <a:avLst/>
          </a:prstGeom>
          <a:noFill/>
          <a:ln w="17145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102" name="Shape 74"/>
          <p:cNvSpPr/>
          <p:nvPr/>
        </p:nvSpPr>
        <p:spPr>
          <a:xfrm>
            <a:off x="4187952" y="3840480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103" name="Text 75"/>
          <p:cNvSpPr/>
          <p:nvPr/>
        </p:nvSpPr>
        <p:spPr>
          <a:xfrm>
            <a:off x="4187952" y="3845052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04" name="Text 76"/>
          <p:cNvSpPr/>
          <p:nvPr/>
        </p:nvSpPr>
        <p:spPr>
          <a:xfrm>
            <a:off x="3401568" y="40782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placement record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(G_j, sigma_j, theta_j)</a:t>
            </a:r>
            <a:endParaRPr lang="en-US" sz="630" dirty="0"/>
          </a:p>
        </p:txBody>
      </p:sp>
      <p:sp>
        <p:nvSpPr>
          <p:cNvPr id="105" name="Shape 77"/>
          <p:cNvSpPr/>
          <p:nvPr/>
        </p:nvSpPr>
        <p:spPr>
          <a:xfrm>
            <a:off x="1389888" y="3474720"/>
            <a:ext cx="0" cy="196596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06" name="Shape 78"/>
          <p:cNvSpPr/>
          <p:nvPr/>
        </p:nvSpPr>
        <p:spPr>
          <a:xfrm>
            <a:off x="1389888" y="5440680"/>
            <a:ext cx="5696712" cy="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07" name="Shape 79"/>
          <p:cNvSpPr/>
          <p:nvPr/>
        </p:nvSpPr>
        <p:spPr>
          <a:xfrm>
            <a:off x="7086600" y="5440680"/>
            <a:ext cx="0" cy="374904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108" name="Shape 80"/>
          <p:cNvSpPr/>
          <p:nvPr/>
        </p:nvSpPr>
        <p:spPr>
          <a:xfrm>
            <a:off x="1060704" y="4443984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109" name="Text 81"/>
          <p:cNvSpPr/>
          <p:nvPr/>
        </p:nvSpPr>
        <p:spPr>
          <a:xfrm>
            <a:off x="1060704" y="4448556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10" name="Text 82"/>
          <p:cNvSpPr/>
          <p:nvPr/>
        </p:nvSpPr>
        <p:spPr>
          <a:xfrm>
            <a:off x="1536192" y="48280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encrypted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C_j</a:t>
            </a:r>
            <a:endParaRPr lang="en-US" sz="680" dirty="0"/>
          </a:p>
        </p:txBody>
      </p:sp>
      <p:sp>
        <p:nvSpPr>
          <p:cNvPr id="111" name="Shape 83"/>
          <p:cNvSpPr/>
          <p:nvPr/>
        </p:nvSpPr>
        <p:spPr>
          <a:xfrm>
            <a:off x="2560320" y="2542032"/>
            <a:ext cx="137160" cy="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12" name="Shape 84"/>
          <p:cNvSpPr/>
          <p:nvPr/>
        </p:nvSpPr>
        <p:spPr>
          <a:xfrm>
            <a:off x="2697480" y="2542032"/>
            <a:ext cx="0" cy="1499616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13" name="Shape 85"/>
          <p:cNvSpPr/>
          <p:nvPr/>
        </p:nvSpPr>
        <p:spPr>
          <a:xfrm>
            <a:off x="2697480" y="4041648"/>
            <a:ext cx="4023360" cy="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15" name="Shape 87"/>
          <p:cNvSpPr/>
          <p:nvPr/>
        </p:nvSpPr>
        <p:spPr>
          <a:xfrm>
            <a:off x="6035040" y="4224528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116" name="Text 88"/>
          <p:cNvSpPr/>
          <p:nvPr/>
        </p:nvSpPr>
        <p:spPr>
          <a:xfrm>
            <a:off x="6510528" y="377190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17" name="Text 89"/>
          <p:cNvSpPr/>
          <p:nvPr/>
        </p:nvSpPr>
        <p:spPr>
          <a:xfrm>
            <a:off x="5559552" y="3822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packages e_i,j</a:t>
            </a:r>
            <a:endParaRPr lang="en-US" sz="650" dirty="0"/>
          </a:p>
        </p:txBody>
      </p:sp>
      <p:sp>
        <p:nvSpPr>
          <p:cNvPr id="118" name="Text 90"/>
          <p:cNvSpPr/>
          <p:nvPr/>
        </p:nvSpPr>
        <p:spPr>
          <a:xfrm>
            <a:off x="10047514" y="4209483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1F7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sigma_j and return y_j</a:t>
            </a:r>
            <a:endParaRPr lang="en-US" sz="680" dirty="0"/>
          </a:p>
        </p:txBody>
      </p:sp>
      <p:sp>
        <p:nvSpPr>
          <p:cNvPr id="119" name="Shape 91"/>
          <p:cNvSpPr/>
          <p:nvPr/>
        </p:nvSpPr>
        <p:spPr>
          <a:xfrm>
            <a:off x="713232" y="3474720"/>
            <a:ext cx="0" cy="1207008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</a:ln>
        </p:spPr>
      </p:sp>
      <p:sp>
        <p:nvSpPr>
          <p:cNvPr id="120" name="Shape 92"/>
          <p:cNvSpPr/>
          <p:nvPr/>
        </p:nvSpPr>
        <p:spPr>
          <a:xfrm>
            <a:off x="713232" y="4681728"/>
            <a:ext cx="4270248" cy="0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21" name="Shape 93"/>
          <p:cNvSpPr/>
          <p:nvPr/>
        </p:nvSpPr>
        <p:spPr>
          <a:xfrm>
            <a:off x="457200" y="4041648"/>
            <a:ext cx="246888" cy="246888"/>
          </a:xfrm>
          <a:prstGeom prst="ellipse">
            <a:avLst/>
          </a:prstGeom>
          <a:solidFill>
            <a:srgbClr val="C9252C"/>
          </a:solidFill>
          <a:ln w="12700">
            <a:solidFill>
              <a:srgbClr val="C9252C">
                <a:alpha val="0"/>
              </a:srgbClr>
            </a:solidFill>
            <a:prstDash val="solid"/>
          </a:ln>
        </p:spPr>
      </p:sp>
      <p:sp>
        <p:nvSpPr>
          <p:cNvPr id="122" name="Text 94"/>
          <p:cNvSpPr/>
          <p:nvPr/>
        </p:nvSpPr>
        <p:spPr>
          <a:xfrm>
            <a:off x="457200" y="404622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23" name="Text 95"/>
          <p:cNvSpPr/>
          <p:nvPr/>
        </p:nvSpPr>
        <p:spPr>
          <a:xfrm>
            <a:off x="502920" y="43159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680" dirty="0"/>
          </a:p>
        </p:txBody>
      </p:sp>
      <p:sp>
        <p:nvSpPr>
          <p:cNvPr id="124" name="Shape 96"/>
          <p:cNvSpPr/>
          <p:nvPr/>
        </p:nvSpPr>
        <p:spPr>
          <a:xfrm>
            <a:off x="11699822" y="4224528"/>
            <a:ext cx="0" cy="2167128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</a:ln>
        </p:spPr>
      </p:sp>
      <p:sp>
        <p:nvSpPr>
          <p:cNvPr id="125" name="Shape 97"/>
          <p:cNvSpPr/>
          <p:nvPr/>
        </p:nvSpPr>
        <p:spPr>
          <a:xfrm>
            <a:off x="10852186" y="4941098"/>
            <a:ext cx="0" cy="457200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26" name="Shape 98"/>
          <p:cNvSpPr/>
          <p:nvPr/>
        </p:nvSpPr>
        <p:spPr>
          <a:xfrm>
            <a:off x="10559578" y="4401602"/>
            <a:ext cx="246888" cy="246888"/>
          </a:xfrm>
          <a:prstGeom prst="ellipse">
            <a:avLst/>
          </a:prstGeom>
          <a:solidFill>
            <a:srgbClr val="C9252C"/>
          </a:solidFill>
          <a:ln w="12700">
            <a:solidFill>
              <a:srgbClr val="C9252C">
                <a:alpha val="0"/>
              </a:srgbClr>
            </a:solidFill>
            <a:prstDash val="solid"/>
          </a:ln>
        </p:spPr>
      </p:sp>
      <p:sp>
        <p:nvSpPr>
          <p:cNvPr id="127" name="Text 99"/>
          <p:cNvSpPr/>
          <p:nvPr/>
        </p:nvSpPr>
        <p:spPr>
          <a:xfrm>
            <a:off x="10559578" y="4406174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128" name="Text 100"/>
          <p:cNvSpPr/>
          <p:nvPr/>
        </p:nvSpPr>
        <p:spPr>
          <a:xfrm>
            <a:off x="10047514" y="470335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evidence E_j</a:t>
            </a:r>
            <a:endParaRPr lang="en-US" sz="650" dirty="0"/>
          </a:p>
        </p:txBody>
      </p:sp>
      <p:sp>
        <p:nvSpPr>
          <p:cNvPr id="129" name="Shape 101"/>
          <p:cNvSpPr/>
          <p:nvPr/>
        </p:nvSpPr>
        <p:spPr>
          <a:xfrm>
            <a:off x="6035040" y="5184648"/>
            <a:ext cx="0" cy="630936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30" name="Shape 102"/>
          <p:cNvSpPr/>
          <p:nvPr/>
        </p:nvSpPr>
        <p:spPr>
          <a:xfrm>
            <a:off x="5650992" y="5413248"/>
            <a:ext cx="246888" cy="246888"/>
          </a:xfrm>
          <a:prstGeom prst="ellipse">
            <a:avLst/>
          </a:prstGeom>
          <a:solidFill>
            <a:srgbClr val="C9252C"/>
          </a:solidFill>
          <a:ln w="12700">
            <a:solidFill>
              <a:srgbClr val="C9252C">
                <a:alpha val="0"/>
              </a:srgbClr>
            </a:solidFill>
            <a:prstDash val="solid"/>
          </a:ln>
        </p:spPr>
      </p:sp>
      <p:sp>
        <p:nvSpPr>
          <p:cNvPr id="131" name="Text 103"/>
          <p:cNvSpPr/>
          <p:nvPr/>
        </p:nvSpPr>
        <p:spPr>
          <a:xfrm>
            <a:off x="5650992" y="541782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32" name="Text 104"/>
          <p:cNvSpPr/>
          <p:nvPr/>
        </p:nvSpPr>
        <p:spPr>
          <a:xfrm>
            <a:off x="4590288" y="53949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mismatch b*_j</a:t>
            </a:r>
            <a:endParaRPr lang="en-US" sz="650" dirty="0"/>
          </a:p>
          <a:p>
            <a:pPr marL="0" indent="0" algn="r">
              <a:buNone/>
            </a:pPr>
            <a:r>
              <a:rPr lang="en-US" sz="65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650" dirty="0"/>
          </a:p>
        </p:txBody>
      </p:sp>
      <p:sp>
        <p:nvSpPr>
          <p:cNvPr id="133" name="Shape 105"/>
          <p:cNvSpPr/>
          <p:nvPr/>
        </p:nvSpPr>
        <p:spPr>
          <a:xfrm>
            <a:off x="3401568" y="7269480"/>
            <a:ext cx="731520" cy="0"/>
          </a:xfrm>
          <a:prstGeom prst="line">
            <a:avLst/>
          </a:prstGeom>
          <a:noFill/>
          <a:ln w="15240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134" name="Text 106"/>
          <p:cNvSpPr/>
          <p:nvPr/>
        </p:nvSpPr>
        <p:spPr>
          <a:xfrm>
            <a:off x="4251960" y="7187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path</a:t>
            </a:r>
            <a:endParaRPr lang="en-US" sz="720" dirty="0"/>
          </a:p>
        </p:txBody>
      </p:sp>
      <p:sp>
        <p:nvSpPr>
          <p:cNvPr id="135" name="Shape 107"/>
          <p:cNvSpPr/>
          <p:nvPr/>
        </p:nvSpPr>
        <p:spPr>
          <a:xfrm>
            <a:off x="6053328" y="7269480"/>
            <a:ext cx="731520" cy="0"/>
          </a:xfrm>
          <a:prstGeom prst="line">
            <a:avLst/>
          </a:prstGeom>
          <a:noFill/>
          <a:ln w="15240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36" name="Text 108"/>
          <p:cNvSpPr/>
          <p:nvPr/>
        </p:nvSpPr>
        <p:spPr>
          <a:xfrm>
            <a:off x="6903720" y="7187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path</a:t>
            </a:r>
            <a:endParaRPr lang="en-US" sz="720" dirty="0"/>
          </a:p>
        </p:txBody>
      </p: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B9EA3062-4C82-CC94-CCA5-088D3E54B0A9}"/>
              </a:ext>
            </a:extLst>
          </p:cNvPr>
          <p:cNvGrpSpPr/>
          <p:nvPr/>
        </p:nvGrpSpPr>
        <p:grpSpPr>
          <a:xfrm>
            <a:off x="6702552" y="312055"/>
            <a:ext cx="4294539" cy="3729593"/>
            <a:chOff x="6702552" y="312055"/>
            <a:chExt cx="4294539" cy="3729593"/>
          </a:xfrm>
        </p:grpSpPr>
        <p:sp>
          <p:nvSpPr>
            <p:cNvPr id="38" name="Shape 25"/>
            <p:cNvSpPr/>
            <p:nvPr/>
          </p:nvSpPr>
          <p:spPr>
            <a:xfrm>
              <a:off x="6702552" y="312055"/>
              <a:ext cx="3230376" cy="3459844"/>
            </a:xfrm>
            <a:prstGeom prst="roundRect">
              <a:avLst>
                <a:gd name="adj" fmla="val 3457"/>
              </a:avLst>
            </a:prstGeom>
            <a:solidFill>
              <a:srgbClr val="F2FBF3"/>
            </a:solidFill>
            <a:ln w="16510">
              <a:solidFill>
                <a:srgbClr val="1F7A2E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0" name="Shape 34"/>
            <p:cNvSpPr/>
            <p:nvPr/>
          </p:nvSpPr>
          <p:spPr>
            <a:xfrm>
              <a:off x="8595995" y="2643631"/>
              <a:ext cx="984250" cy="466407"/>
            </a:xfrm>
            <a:prstGeom prst="roundRect">
              <a:avLst>
                <a:gd name="adj" fmla="val 11111"/>
              </a:avLst>
            </a:prstGeom>
            <a:solidFill>
              <a:srgbClr val="FFF3F4"/>
            </a:solidFill>
            <a:ln w="13970">
              <a:solidFill>
                <a:srgbClr val="C9252C"/>
              </a:solidFill>
              <a:prstDash val="solid"/>
            </a:ln>
          </p:spPr>
        </p:sp>
        <p:pic>
          <p:nvPicPr>
            <p:cNvPr id="51" name="Image 14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683879" y="2685098"/>
              <a:ext cx="310896" cy="310896"/>
            </a:xfrm>
            <a:prstGeom prst="rect">
              <a:avLst/>
            </a:prstGeom>
          </p:spPr>
        </p:pic>
        <p:sp>
          <p:nvSpPr>
            <p:cNvPr id="63" name="Shape 44"/>
            <p:cNvSpPr/>
            <p:nvPr/>
          </p:nvSpPr>
          <p:spPr>
            <a:xfrm>
              <a:off x="10249664" y="1470474"/>
              <a:ext cx="747427" cy="673702"/>
            </a:xfrm>
            <a:prstGeom prst="roundRect">
              <a:avLst>
                <a:gd name="adj" fmla="val 10256"/>
              </a:avLst>
            </a:prstGeom>
            <a:solidFill>
              <a:srgbClr val="F8FFF8"/>
            </a:solidFill>
            <a:ln w="11430">
              <a:solidFill>
                <a:srgbClr val="1F7A2E"/>
              </a:solidFill>
              <a:prstDash val="dash"/>
            </a:ln>
          </p:spPr>
        </p:sp>
        <p:sp>
          <p:nvSpPr>
            <p:cNvPr id="64" name="Text 45"/>
            <p:cNvSpPr/>
            <p:nvPr/>
          </p:nvSpPr>
          <p:spPr>
            <a:xfrm>
              <a:off x="10249664" y="1617159"/>
              <a:ext cx="705231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680" i="1" dirty="0">
                  <a:solidFill>
                    <a:srgbClr val="1F7A2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placement</a:t>
              </a:r>
              <a:endParaRPr lang="en-US" sz="680" dirty="0"/>
            </a:p>
            <a:p>
              <a:pPr marL="0" indent="0" algn="ctr">
                <a:buNone/>
              </a:pPr>
              <a:r>
                <a:rPr lang="en-US" sz="680" i="1" dirty="0">
                  <a:solidFill>
                    <a:srgbClr val="1F7A2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defines</a:t>
              </a:r>
              <a:endParaRPr lang="en-US" sz="680" dirty="0"/>
            </a:p>
            <a:p>
              <a:pPr marL="0" indent="0" algn="ctr">
                <a:buNone/>
              </a:pPr>
              <a:r>
                <a:rPr lang="en-US" sz="680" i="1" dirty="0">
                  <a:solidFill>
                    <a:srgbClr val="1F7A2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accountability</a:t>
              </a:r>
              <a:endParaRPr lang="en-US" sz="680" dirty="0"/>
            </a:p>
            <a:p>
              <a:pPr marL="0" indent="0" algn="ctr">
                <a:buNone/>
              </a:pPr>
              <a:r>
                <a:rPr lang="en-US" sz="680" i="1" dirty="0">
                  <a:solidFill>
                    <a:srgbClr val="1F7A2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boundary</a:t>
              </a:r>
              <a:endParaRPr lang="en-US" sz="680" dirty="0"/>
            </a:p>
          </p:txBody>
        </p:sp>
        <p:sp>
          <p:nvSpPr>
            <p:cNvPr id="114" name="Shape 86"/>
            <p:cNvSpPr/>
            <p:nvPr/>
          </p:nvSpPr>
          <p:spPr>
            <a:xfrm>
              <a:off x="6720840" y="4041648"/>
              <a:ext cx="0" cy="0"/>
            </a:xfrm>
            <a:prstGeom prst="line">
              <a:avLst/>
            </a:prstGeom>
            <a:noFill/>
            <a:ln w="15875">
              <a:solidFill>
                <a:srgbClr val="1557A6"/>
              </a:solidFill>
              <a:prstDash val="solid"/>
              <a:tailEnd type="triangle"/>
            </a:ln>
          </p:spPr>
        </p: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77E556B1-8A21-9E15-4153-6DD41DC7C4D8}"/>
                </a:ext>
              </a:extLst>
            </p:cNvPr>
            <p:cNvGrpSpPr/>
            <p:nvPr/>
          </p:nvGrpSpPr>
          <p:grpSpPr>
            <a:xfrm>
              <a:off x="6987318" y="460562"/>
              <a:ext cx="2684462" cy="1843726"/>
              <a:chOff x="6987318" y="460562"/>
              <a:chExt cx="2684462" cy="1843726"/>
            </a:xfrm>
          </p:grpSpPr>
          <p:pic>
            <p:nvPicPr>
              <p:cNvPr id="39" name="Image 11" descr="preencoded.png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90440" y="498979"/>
                <a:ext cx="347472" cy="347472"/>
              </a:xfrm>
              <a:prstGeom prst="rect">
                <a:avLst/>
              </a:prstGeom>
            </p:spPr>
          </p:pic>
          <p:sp>
            <p:nvSpPr>
              <p:cNvPr id="40" name="Text 26"/>
              <p:cNvSpPr/>
              <p:nvPr/>
            </p:nvSpPr>
            <p:spPr>
              <a:xfrm>
                <a:off x="8010668" y="460562"/>
                <a:ext cx="105737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1F7A2E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Provider pool</a:t>
                </a:r>
                <a:endParaRPr lang="en-US" sz="1300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Text 27"/>
                  <p:cNvSpPr/>
                  <p:nvPr/>
                </p:nvSpPr>
                <p:spPr>
                  <a:xfrm>
                    <a:off x="7767319" y="650746"/>
                    <a:ext cx="1796829" cy="189737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>
                    <a:no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ptos" pitchFamily="34" charset="-120"/>
                            </a:rPr>
                            <m:t>𝒫</m:t>
                          </m:r>
                          <m:r>
                            <a:rPr lang="en-US" sz="160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 = {</m:t>
                          </m:r>
                          <m:sSub>
                            <m:sSubPr>
                              <m:ctrlPr>
                                <a:rPr lang="en-US" altLang="zh-CN" sz="160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}</m:t>
                          </m:r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41" name="Text 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7319" y="650746"/>
                    <a:ext cx="1796829" cy="18973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t="-38710" b="-90323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Shape 28"/>
              <p:cNvSpPr/>
              <p:nvPr/>
            </p:nvSpPr>
            <p:spPr>
              <a:xfrm>
                <a:off x="6992906" y="970562"/>
                <a:ext cx="2678874" cy="1333726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12700">
                <a:solidFill>
                  <a:srgbClr val="1F7A2E"/>
                </a:solidFill>
                <a:prstDash val="dash"/>
              </a:ln>
            </p:spPr>
          </p:sp>
          <p:sp>
            <p:nvSpPr>
              <p:cNvPr id="43" name="Text 29"/>
              <p:cNvSpPr/>
              <p:nvPr/>
            </p:nvSpPr>
            <p:spPr>
              <a:xfrm>
                <a:off x="7064756" y="1067181"/>
                <a:ext cx="1572768" cy="2103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860" b="1" dirty="0">
                    <a:solidFill>
                      <a:srgbClr val="1F7A2E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selected execution group</a:t>
                </a:r>
                <a:endParaRPr lang="en-US" sz="860" dirty="0"/>
              </a:p>
            </p:txBody>
          </p:sp>
          <p:grpSp>
            <p:nvGrpSpPr>
              <p:cNvPr id="138" name="组合 137">
                <a:extLst>
                  <a:ext uri="{FF2B5EF4-FFF2-40B4-BE49-F238E27FC236}">
                    <a16:creationId xmlns:a16="http://schemas.microsoft.com/office/drawing/2014/main" id="{9B940E4F-7354-A3C7-BD71-235A947C60DF}"/>
                  </a:ext>
                </a:extLst>
              </p:cNvPr>
              <p:cNvGrpSpPr/>
              <p:nvPr/>
            </p:nvGrpSpPr>
            <p:grpSpPr>
              <a:xfrm>
                <a:off x="7131050" y="1417321"/>
                <a:ext cx="467614" cy="585216"/>
                <a:chOff x="7131050" y="1417321"/>
                <a:chExt cx="467614" cy="585216"/>
              </a:xfrm>
            </p:grpSpPr>
            <p:sp>
              <p:nvSpPr>
                <p:cNvPr id="44" name="Shape 30"/>
                <p:cNvSpPr/>
                <p:nvPr/>
              </p:nvSpPr>
              <p:spPr>
                <a:xfrm>
                  <a:off x="7131050" y="1417321"/>
                  <a:ext cx="467614" cy="585216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8FFF8"/>
                </a:solidFill>
                <a:ln w="13970">
                  <a:solidFill>
                    <a:srgbClr val="1F7A2E"/>
                  </a:solidFill>
                  <a:prstDash val="solid"/>
                </a:ln>
              </p:spPr>
            </p:sp>
            <p:pic>
              <p:nvPicPr>
                <p:cNvPr id="45" name="Image 12" descr="preencoded.png"/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05472" y="1472946"/>
                  <a:ext cx="310896" cy="310896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Text 31"/>
                    <p:cNvSpPr/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t"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950" dirty="0"/>
                    </a:p>
                  </p:txBody>
                </p:sp>
              </mc:Choice>
              <mc:Fallback>
                <p:sp>
                  <p:nvSpPr>
                    <p:cNvPr id="46" name="Text 3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5263" b="-3704"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5" name="Text 38"/>
              <p:cNvSpPr/>
              <p:nvPr/>
            </p:nvSpPr>
            <p:spPr>
              <a:xfrm>
                <a:off x="6987318" y="2075688"/>
                <a:ext cx="2651760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40" i="1" dirty="0">
                    <a:solidFill>
                      <a:srgbClr val="1F7A2E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shard-boundary activations</a:t>
                </a:r>
                <a:endParaRPr lang="en-US" sz="740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7" name="Text 27">
                    <a:extLst>
                      <a:ext uri="{FF2B5EF4-FFF2-40B4-BE49-F238E27FC236}">
                        <a16:creationId xmlns:a16="http://schemas.microsoft.com/office/drawing/2014/main" id="{95525AE7-A23F-014B-5C89-1838760C9D47}"/>
                      </a:ext>
                    </a:extLst>
                  </p:cNvPr>
                  <p:cNvSpPr/>
                  <p:nvPr/>
                </p:nvSpPr>
                <p:spPr>
                  <a:xfrm>
                    <a:off x="8412734" y="1072353"/>
                    <a:ext cx="1014889" cy="189737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30" b="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ptos" pitchFamily="34" charset="-120"/>
                            </a:rPr>
                            <m:t>𝒢</m:t>
                          </m:r>
                          <m:r>
                            <a:rPr lang="en-US" sz="83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= {</m:t>
                          </m:r>
                          <m:sSub>
                            <m:sSubPr>
                              <m:ctrlPr>
                                <a:rPr lang="en-US" altLang="zh-CN" sz="83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3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83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3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83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3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83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3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83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3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83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3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}</m:t>
                          </m:r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137" name="Text 27">
                    <a:extLst>
                      <a:ext uri="{FF2B5EF4-FFF2-40B4-BE49-F238E27FC236}">
                        <a16:creationId xmlns:a16="http://schemas.microsoft.com/office/drawing/2014/main" id="{95525AE7-A23F-014B-5C89-1838760C9D4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12734" y="1072353"/>
                    <a:ext cx="1014889" cy="18973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t="-16129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051D6E77-6883-EA7D-AB00-5208DFCFFD87}"/>
                  </a:ext>
                </a:extLst>
              </p:cNvPr>
              <p:cNvGrpSpPr/>
              <p:nvPr/>
            </p:nvGrpSpPr>
            <p:grpSpPr>
              <a:xfrm>
                <a:off x="8054594" y="1417476"/>
                <a:ext cx="467614" cy="585216"/>
                <a:chOff x="7131050" y="1417321"/>
                <a:chExt cx="467614" cy="585216"/>
              </a:xfrm>
            </p:grpSpPr>
            <p:sp>
              <p:nvSpPr>
                <p:cNvPr id="140" name="Shape 30">
                  <a:extLst>
                    <a:ext uri="{FF2B5EF4-FFF2-40B4-BE49-F238E27FC236}">
                      <a16:creationId xmlns:a16="http://schemas.microsoft.com/office/drawing/2014/main" id="{9E532B63-1338-F48E-29C6-199AE64965B9}"/>
                    </a:ext>
                  </a:extLst>
                </p:cNvPr>
                <p:cNvSpPr/>
                <p:nvPr/>
              </p:nvSpPr>
              <p:spPr>
                <a:xfrm>
                  <a:off x="7131050" y="1417321"/>
                  <a:ext cx="467614" cy="585216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8FFF8"/>
                </a:solidFill>
                <a:ln w="13970">
                  <a:solidFill>
                    <a:srgbClr val="1F7A2E"/>
                  </a:solidFill>
                  <a:prstDash val="solid"/>
                </a:ln>
              </p:spPr>
            </p:sp>
            <p:pic>
              <p:nvPicPr>
                <p:cNvPr id="141" name="Image 12" descr="preencoded.png">
                  <a:extLst>
                    <a:ext uri="{FF2B5EF4-FFF2-40B4-BE49-F238E27FC236}">
                      <a16:creationId xmlns:a16="http://schemas.microsoft.com/office/drawing/2014/main" id="{661A3500-0D4A-E9E7-7FBF-28DDE2703F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05472" y="1472946"/>
                  <a:ext cx="310896" cy="310896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2" name="Text 31">
                      <a:extLst>
                        <a:ext uri="{FF2B5EF4-FFF2-40B4-BE49-F238E27FC236}">
                          <a16:creationId xmlns:a16="http://schemas.microsoft.com/office/drawing/2014/main" id="{B3C3FFAF-66F6-A999-40B6-BD661DDBC6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t"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950" dirty="0"/>
                    </a:p>
                  </p:txBody>
                </p:sp>
              </mc:Choice>
              <mc:Fallback>
                <p:sp>
                  <p:nvSpPr>
                    <p:cNvPr id="142" name="Text 31">
                      <a:extLst>
                        <a:ext uri="{FF2B5EF4-FFF2-40B4-BE49-F238E27FC236}">
                          <a16:creationId xmlns:a16="http://schemas.microsoft.com/office/drawing/2014/main" id="{B3C3FFAF-66F6-A999-40B6-BD661DDBC67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l="-2564" b="-7407"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9DE86988-5B36-BC0A-F86D-580A421C3A72}"/>
                  </a:ext>
                </a:extLst>
              </p:cNvPr>
              <p:cNvGrpSpPr/>
              <p:nvPr/>
            </p:nvGrpSpPr>
            <p:grpSpPr>
              <a:xfrm>
                <a:off x="9013952" y="1414366"/>
                <a:ext cx="467614" cy="585216"/>
                <a:chOff x="7131050" y="1417321"/>
                <a:chExt cx="467614" cy="585216"/>
              </a:xfrm>
            </p:grpSpPr>
            <p:sp>
              <p:nvSpPr>
                <p:cNvPr id="144" name="Shape 30">
                  <a:extLst>
                    <a:ext uri="{FF2B5EF4-FFF2-40B4-BE49-F238E27FC236}">
                      <a16:creationId xmlns:a16="http://schemas.microsoft.com/office/drawing/2014/main" id="{9C641A3E-39B9-18F6-603B-0BEBE0FA7431}"/>
                    </a:ext>
                  </a:extLst>
                </p:cNvPr>
                <p:cNvSpPr/>
                <p:nvPr/>
              </p:nvSpPr>
              <p:spPr>
                <a:xfrm>
                  <a:off x="7131050" y="1417321"/>
                  <a:ext cx="467614" cy="585216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8FFF8"/>
                </a:solidFill>
                <a:ln w="13970">
                  <a:solidFill>
                    <a:srgbClr val="1F7A2E"/>
                  </a:solidFill>
                  <a:prstDash val="solid"/>
                </a:ln>
              </p:spPr>
            </p:sp>
            <p:pic>
              <p:nvPicPr>
                <p:cNvPr id="145" name="Image 12" descr="preencoded.png">
                  <a:extLst>
                    <a:ext uri="{FF2B5EF4-FFF2-40B4-BE49-F238E27FC236}">
                      <a16:creationId xmlns:a16="http://schemas.microsoft.com/office/drawing/2014/main" id="{0007A3DE-2282-D848-E4F8-14C50B82EB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05472" y="1472946"/>
                  <a:ext cx="310896" cy="310896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6" name="Text 31">
                      <a:extLst>
                        <a:ext uri="{FF2B5EF4-FFF2-40B4-BE49-F238E27FC236}">
                          <a16:creationId xmlns:a16="http://schemas.microsoft.com/office/drawing/2014/main" id="{E55151C0-5A1C-AE37-980B-D307569B04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t"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950" dirty="0"/>
                    </a:p>
                  </p:txBody>
                </p:sp>
              </mc:Choice>
              <mc:Fallback>
                <p:sp>
                  <p:nvSpPr>
                    <p:cNvPr id="146" name="Text 31">
                      <a:extLst>
                        <a:ext uri="{FF2B5EF4-FFF2-40B4-BE49-F238E27FC236}">
                          <a16:creationId xmlns:a16="http://schemas.microsoft.com/office/drawing/2014/main" id="{E55151C0-5A1C-AE37-980B-D307569B04A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5263" b="-3704"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48" name="直接箭头连接符 147">
                <a:extLst>
                  <a:ext uri="{FF2B5EF4-FFF2-40B4-BE49-F238E27FC236}">
                    <a16:creationId xmlns:a16="http://schemas.microsoft.com/office/drawing/2014/main" id="{E7AF8F9D-9E71-CCF2-5442-1D748AFD5D39}"/>
                  </a:ext>
                </a:extLst>
              </p:cNvPr>
              <p:cNvCxnSpPr>
                <a:stCxn id="44" idx="3"/>
                <a:endCxn id="140" idx="1"/>
              </p:cNvCxnSpPr>
              <p:nvPr/>
            </p:nvCxnSpPr>
            <p:spPr>
              <a:xfrm>
                <a:off x="7598664" y="1709929"/>
                <a:ext cx="455930" cy="155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>
                <a:extLst>
                  <a:ext uri="{FF2B5EF4-FFF2-40B4-BE49-F238E27FC236}">
                    <a16:creationId xmlns:a16="http://schemas.microsoft.com/office/drawing/2014/main" id="{A3883EE3-15D9-FFE6-4880-5CDB4F807551}"/>
                  </a:ext>
                </a:extLst>
              </p:cNvPr>
              <p:cNvCxnSpPr>
                <a:stCxn id="140" idx="3"/>
                <a:endCxn id="144" idx="1"/>
              </p:cNvCxnSpPr>
              <p:nvPr/>
            </p:nvCxnSpPr>
            <p:spPr>
              <a:xfrm flipV="1">
                <a:off x="8522208" y="1706974"/>
                <a:ext cx="491744" cy="311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397DCB8F-FB2B-0BA7-CAF8-9207F5903B76}"/>
                </a:ext>
              </a:extLst>
            </p:cNvPr>
            <p:cNvGrpSpPr/>
            <p:nvPr/>
          </p:nvGrpSpPr>
          <p:grpSpPr>
            <a:xfrm>
              <a:off x="7264146" y="2669603"/>
              <a:ext cx="574811" cy="712661"/>
              <a:chOff x="7264146" y="2669603"/>
              <a:chExt cx="574811" cy="712661"/>
            </a:xfrm>
          </p:grpSpPr>
          <p:sp>
            <p:nvSpPr>
              <p:cNvPr id="56" name="Shape 39"/>
              <p:cNvSpPr/>
              <p:nvPr/>
            </p:nvSpPr>
            <p:spPr>
              <a:xfrm>
                <a:off x="7264146" y="2669603"/>
                <a:ext cx="572262" cy="424684"/>
              </a:xfrm>
              <a:prstGeom prst="roundRect">
                <a:avLst>
                  <a:gd name="adj" fmla="val 14545"/>
                </a:avLst>
              </a:prstGeom>
              <a:solidFill>
                <a:srgbClr val="F6F7F8"/>
              </a:solidFill>
              <a:ln w="11430">
                <a:solidFill>
                  <a:srgbClr val="6F7782"/>
                </a:solidFill>
                <a:prstDash val="solid"/>
              </a:ln>
            </p:spPr>
          </p:sp>
          <p:pic>
            <p:nvPicPr>
              <p:cNvPr id="57" name="Image 15" descr="preencoded.png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82467" y="2718277"/>
                <a:ext cx="314800" cy="314800"/>
              </a:xfrm>
              <a:prstGeom prst="rect">
                <a:avLst/>
              </a:prstGeom>
            </p:spPr>
          </p:pic>
          <p:sp>
            <p:nvSpPr>
              <p:cNvPr id="62" name="Text 43"/>
              <p:cNvSpPr/>
              <p:nvPr/>
            </p:nvSpPr>
            <p:spPr>
              <a:xfrm>
                <a:off x="7318511" y="3129089"/>
                <a:ext cx="520446" cy="2531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740" i="1" dirty="0">
                    <a:solidFill>
                      <a:srgbClr val="6F7782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unselected </a:t>
                </a:r>
              </a:p>
              <a:p>
                <a:pPr marL="0" indent="0" algn="l">
                  <a:buNone/>
                </a:pPr>
                <a:r>
                  <a:rPr lang="en-US" sz="740" i="1" dirty="0">
                    <a:solidFill>
                      <a:srgbClr val="6F7782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(no access)</a:t>
                </a:r>
                <a:endParaRPr lang="en-US" sz="740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3" name="Text 31">
                    <a:extLst>
                      <a:ext uri="{FF2B5EF4-FFF2-40B4-BE49-F238E27FC236}">
                        <a16:creationId xmlns:a16="http://schemas.microsoft.com/office/drawing/2014/main" id="{D37A2CC8-DD75-7227-0998-FE025F5D5C1B}"/>
                      </a:ext>
                    </a:extLst>
                  </p:cNvPr>
                  <p:cNvSpPr/>
                  <p:nvPr/>
                </p:nvSpPr>
                <p:spPr>
                  <a:xfrm>
                    <a:off x="7564231" y="2805049"/>
                    <a:ext cx="233934" cy="16459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marL="0" indent="0" algn="ctr"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50" b="1" i="1" dirty="0" smtClean="0">
                                  <a:solidFill>
                                    <a:srgbClr val="1C26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50" b="1" i="1" dirty="0" smtClean="0">
                                  <a:solidFill>
                                    <a:srgbClr val="1C263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950" b="1" i="1" dirty="0" smtClean="0">
                                  <a:solidFill>
                                    <a:srgbClr val="1C263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sz="950" dirty="0"/>
                  </a:p>
                </p:txBody>
              </p:sp>
            </mc:Choice>
            <mc:Fallback>
              <p:sp>
                <p:nvSpPr>
                  <p:cNvPr id="153" name="Text 31">
                    <a:extLst>
                      <a:ext uri="{FF2B5EF4-FFF2-40B4-BE49-F238E27FC236}">
                        <a16:creationId xmlns:a16="http://schemas.microsoft.com/office/drawing/2014/main" id="{D37A2CC8-DD75-7227-0998-FE025F5D5C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4231" y="2805049"/>
                    <a:ext cx="233934" cy="16459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2632" b="-7407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Text 31">
                  <a:extLst>
                    <a:ext uri="{FF2B5EF4-FFF2-40B4-BE49-F238E27FC236}">
                      <a16:creationId xmlns:a16="http://schemas.microsoft.com/office/drawing/2014/main" id="{6E591DCA-0BEF-6581-94B3-76EA1C4844CF}"/>
                    </a:ext>
                  </a:extLst>
                </p:cNvPr>
                <p:cNvSpPr/>
                <p:nvPr/>
              </p:nvSpPr>
              <p:spPr>
                <a:xfrm>
                  <a:off x="9008745" y="2761361"/>
                  <a:ext cx="233934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950" b="1" i="1" dirty="0" smtClean="0">
                                <a:solidFill>
                                  <a:srgbClr val="1C26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950" b="1" i="1" dirty="0" smtClean="0">
                                <a:solidFill>
                                  <a:srgbClr val="1C263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950" b="1" i="1" dirty="0" smtClean="0">
                                <a:solidFill>
                                  <a:srgbClr val="1C263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sz="950" dirty="0"/>
                </a:p>
              </p:txBody>
            </p:sp>
          </mc:Choice>
          <mc:Fallback>
            <p:sp>
              <p:nvSpPr>
                <p:cNvPr id="155" name="Text 31">
                  <a:extLst>
                    <a:ext uri="{FF2B5EF4-FFF2-40B4-BE49-F238E27FC236}">
                      <a16:creationId xmlns:a16="http://schemas.microsoft.com/office/drawing/2014/main" id="{6E591DCA-0BEF-6581-94B3-76EA1C4844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8745" y="2761361"/>
                  <a:ext cx="233934" cy="164592"/>
                </a:xfrm>
                <a:prstGeom prst="rect">
                  <a:avLst/>
                </a:prstGeom>
                <a:blipFill>
                  <a:blip r:embed="rId27"/>
                  <a:stretch>
                    <a:fillRect l="-2632" b="-3704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6" name="Text 100">
              <a:extLst>
                <a:ext uri="{FF2B5EF4-FFF2-40B4-BE49-F238E27FC236}">
                  <a16:creationId xmlns:a16="http://schemas.microsoft.com/office/drawing/2014/main" id="{9DC62E40-8E53-97AB-B794-9A5D0F2A56AC}"/>
                </a:ext>
              </a:extLst>
            </p:cNvPr>
            <p:cNvSpPr/>
            <p:nvPr/>
          </p:nvSpPr>
          <p:spPr>
            <a:xfrm>
              <a:off x="8513962" y="3182493"/>
              <a:ext cx="10789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altLang="zh-CN" sz="740" i="1" dirty="0">
                  <a:solidFill>
                    <a:srgbClr val="C9252C"/>
                  </a:solidFill>
                  <a:latin typeface="Aptos" pitchFamily="34" charset="0"/>
                </a:rPr>
                <a:t>wrong output / </a:t>
              </a:r>
            </a:p>
            <a:p>
              <a:pPr marL="0" indent="0" algn="ctr">
                <a:buNone/>
              </a:pPr>
              <a:r>
                <a:rPr lang="en-US" altLang="zh-CN" sz="740" i="1" dirty="0">
                  <a:solidFill>
                    <a:srgbClr val="C9252C"/>
                  </a:solidFill>
                  <a:latin typeface="Aptos" pitchFamily="34" charset="0"/>
                </a:rPr>
                <a:t>tampered boundary state </a:t>
              </a:r>
              <a:endParaRPr lang="en-US" sz="740" dirty="0"/>
            </a:p>
          </p:txBody>
        </p:sp>
        <p:sp>
          <p:nvSpPr>
            <p:cNvPr id="161" name="Text 100">
              <a:extLst>
                <a:ext uri="{FF2B5EF4-FFF2-40B4-BE49-F238E27FC236}">
                  <a16:creationId xmlns:a16="http://schemas.microsoft.com/office/drawing/2014/main" id="{EFEC151C-A60B-1ACF-0D0A-8C4C9437967D}"/>
                </a:ext>
              </a:extLst>
            </p:cNvPr>
            <p:cNvSpPr/>
            <p:nvPr/>
          </p:nvSpPr>
          <p:spPr>
            <a:xfrm>
              <a:off x="8539353" y="2975864"/>
              <a:ext cx="10789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altLang="zh-CN" sz="740" i="1" dirty="0">
                  <a:solidFill>
                    <a:srgbClr val="C9252C"/>
                  </a:solidFill>
                  <a:latin typeface="Aptos" pitchFamily="34" charset="0"/>
                </a:rPr>
                <a:t>faulty / malicious</a:t>
              </a:r>
              <a:endParaRPr lang="en-US" sz="740" dirty="0"/>
            </a:p>
          </p:txBody>
        </p:sp>
        <p:sp>
          <p:nvSpPr>
            <p:cNvPr id="165" name="Shape 34">
              <a:extLst>
                <a:ext uri="{FF2B5EF4-FFF2-40B4-BE49-F238E27FC236}">
                  <a16:creationId xmlns:a16="http://schemas.microsoft.com/office/drawing/2014/main" id="{BCFC0BF0-F0F8-4978-9886-0C3A31B629C7}"/>
                </a:ext>
              </a:extLst>
            </p:cNvPr>
            <p:cNvSpPr/>
            <p:nvPr/>
          </p:nvSpPr>
          <p:spPr>
            <a:xfrm>
              <a:off x="10249664" y="2506221"/>
              <a:ext cx="747427" cy="695706"/>
            </a:xfrm>
            <a:prstGeom prst="roundRect">
              <a:avLst>
                <a:gd name="adj" fmla="val 11111"/>
              </a:avLst>
            </a:prstGeom>
            <a:solidFill>
              <a:srgbClr val="FFF3F4"/>
            </a:solidFill>
            <a:ln w="13970">
              <a:solidFill>
                <a:srgbClr val="C9252C"/>
              </a:solidFill>
              <a:prstDash val="dash"/>
            </a:ln>
          </p:spPr>
        </p:sp>
        <p:sp>
          <p:nvSpPr>
            <p:cNvPr id="166" name="Text 100">
              <a:extLst>
                <a:ext uri="{FF2B5EF4-FFF2-40B4-BE49-F238E27FC236}">
                  <a16:creationId xmlns:a16="http://schemas.microsoft.com/office/drawing/2014/main" id="{6845089C-8C46-0802-A20C-E7F421CD8631}"/>
                </a:ext>
              </a:extLst>
            </p:cNvPr>
            <p:cNvSpPr/>
            <p:nvPr/>
          </p:nvSpPr>
          <p:spPr>
            <a:xfrm>
              <a:off x="10355979" y="2666574"/>
              <a:ext cx="595868" cy="392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altLang="zh-CN" sz="740" i="1" dirty="0">
                  <a:solidFill>
                    <a:srgbClr val="C9252C"/>
                  </a:solidFill>
                  <a:latin typeface="Aptos" pitchFamily="34" charset="0"/>
                </a:rPr>
                <a:t>unselected providers do not receive access tuples</a:t>
              </a:r>
              <a:endParaRPr lang="en-US" sz="740" dirty="0"/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7E21DB7C-AA73-E3AB-F304-B707DC07258A}"/>
                </a:ext>
              </a:extLst>
            </p:cNvPr>
            <p:cNvCxnSpPr>
              <a:cxnSpLocks/>
              <a:stCxn id="63" idx="1"/>
            </p:cNvCxnSpPr>
            <p:nvPr/>
          </p:nvCxnSpPr>
          <p:spPr>
            <a:xfrm flipH="1">
              <a:off x="9935768" y="1807325"/>
              <a:ext cx="313896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BE002E32-816D-AEEB-ED0D-5F0555051EE1}"/>
                </a:ext>
              </a:extLst>
            </p:cNvPr>
            <p:cNvCxnSpPr>
              <a:cxnSpLocks/>
              <a:stCxn id="165" idx="1"/>
            </p:cNvCxnSpPr>
            <p:nvPr/>
          </p:nvCxnSpPr>
          <p:spPr>
            <a:xfrm flipH="1">
              <a:off x="9932928" y="2854074"/>
              <a:ext cx="316736" cy="0"/>
            </a:xfrm>
            <a:prstGeom prst="straightConnector1">
              <a:avLst/>
            </a:prstGeom>
            <a:ln>
              <a:solidFill>
                <a:srgbClr val="C00000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109C10DF-D645-C94B-22CF-DCF1AE474101}"/>
              </a:ext>
            </a:extLst>
          </p:cNvPr>
          <p:cNvGrpSpPr/>
          <p:nvPr/>
        </p:nvGrpSpPr>
        <p:grpSpPr>
          <a:xfrm>
            <a:off x="3693667" y="27432"/>
            <a:ext cx="2546595" cy="3246120"/>
            <a:chOff x="3316990" y="-1234440"/>
            <a:chExt cx="2546595" cy="3246120"/>
          </a:xfrm>
        </p:grpSpPr>
        <p:sp>
          <p:nvSpPr>
            <p:cNvPr id="20" name="Shape 13"/>
            <p:cNvSpPr/>
            <p:nvPr/>
          </p:nvSpPr>
          <p:spPr>
            <a:xfrm>
              <a:off x="3316990" y="-1234440"/>
              <a:ext cx="2546595" cy="3246120"/>
            </a:xfrm>
            <a:prstGeom prst="roundRect">
              <a:avLst>
                <a:gd name="adj" fmla="val 4444"/>
              </a:avLst>
            </a:prstGeom>
            <a:solidFill>
              <a:srgbClr val="FFF8ED"/>
            </a:solidFill>
            <a:ln w="16510">
              <a:solidFill>
                <a:srgbClr val="8A5A16"/>
              </a:solidFill>
              <a:prstDash val="solid"/>
            </a:ln>
          </p:spPr>
        </p:sp>
        <p:pic>
          <p:nvPicPr>
            <p:cNvPr id="21" name="Image 5" descr="preencoded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550162" y="-1053846"/>
              <a:ext cx="347472" cy="347472"/>
            </a:xfrm>
            <a:prstGeom prst="rect">
              <a:avLst/>
            </a:prstGeom>
          </p:spPr>
        </p:pic>
        <p:sp>
          <p:nvSpPr>
            <p:cNvPr id="22" name="Text 14"/>
            <p:cNvSpPr/>
            <p:nvPr/>
          </p:nvSpPr>
          <p:spPr>
            <a:xfrm>
              <a:off x="3970787" y="-1006222"/>
              <a:ext cx="13035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85000" lnSpcReduction="20000"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Verification-aware </a:t>
              </a:r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Orchestrator</a:t>
              </a:r>
              <a:endParaRPr lang="en-US" sz="1300" dirty="0"/>
            </a:p>
          </p:txBody>
        </p:sp>
        <p:sp>
          <p:nvSpPr>
            <p:cNvPr id="23" name="Text 15"/>
            <p:cNvSpPr/>
            <p:nvPr/>
          </p:nvSpPr>
          <p:spPr>
            <a:xfrm>
              <a:off x="3871059" y="-661800"/>
              <a:ext cx="17830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30" i="1" dirty="0">
                  <a:solidFill>
                    <a:srgbClr val="5F6C7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verification-aware control plane</a:t>
              </a:r>
              <a:endParaRPr lang="en-US" sz="830" dirty="0"/>
            </a:p>
          </p:txBody>
        </p:sp>
        <p:sp>
          <p:nvSpPr>
            <p:cNvPr id="24" name="Shape 16"/>
            <p:cNvSpPr/>
            <p:nvPr/>
          </p:nvSpPr>
          <p:spPr>
            <a:xfrm>
              <a:off x="3659890" y="-436626"/>
              <a:ext cx="1764792" cy="393192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10160">
              <a:solidFill>
                <a:srgbClr val="8A5A16"/>
              </a:solidFill>
              <a:prstDash val="solid"/>
            </a:ln>
          </p:spPr>
        </p:sp>
        <p:pic>
          <p:nvPicPr>
            <p:cNvPr id="25" name="Image 6" descr="preencoded.pn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769618" y="-336042"/>
              <a:ext cx="256032" cy="256032"/>
            </a:xfrm>
            <a:prstGeom prst="rect">
              <a:avLst/>
            </a:prstGeom>
          </p:spPr>
        </p:pic>
        <p:sp>
          <p:nvSpPr>
            <p:cNvPr id="26" name="Text 17"/>
            <p:cNvSpPr/>
            <p:nvPr/>
          </p:nvSpPr>
          <p:spPr>
            <a:xfrm>
              <a:off x="4098802" y="-293370"/>
              <a:ext cx="11963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provider discovery</a:t>
              </a:r>
              <a:endParaRPr lang="en-US" sz="850" dirty="0"/>
            </a:p>
          </p:txBody>
        </p:sp>
        <p:sp>
          <p:nvSpPr>
            <p:cNvPr id="27" name="Shape 18"/>
            <p:cNvSpPr/>
            <p:nvPr/>
          </p:nvSpPr>
          <p:spPr>
            <a:xfrm>
              <a:off x="3659890" y="66294"/>
              <a:ext cx="1764792" cy="393192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10160">
              <a:solidFill>
                <a:srgbClr val="8A5A16"/>
              </a:solidFill>
              <a:prstDash val="solid"/>
            </a:ln>
          </p:spPr>
        </p:sp>
        <p:pic>
          <p:nvPicPr>
            <p:cNvPr id="28" name="Image 7" descr="preencoded.pn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769618" y="166878"/>
              <a:ext cx="256032" cy="256032"/>
            </a:xfrm>
            <a:prstGeom prst="rect">
              <a:avLst/>
            </a:prstGeom>
          </p:spPr>
        </p:pic>
        <p:sp>
          <p:nvSpPr>
            <p:cNvPr id="29" name="Text 19"/>
            <p:cNvSpPr/>
            <p:nvPr/>
          </p:nvSpPr>
          <p:spPr>
            <a:xfrm>
              <a:off x="4098802" y="214122"/>
              <a:ext cx="11963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group selection</a:t>
              </a:r>
              <a:endParaRPr lang="en-US" sz="850" dirty="0"/>
            </a:p>
          </p:txBody>
        </p:sp>
        <p:sp>
          <p:nvSpPr>
            <p:cNvPr id="30" name="Shape 20"/>
            <p:cNvSpPr/>
            <p:nvPr/>
          </p:nvSpPr>
          <p:spPr>
            <a:xfrm>
              <a:off x="3659890" y="569214"/>
              <a:ext cx="1764792" cy="393192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10160">
              <a:solidFill>
                <a:srgbClr val="8A5A16"/>
              </a:solidFill>
              <a:prstDash val="solid"/>
            </a:ln>
          </p:spPr>
        </p:sp>
        <p:pic>
          <p:nvPicPr>
            <p:cNvPr id="31" name="Image 8" descr="preencoded.pn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769618" y="669798"/>
              <a:ext cx="256032" cy="256032"/>
            </a:xfrm>
            <a:prstGeom prst="rect">
              <a:avLst/>
            </a:prstGeom>
          </p:spPr>
        </p:pic>
        <p:sp>
          <p:nvSpPr>
            <p:cNvPr id="32" name="Text 21"/>
            <p:cNvSpPr/>
            <p:nvPr/>
          </p:nvSpPr>
          <p:spPr>
            <a:xfrm>
              <a:off x="4098802" y="724662"/>
              <a:ext cx="11049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shard mapping</a:t>
              </a:r>
              <a:endParaRPr lang="en-US" sz="850" dirty="0"/>
            </a:p>
          </p:txBody>
        </p:sp>
        <p:sp>
          <p:nvSpPr>
            <p:cNvPr id="33" name="Shape 22"/>
            <p:cNvSpPr/>
            <p:nvPr/>
          </p:nvSpPr>
          <p:spPr>
            <a:xfrm>
              <a:off x="3659890" y="1072134"/>
              <a:ext cx="1783080" cy="393192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10160">
              <a:solidFill>
                <a:srgbClr val="8A5A16"/>
              </a:solidFill>
              <a:prstDash val="solid"/>
            </a:ln>
          </p:spPr>
        </p:sp>
        <p:pic>
          <p:nvPicPr>
            <p:cNvPr id="34" name="Image 9" descr="preencoded.pn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769618" y="1172718"/>
              <a:ext cx="256032" cy="256032"/>
            </a:xfrm>
            <a:prstGeom prst="rect">
              <a:avLst/>
            </a:prstGeom>
          </p:spPr>
        </p:pic>
        <p:sp>
          <p:nvSpPr>
            <p:cNvPr id="35" name="Text 23"/>
            <p:cNvSpPr/>
            <p:nvPr/>
          </p:nvSpPr>
          <p:spPr>
            <a:xfrm>
              <a:off x="4083562" y="1216152"/>
              <a:ext cx="1295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placement commitment</a:t>
              </a:r>
              <a:endParaRPr lang="en-US" sz="850" dirty="0"/>
            </a:p>
          </p:txBody>
        </p:sp>
        <p:pic>
          <p:nvPicPr>
            <p:cNvPr id="36" name="Image 10" descr="preencoded.pn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687322" y="1611630"/>
              <a:ext cx="228600" cy="228600"/>
            </a:xfrm>
            <a:prstGeom prst="rect">
              <a:avLst/>
            </a:prstGeom>
          </p:spPr>
        </p:pic>
        <p:sp>
          <p:nvSpPr>
            <p:cNvPr id="37" name="Text 24"/>
            <p:cNvSpPr/>
            <p:nvPr/>
          </p:nvSpPr>
          <p:spPr>
            <a:xfrm>
              <a:off x="3952498" y="1673352"/>
              <a:ext cx="1389888" cy="1733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740" i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 task plaintext or access tuples</a:t>
              </a:r>
              <a:endParaRPr lang="en-US" sz="74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7" name="Text 27">
                  <a:extLst>
                    <a:ext uri="{FF2B5EF4-FFF2-40B4-BE49-F238E27FC236}">
                      <a16:creationId xmlns:a16="http://schemas.microsoft.com/office/drawing/2014/main" id="{04A66ED8-69F7-D55F-DB92-D751BE1B75B8}"/>
                    </a:ext>
                  </a:extLst>
                </p:cNvPr>
                <p:cNvSpPr/>
                <p:nvPr/>
              </p:nvSpPr>
              <p:spPr>
                <a:xfrm>
                  <a:off x="5246375" y="-1044686"/>
                  <a:ext cx="301657" cy="189737"/>
                </a:xfrm>
                <a:prstGeom prst="rect">
                  <a:avLst/>
                </a:prstGeom>
                <a:noFill/>
                <a:ln/>
              </p:spPr>
              <p:txBody>
                <a:bodyPr wrap="square" lIns="45720" tIns="45720" rIns="45720" bIns="45720" rtlCol="0" anchor="t"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rgbClr val="5F6C7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ptos" pitchFamily="34" charset="-120"/>
                          </a:rPr>
                          <m:t>𝒪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177" name="Text 27">
                  <a:extLst>
                    <a:ext uri="{FF2B5EF4-FFF2-40B4-BE49-F238E27FC236}">
                      <a16:creationId xmlns:a16="http://schemas.microsoft.com/office/drawing/2014/main" id="{04A66ED8-69F7-D55F-DB92-D751BE1B75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6375" y="-1044686"/>
                  <a:ext cx="301657" cy="189737"/>
                </a:xfrm>
                <a:prstGeom prst="rect">
                  <a:avLst/>
                </a:prstGeom>
                <a:blipFill>
                  <a:blip r:embed="rId34"/>
                  <a:stretch>
                    <a:fillRect t="-12903" r="-28000" b="-116129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Text 27">
                <a:extLst>
                  <a:ext uri="{FF2B5EF4-FFF2-40B4-BE49-F238E27FC236}">
                    <a16:creationId xmlns:a16="http://schemas.microsoft.com/office/drawing/2014/main" id="{8C2E8BD5-C60C-1F40-90AB-59E14D0A75B7}"/>
                  </a:ext>
                </a:extLst>
              </p:cNvPr>
              <p:cNvSpPr/>
              <p:nvPr/>
            </p:nvSpPr>
            <p:spPr>
              <a:xfrm>
                <a:off x="1781715" y="329235"/>
                <a:ext cx="301657" cy="189737"/>
              </a:xfrm>
              <a:prstGeom prst="rect">
                <a:avLst/>
              </a:prstGeom>
              <a:noFill/>
              <a:ln/>
            </p:spPr>
            <p:txBody>
              <a:bodyPr wrap="square" lIns="45720" tIns="45720" rIns="45720" bIns="45720" rtlCol="0" anchor="t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5F6C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ptos" pitchFamily="34" charset="-120"/>
                        </a:rPr>
                        <m:t>ℛ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1" name="Text 27">
                <a:extLst>
                  <a:ext uri="{FF2B5EF4-FFF2-40B4-BE49-F238E27FC236}">
                    <a16:creationId xmlns:a16="http://schemas.microsoft.com/office/drawing/2014/main" id="{8C2E8BD5-C60C-1F40-90AB-59E14D0A75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15" y="329235"/>
                <a:ext cx="301657" cy="189737"/>
              </a:xfrm>
              <a:prstGeom prst="rect">
                <a:avLst/>
              </a:prstGeom>
              <a:blipFill>
                <a:blip r:embed="rId35"/>
                <a:stretch>
                  <a:fillRect t="-12903" r="-30000" b="-11612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216</Words>
  <Application>Microsoft Office PowerPoint</Application>
  <PresentationFormat>自定义</PresentationFormat>
  <Paragraphs>75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Arial</vt:lpstr>
      <vt:lpstr>Cambria Math</vt:lpstr>
      <vt:lpstr>Office Theme</vt:lpstr>
      <vt:lpstr>PowerPoint 演示文稿</vt:lpstr>
    </vt:vector>
  </TitlesOfParts>
  <Company>Anonymous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VeriEdge system model and workflow</dc:title>
  <dc:subject>Figure 1 system workflow</dc:subject>
  <dc:creator>VeriEdge</dc:creator>
  <cp:lastModifiedBy>T. Wang</cp:lastModifiedBy>
  <cp:revision>2</cp:revision>
  <dcterms:created xsi:type="dcterms:W3CDTF">2026-05-05T15:07:10Z</dcterms:created>
  <dcterms:modified xsi:type="dcterms:W3CDTF">2026-05-06T04:55:43Z</dcterms:modified>
</cp:coreProperties>
</file>