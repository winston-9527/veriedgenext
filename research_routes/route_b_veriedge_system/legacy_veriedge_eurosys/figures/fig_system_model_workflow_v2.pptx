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344400" cy="7497763"/>
  <p:notesSz cx="7497763" cy="12344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F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05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9" y="4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78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image" Target="../media/image160.png"/><Relationship Id="rId21" Type="http://schemas.openxmlformats.org/officeDocument/2006/relationships/image" Target="../media/image190.png"/><Relationship Id="rId50" Type="http://schemas.openxmlformats.org/officeDocument/2006/relationships/image" Target="../media/image2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41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32" Type="http://schemas.openxmlformats.org/officeDocument/2006/relationships/image" Target="../media/image19.png"/><Relationship Id="rId37" Type="http://schemas.openxmlformats.org/officeDocument/2006/relationships/image" Target="../media/image35.png"/><Relationship Id="rId40" Type="http://schemas.openxmlformats.org/officeDocument/2006/relationships/image" Target="../media/image22.png"/><Relationship Id="rId45" Type="http://schemas.openxmlformats.org/officeDocument/2006/relationships/image" Target="../media/image14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36" Type="http://schemas.openxmlformats.org/officeDocument/2006/relationships/image" Target="../media/image21.png"/><Relationship Id="rId49" Type="http://schemas.openxmlformats.org/officeDocument/2006/relationships/image" Target="../media/image28.png"/><Relationship Id="rId10" Type="http://schemas.openxmlformats.org/officeDocument/2006/relationships/image" Target="../media/image8.png"/><Relationship Id="rId31" Type="http://schemas.openxmlformats.org/officeDocument/2006/relationships/image" Target="../media/image18.png"/><Relationship Id="rId44" Type="http://schemas.openxmlformats.org/officeDocument/2006/relationships/image" Target="../media/image130.png"/><Relationship Id="rId19" Type="http://schemas.openxmlformats.org/officeDocument/2006/relationships/image" Target="../media/image17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30" Type="http://schemas.openxmlformats.org/officeDocument/2006/relationships/image" Target="../media/image17.png"/><Relationship Id="rId35" Type="http://schemas.openxmlformats.org/officeDocument/2006/relationships/image" Target="../media/image33.png"/><Relationship Id="rId43" Type="http://schemas.openxmlformats.org/officeDocument/2006/relationships/image" Target="../media/image25.png"/><Relationship Id="rId48" Type="http://schemas.openxmlformats.org/officeDocument/2006/relationships/image" Target="../media/image26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6"/>
          <p:cNvSpPr/>
          <p:nvPr/>
        </p:nvSpPr>
        <p:spPr>
          <a:xfrm>
            <a:off x="475992" y="5862815"/>
            <a:ext cx="5639750" cy="1188720"/>
          </a:xfrm>
          <a:prstGeom prst="roundRect">
            <a:avLst>
              <a:gd name="adj" fmla="val 8696"/>
            </a:avLst>
          </a:prstGeom>
          <a:solidFill>
            <a:srgbClr val="F7F3FF"/>
          </a:solidFill>
          <a:ln w="15240">
            <a:solidFill>
              <a:srgbClr val="5B3B93"/>
            </a:solidFill>
            <a:prstDash val="solid"/>
          </a:ln>
        </p:spPr>
      </p:sp>
      <p:pic>
        <p:nvPicPr>
          <p:cNvPr id="66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138" y="6001875"/>
            <a:ext cx="258355" cy="258355"/>
          </a:xfrm>
          <a:prstGeom prst="rect">
            <a:avLst/>
          </a:prstGeom>
        </p:spPr>
      </p:pic>
      <p:sp>
        <p:nvSpPr>
          <p:cNvPr id="67" name="Text 47"/>
          <p:cNvSpPr/>
          <p:nvPr/>
        </p:nvSpPr>
        <p:spPr>
          <a:xfrm>
            <a:off x="2156460" y="600701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3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/ Ledger</a:t>
            </a:r>
            <a:endParaRPr lang="en-US" sz="1600" dirty="0"/>
          </a:p>
        </p:txBody>
      </p:sp>
      <p:sp>
        <p:nvSpPr>
          <p:cNvPr id="68" name="Shape 48"/>
          <p:cNvSpPr/>
          <p:nvPr/>
        </p:nvSpPr>
        <p:spPr>
          <a:xfrm>
            <a:off x="731520" y="6437376"/>
            <a:ext cx="1156843" cy="370331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</p:sp>
      <p:pic>
        <p:nvPicPr>
          <p:cNvPr id="69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6519672"/>
            <a:ext cx="201168" cy="201168"/>
          </a:xfrm>
          <a:prstGeom prst="rect">
            <a:avLst/>
          </a:prstGeom>
        </p:spPr>
      </p:pic>
      <p:sp>
        <p:nvSpPr>
          <p:cNvPr id="70" name="Text 49"/>
          <p:cNvSpPr/>
          <p:nvPr/>
        </p:nvSpPr>
        <p:spPr>
          <a:xfrm>
            <a:off x="1021272" y="6556247"/>
            <a:ext cx="823260" cy="242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commitments</a:t>
            </a:r>
            <a:endParaRPr lang="en-US" sz="1000" dirty="0"/>
          </a:p>
        </p:txBody>
      </p:sp>
      <p:sp>
        <p:nvSpPr>
          <p:cNvPr id="71" name="Shape 50"/>
          <p:cNvSpPr/>
          <p:nvPr/>
        </p:nvSpPr>
        <p:spPr>
          <a:xfrm>
            <a:off x="2121408" y="6437376"/>
            <a:ext cx="917067" cy="3840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</p:sp>
      <p:pic>
        <p:nvPicPr>
          <p:cNvPr id="72" name="Image 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704" y="6519672"/>
            <a:ext cx="201168" cy="201168"/>
          </a:xfrm>
          <a:prstGeom prst="rect">
            <a:avLst/>
          </a:prstGeom>
        </p:spPr>
      </p:pic>
      <p:sp>
        <p:nvSpPr>
          <p:cNvPr id="73" name="Text 51"/>
          <p:cNvSpPr/>
          <p:nvPr/>
        </p:nvSpPr>
        <p:spPr>
          <a:xfrm>
            <a:off x="2464435" y="6569419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escrow</a:t>
            </a:r>
            <a:endParaRPr lang="en-US" sz="1000" dirty="0"/>
          </a:p>
        </p:txBody>
      </p:sp>
      <p:sp>
        <p:nvSpPr>
          <p:cNvPr id="74" name="Shape 52"/>
          <p:cNvSpPr/>
          <p:nvPr/>
        </p:nvSpPr>
        <p:spPr>
          <a:xfrm>
            <a:off x="3511296" y="6437376"/>
            <a:ext cx="996696" cy="3840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</p:sp>
      <p:pic>
        <p:nvPicPr>
          <p:cNvPr id="75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592" y="6519672"/>
            <a:ext cx="201168" cy="201168"/>
          </a:xfrm>
          <a:prstGeom prst="rect">
            <a:avLst/>
          </a:prstGeom>
        </p:spPr>
      </p:pic>
      <p:sp>
        <p:nvSpPr>
          <p:cNvPr id="76" name="Text 53"/>
          <p:cNvSpPr/>
          <p:nvPr/>
        </p:nvSpPr>
        <p:spPr>
          <a:xfrm>
            <a:off x="3858768" y="65105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000" dirty="0"/>
          </a:p>
        </p:txBody>
      </p:sp>
      <p:sp>
        <p:nvSpPr>
          <p:cNvPr id="77" name="Shape 54"/>
          <p:cNvSpPr/>
          <p:nvPr/>
        </p:nvSpPr>
        <p:spPr>
          <a:xfrm>
            <a:off x="4901184" y="6464807"/>
            <a:ext cx="996696" cy="3566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D8CCE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78" name="Image 2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6519672"/>
            <a:ext cx="201168" cy="201168"/>
          </a:xfrm>
          <a:prstGeom prst="rect">
            <a:avLst/>
          </a:prstGeom>
        </p:spPr>
      </p:pic>
      <p:sp>
        <p:nvSpPr>
          <p:cNvPr id="79" name="Text 55"/>
          <p:cNvSpPr/>
          <p:nvPr/>
        </p:nvSpPr>
        <p:spPr>
          <a:xfrm>
            <a:off x="5236589" y="6581207"/>
            <a:ext cx="617156" cy="207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80" name="Shape 56"/>
          <p:cNvSpPr/>
          <p:nvPr/>
        </p:nvSpPr>
        <p:spPr>
          <a:xfrm>
            <a:off x="6899821" y="5837878"/>
            <a:ext cx="3374136" cy="1188720"/>
          </a:xfrm>
          <a:prstGeom prst="roundRect">
            <a:avLst>
              <a:gd name="adj" fmla="val 8696"/>
            </a:avLst>
          </a:prstGeom>
          <a:solidFill>
            <a:srgbClr val="F1F8FF"/>
          </a:solidFill>
          <a:ln w="15240">
            <a:solidFill>
              <a:srgbClr val="0B65A3"/>
            </a:solidFill>
            <a:prstDash val="solid"/>
          </a:ln>
        </p:spPr>
      </p:sp>
      <p:pic>
        <p:nvPicPr>
          <p:cNvPr id="81" name="Image 2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5383" y="5980176"/>
            <a:ext cx="347472" cy="347472"/>
          </a:xfrm>
          <a:prstGeom prst="rect">
            <a:avLst/>
          </a:prstGeom>
        </p:spPr>
      </p:pic>
      <p:sp>
        <p:nvSpPr>
          <p:cNvPr id="82" name="Text 57"/>
          <p:cNvSpPr/>
          <p:nvPr/>
        </p:nvSpPr>
        <p:spPr>
          <a:xfrm>
            <a:off x="7617714" y="600701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65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Off-chain Data Store</a:t>
            </a:r>
            <a:endParaRPr lang="en-US" sz="1600" dirty="0"/>
          </a:p>
        </p:txBody>
      </p:sp>
      <p:sp>
        <p:nvSpPr>
          <p:cNvPr id="83" name="Shape 58"/>
          <p:cNvSpPr/>
          <p:nvPr/>
        </p:nvSpPr>
        <p:spPr>
          <a:xfrm>
            <a:off x="7181850" y="6437376"/>
            <a:ext cx="1238250" cy="38404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8E1F5"/>
            </a:solidFill>
            <a:prstDash val="solid"/>
          </a:ln>
        </p:spPr>
      </p:sp>
      <p:pic>
        <p:nvPicPr>
          <p:cNvPr id="84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3897" y="6510528"/>
            <a:ext cx="219456" cy="219456"/>
          </a:xfrm>
          <a:prstGeom prst="rect">
            <a:avLst/>
          </a:prstGeom>
        </p:spPr>
      </p:pic>
      <p:sp>
        <p:nvSpPr>
          <p:cNvPr id="85" name="Text 59"/>
          <p:cNvSpPr/>
          <p:nvPr/>
        </p:nvSpPr>
        <p:spPr>
          <a:xfrm>
            <a:off x="7559873" y="6483095"/>
            <a:ext cx="8898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task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</a:t>
            </a:r>
            <a:endParaRPr lang="en-US" sz="1000" dirty="0"/>
          </a:p>
        </p:txBody>
      </p:sp>
      <p:sp>
        <p:nvSpPr>
          <p:cNvPr id="86" name="Shape 60"/>
          <p:cNvSpPr/>
          <p:nvPr/>
        </p:nvSpPr>
        <p:spPr>
          <a:xfrm>
            <a:off x="8644890" y="6437376"/>
            <a:ext cx="1447800" cy="38404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C8E1F5"/>
            </a:solidFill>
            <a:prstDash val="solid"/>
          </a:ln>
        </p:spPr>
      </p:sp>
      <p:pic>
        <p:nvPicPr>
          <p:cNvPr id="87" name="Image 2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2906" y="6510528"/>
            <a:ext cx="219456" cy="219456"/>
          </a:xfrm>
          <a:prstGeom prst="rect">
            <a:avLst/>
          </a:prstGeom>
        </p:spPr>
      </p:pic>
      <p:sp>
        <p:nvSpPr>
          <p:cNvPr id="88" name="Text 61"/>
          <p:cNvSpPr/>
          <p:nvPr/>
        </p:nvSpPr>
        <p:spPr>
          <a:xfrm>
            <a:off x="9004281" y="6532101"/>
            <a:ext cx="1195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ciphertext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000" dirty="0"/>
          </a:p>
        </p:txBody>
      </p:sp>
      <p:sp>
        <p:nvSpPr>
          <p:cNvPr id="89" name="Shape 62"/>
          <p:cNvSpPr/>
          <p:nvPr/>
        </p:nvSpPr>
        <p:spPr>
          <a:xfrm>
            <a:off x="4975206" y="4523809"/>
            <a:ext cx="165230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5B3B93"/>
            </a:solidFill>
            <a:prstDash val="solid"/>
          </a:ln>
        </p:spPr>
      </p:sp>
      <p:pic>
        <p:nvPicPr>
          <p:cNvPr id="90" name="Image 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1787" y="4640582"/>
            <a:ext cx="256032" cy="2560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 63"/>
              <p:cNvSpPr/>
              <p:nvPr/>
            </p:nvSpPr>
            <p:spPr>
              <a:xfrm>
                <a:off x="5504688" y="4700017"/>
                <a:ext cx="900201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r>
                  <a:rPr lang="en-US" sz="1200" b="1" dirty="0">
                    <a:solidFill>
                      <a:srgbClr val="5B3B93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Verify(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dirty="0" smtClean="0">
                            <a:solidFill>
                              <a:srgbClr val="5B3B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dirty="0" smtClean="0">
                            <a:solidFill>
                              <a:srgbClr val="5B3B93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1200" b="1" i="1" dirty="0" smtClean="0">
                            <a:solidFill>
                              <a:srgbClr val="5B3B93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1200" b="1" i="1" dirty="0" smtClean="0">
                        <a:solidFill>
                          <a:srgbClr val="5B3B93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1200" b="1" i="1" dirty="0" smtClean="0">
                        <a:solidFill>
                          <a:srgbClr val="5B3B93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1200" b="1" i="1" dirty="0" smtClean="0">
                            <a:solidFill>
                              <a:srgbClr val="5B3B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200" b="1" i="1" dirty="0">
                            <a:solidFill>
                              <a:srgbClr val="5B3B93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n-US" altLang="zh-CN" sz="1200" b="1" i="1" dirty="0" smtClean="0">
                            <a:solidFill>
                              <a:srgbClr val="5B3B93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200" b="1" dirty="0">
                    <a:solidFill>
                      <a:srgbClr val="5B3B93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)</a:t>
                </a:r>
                <a:endParaRPr lang="en-US" sz="1200" dirty="0"/>
              </a:p>
            </p:txBody>
          </p:sp>
        </mc:Choice>
        <mc:Fallback xmlns="">
          <p:sp>
            <p:nvSpPr>
              <p:cNvPr id="91" name="Text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688" y="4700017"/>
                <a:ext cx="900201" cy="182880"/>
              </a:xfrm>
              <a:prstGeom prst="rect">
                <a:avLst/>
              </a:prstGeom>
              <a:blipFill>
                <a:blip r:embed="rId12"/>
                <a:stretch>
                  <a:fillRect l="-10135" t="-23333" r="-2703" b="-533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 64"/>
          <p:cNvSpPr/>
          <p:nvPr/>
        </p:nvSpPr>
        <p:spPr>
          <a:xfrm>
            <a:off x="5158135" y="4992625"/>
            <a:ext cx="12739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F6C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TSTC challenge verifier</a:t>
            </a:r>
            <a:endParaRPr lang="en-US" sz="1000" dirty="0"/>
          </a:p>
        </p:txBody>
      </p:sp>
      <p:sp>
        <p:nvSpPr>
          <p:cNvPr id="94" name="Shape 66"/>
          <p:cNvSpPr/>
          <p:nvPr/>
        </p:nvSpPr>
        <p:spPr>
          <a:xfrm>
            <a:off x="3195955" y="-287083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5" name="Text 67"/>
          <p:cNvSpPr/>
          <p:nvPr/>
        </p:nvSpPr>
        <p:spPr>
          <a:xfrm>
            <a:off x="3195955" y="-282511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96" name="Text 68"/>
          <p:cNvSpPr/>
          <p:nvPr/>
        </p:nvSpPr>
        <p:spPr>
          <a:xfrm>
            <a:off x="3159379" y="-424243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descriptor</a:t>
            </a:r>
            <a:endParaRPr lang="en-US" sz="660" dirty="0"/>
          </a:p>
        </p:txBody>
      </p: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A1F661AB-0345-7FE5-C305-DEB87278F863}"/>
              </a:ext>
            </a:extLst>
          </p:cNvPr>
          <p:cNvGrpSpPr/>
          <p:nvPr/>
        </p:nvGrpSpPr>
        <p:grpSpPr>
          <a:xfrm>
            <a:off x="6842887" y="-556831"/>
            <a:ext cx="475488" cy="393192"/>
            <a:chOff x="5943600" y="868680"/>
            <a:chExt cx="475488" cy="393192"/>
          </a:xfrm>
        </p:grpSpPr>
        <p:sp>
          <p:nvSpPr>
            <p:cNvPr id="98" name="Shape 70"/>
            <p:cNvSpPr/>
            <p:nvPr/>
          </p:nvSpPr>
          <p:spPr>
            <a:xfrm>
              <a:off x="6053328" y="1014984"/>
              <a:ext cx="246888" cy="246888"/>
            </a:xfrm>
            <a:prstGeom prst="ellipse">
              <a:avLst/>
            </a:prstGeom>
            <a:solidFill>
              <a:srgbClr val="1557A6"/>
            </a:solidFill>
            <a:ln w="12700">
              <a:solidFill>
                <a:srgbClr val="1557A6">
                  <a:alpha val="0"/>
                </a:srgbClr>
              </a:solidFill>
              <a:prstDash val="solid"/>
            </a:ln>
          </p:spPr>
        </p:sp>
        <p:sp>
          <p:nvSpPr>
            <p:cNvPr id="99" name="Text 71"/>
            <p:cNvSpPr/>
            <p:nvPr/>
          </p:nvSpPr>
          <p:spPr>
            <a:xfrm>
              <a:off x="6053328" y="1005649"/>
              <a:ext cx="24688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</a:t>
              </a:r>
              <a:endParaRPr lang="en-US" sz="850" dirty="0"/>
            </a:p>
          </p:txBody>
        </p:sp>
        <p:sp>
          <p:nvSpPr>
            <p:cNvPr id="100" name="Text 72"/>
            <p:cNvSpPr/>
            <p:nvPr/>
          </p:nvSpPr>
          <p:spPr>
            <a:xfrm>
              <a:off x="5943600" y="868680"/>
              <a:ext cx="47548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660" dirty="0">
                  <a:solidFill>
                    <a:srgbClr val="1557A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profiles</a:t>
              </a:r>
              <a:endParaRPr lang="en-US" sz="660" dirty="0"/>
            </a:p>
          </p:txBody>
        </p:sp>
      </p:grpSp>
      <p:sp>
        <p:nvSpPr>
          <p:cNvPr id="101" name="Shape 73"/>
          <p:cNvSpPr/>
          <p:nvPr/>
        </p:nvSpPr>
        <p:spPr>
          <a:xfrm>
            <a:off x="4434840" y="3474720"/>
            <a:ext cx="0" cy="2340864"/>
          </a:xfrm>
          <a:prstGeom prst="line">
            <a:avLst/>
          </a:prstGeom>
          <a:noFill/>
          <a:ln w="17145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102" name="Shape 74"/>
          <p:cNvSpPr/>
          <p:nvPr/>
        </p:nvSpPr>
        <p:spPr>
          <a:xfrm>
            <a:off x="4187952" y="3840480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103" name="Text 75"/>
          <p:cNvSpPr/>
          <p:nvPr/>
        </p:nvSpPr>
        <p:spPr>
          <a:xfrm>
            <a:off x="4187952" y="3845052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04" name="Text 76"/>
          <p:cNvSpPr/>
          <p:nvPr/>
        </p:nvSpPr>
        <p:spPr>
          <a:xfrm>
            <a:off x="3401568" y="40782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3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placement record</a:t>
            </a:r>
            <a:endParaRPr lang="en-US" sz="630" dirty="0"/>
          </a:p>
          <a:p>
            <a:pPr marL="0" indent="0" algn="ctr">
              <a:buNone/>
            </a:pPr>
            <a:r>
              <a:rPr lang="en-US" sz="63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(G_j, sigma_j, theta_j)</a:t>
            </a:r>
            <a:endParaRPr lang="en-US" sz="630" dirty="0"/>
          </a:p>
        </p:txBody>
      </p:sp>
      <p:sp>
        <p:nvSpPr>
          <p:cNvPr id="105" name="Shape 77"/>
          <p:cNvSpPr/>
          <p:nvPr/>
        </p:nvSpPr>
        <p:spPr>
          <a:xfrm>
            <a:off x="1389888" y="3474720"/>
            <a:ext cx="0" cy="196596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06" name="Shape 78"/>
          <p:cNvSpPr/>
          <p:nvPr/>
        </p:nvSpPr>
        <p:spPr>
          <a:xfrm>
            <a:off x="1389888" y="5440680"/>
            <a:ext cx="5696712" cy="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07" name="Shape 79"/>
          <p:cNvSpPr/>
          <p:nvPr/>
        </p:nvSpPr>
        <p:spPr>
          <a:xfrm>
            <a:off x="7086600" y="5440680"/>
            <a:ext cx="0" cy="374904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108" name="Shape 80"/>
          <p:cNvSpPr/>
          <p:nvPr/>
        </p:nvSpPr>
        <p:spPr>
          <a:xfrm>
            <a:off x="1060704" y="4443984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109" name="Text 81"/>
          <p:cNvSpPr/>
          <p:nvPr/>
        </p:nvSpPr>
        <p:spPr>
          <a:xfrm>
            <a:off x="1060704" y="4448556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10" name="Text 82"/>
          <p:cNvSpPr/>
          <p:nvPr/>
        </p:nvSpPr>
        <p:spPr>
          <a:xfrm>
            <a:off x="1536192" y="48280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encrypted</a:t>
            </a:r>
            <a:endParaRPr lang="en-US" sz="68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C_j</a:t>
            </a:r>
            <a:endParaRPr lang="en-US" sz="680" dirty="0"/>
          </a:p>
        </p:txBody>
      </p:sp>
      <p:sp>
        <p:nvSpPr>
          <p:cNvPr id="111" name="Shape 83"/>
          <p:cNvSpPr/>
          <p:nvPr/>
        </p:nvSpPr>
        <p:spPr>
          <a:xfrm>
            <a:off x="2560320" y="2542032"/>
            <a:ext cx="137160" cy="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12" name="Shape 84"/>
          <p:cNvSpPr/>
          <p:nvPr/>
        </p:nvSpPr>
        <p:spPr>
          <a:xfrm>
            <a:off x="2697480" y="2542032"/>
            <a:ext cx="0" cy="1499616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13" name="Shape 85"/>
          <p:cNvSpPr/>
          <p:nvPr/>
        </p:nvSpPr>
        <p:spPr>
          <a:xfrm>
            <a:off x="2697480" y="4041648"/>
            <a:ext cx="4295851" cy="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</a:ln>
        </p:spPr>
      </p:sp>
      <p:sp>
        <p:nvSpPr>
          <p:cNvPr id="191" name="access-to-selected-group connector"/>
          <p:cNvSpPr/>
          <p:nvPr/>
        </p:nvSpPr>
        <p:spPr>
          <a:xfrm>
            <a:off x="6993331" y="2304288"/>
            <a:ext cx="0" cy="1737360"/>
          </a:xfrm>
          <a:prstGeom prst="line">
            <a:avLst/>
          </a:prstGeom>
          <a:noFill/>
          <a:ln w="15875">
            <a:solidFill>
              <a:srgbClr val="1557A6"/>
            </a:solidFill>
            <a:prstDash val="solid"/>
            <a:headEnd type="triangle"/>
          </a:ln>
        </p:spPr>
      </p:sp>
      <p:sp>
        <p:nvSpPr>
          <p:cNvPr id="115" name="Shape 87"/>
          <p:cNvSpPr/>
          <p:nvPr/>
        </p:nvSpPr>
        <p:spPr>
          <a:xfrm>
            <a:off x="6035040" y="4224528"/>
            <a:ext cx="246888" cy="246888"/>
          </a:xfrm>
          <a:prstGeom prst="ellipse">
            <a:avLst/>
          </a:prstGeom>
          <a:solidFill>
            <a:srgbClr val="1557A6"/>
          </a:solidFill>
          <a:ln w="12700">
            <a:solidFill>
              <a:srgbClr val="1557A6">
                <a:alpha val="0"/>
              </a:srgbClr>
            </a:solidFill>
            <a:prstDash val="solid"/>
          </a:ln>
        </p:spPr>
      </p:sp>
      <p:sp>
        <p:nvSpPr>
          <p:cNvPr id="116" name="Text 88"/>
          <p:cNvSpPr/>
          <p:nvPr/>
        </p:nvSpPr>
        <p:spPr>
          <a:xfrm>
            <a:off x="6510528" y="377190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17" name="Text 89"/>
          <p:cNvSpPr/>
          <p:nvPr/>
        </p:nvSpPr>
        <p:spPr>
          <a:xfrm>
            <a:off x="5559552" y="38221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55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packages e_i,j</a:t>
            </a:r>
            <a:endParaRPr lang="en-US" sz="650" dirty="0"/>
          </a:p>
        </p:txBody>
      </p:sp>
      <p:sp>
        <p:nvSpPr>
          <p:cNvPr id="118" name="Text 90"/>
          <p:cNvSpPr/>
          <p:nvPr/>
        </p:nvSpPr>
        <p:spPr>
          <a:xfrm>
            <a:off x="10047514" y="4209483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1F7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sigma_j and return y_j</a:t>
            </a:r>
            <a:endParaRPr lang="en-US" sz="680" dirty="0"/>
          </a:p>
        </p:txBody>
      </p:sp>
      <p:sp>
        <p:nvSpPr>
          <p:cNvPr id="119" name="Shape 91"/>
          <p:cNvSpPr/>
          <p:nvPr/>
        </p:nvSpPr>
        <p:spPr>
          <a:xfrm>
            <a:off x="713232" y="3474720"/>
            <a:ext cx="0" cy="1207008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</a:ln>
        </p:spPr>
      </p:sp>
      <p:sp>
        <p:nvSpPr>
          <p:cNvPr id="120" name="Shape 92"/>
          <p:cNvSpPr/>
          <p:nvPr/>
        </p:nvSpPr>
        <p:spPr>
          <a:xfrm>
            <a:off x="713232" y="4681728"/>
            <a:ext cx="4270248" cy="0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  <a:tailEnd type="triangle"/>
          </a:ln>
        </p:spPr>
      </p:sp>
      <p:sp>
        <p:nvSpPr>
          <p:cNvPr id="121" name="Shape 93"/>
          <p:cNvSpPr/>
          <p:nvPr/>
        </p:nvSpPr>
        <p:spPr>
          <a:xfrm>
            <a:off x="457200" y="4041648"/>
            <a:ext cx="246888" cy="246888"/>
          </a:xfrm>
          <a:prstGeom prst="ellipse">
            <a:avLst/>
          </a:prstGeom>
          <a:solidFill>
            <a:srgbClr val="C9252C"/>
          </a:solidFill>
          <a:ln w="12700">
            <a:solidFill>
              <a:srgbClr val="C9252C">
                <a:alpha val="0"/>
              </a:srgbClr>
            </a:solidFill>
            <a:prstDash val="solid"/>
          </a:ln>
        </p:spPr>
      </p:sp>
      <p:sp>
        <p:nvSpPr>
          <p:cNvPr id="122" name="Text 94"/>
          <p:cNvSpPr/>
          <p:nvPr/>
        </p:nvSpPr>
        <p:spPr>
          <a:xfrm>
            <a:off x="457200" y="404622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23" name="Text 95"/>
          <p:cNvSpPr/>
          <p:nvPr/>
        </p:nvSpPr>
        <p:spPr>
          <a:xfrm>
            <a:off x="502920" y="431596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680" dirty="0"/>
          </a:p>
        </p:txBody>
      </p:sp>
      <p:sp>
        <p:nvSpPr>
          <p:cNvPr id="124" name="Shape 96"/>
          <p:cNvSpPr/>
          <p:nvPr/>
        </p:nvSpPr>
        <p:spPr>
          <a:xfrm>
            <a:off x="9804197" y="2890418"/>
            <a:ext cx="0" cy="1791310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</a:ln>
        </p:spPr>
      </p:sp>
      <p:sp>
        <p:nvSpPr>
          <p:cNvPr id="125" name="Shape 97"/>
          <p:cNvSpPr/>
          <p:nvPr/>
        </p:nvSpPr>
        <p:spPr>
          <a:xfrm>
            <a:off x="6627571" y="4681728"/>
            <a:ext cx="3176626" cy="0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  <a:headEnd type="triangle"/>
          </a:ln>
        </p:spPr>
      </p:sp>
      <p:sp>
        <p:nvSpPr>
          <p:cNvPr id="126" name="Shape 98"/>
          <p:cNvSpPr/>
          <p:nvPr/>
        </p:nvSpPr>
        <p:spPr>
          <a:xfrm>
            <a:off x="10559578" y="4401602"/>
            <a:ext cx="246888" cy="246888"/>
          </a:xfrm>
          <a:prstGeom prst="ellipse">
            <a:avLst/>
          </a:prstGeom>
          <a:solidFill>
            <a:srgbClr val="C9252C"/>
          </a:solidFill>
          <a:ln w="12700">
            <a:solidFill>
              <a:srgbClr val="C9252C">
                <a:alpha val="0"/>
              </a:srgbClr>
            </a:solidFill>
            <a:prstDash val="solid"/>
          </a:ln>
        </p:spPr>
      </p:sp>
      <p:sp>
        <p:nvSpPr>
          <p:cNvPr id="127" name="Text 99"/>
          <p:cNvSpPr/>
          <p:nvPr/>
        </p:nvSpPr>
        <p:spPr>
          <a:xfrm>
            <a:off x="10559578" y="4406174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128" name="Text 100"/>
          <p:cNvSpPr/>
          <p:nvPr/>
        </p:nvSpPr>
        <p:spPr>
          <a:xfrm>
            <a:off x="10047514" y="470335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evidence E_j</a:t>
            </a:r>
            <a:endParaRPr lang="en-US" sz="650" dirty="0"/>
          </a:p>
        </p:txBody>
      </p:sp>
      <p:sp>
        <p:nvSpPr>
          <p:cNvPr id="129" name="Shape 101"/>
          <p:cNvSpPr/>
          <p:nvPr/>
        </p:nvSpPr>
        <p:spPr>
          <a:xfrm>
            <a:off x="6035040" y="5184648"/>
            <a:ext cx="0" cy="630936"/>
          </a:xfrm>
          <a:prstGeom prst="line">
            <a:avLst/>
          </a:prstGeom>
          <a:noFill/>
          <a:ln w="14605">
            <a:solidFill>
              <a:srgbClr val="C9252C"/>
            </a:solidFill>
            <a:prstDash val="dash"/>
            <a:tailEnd type="triangle"/>
          </a:ln>
        </p:spPr>
      </p:sp>
      <p:sp>
        <p:nvSpPr>
          <p:cNvPr id="130" name="Shape 102"/>
          <p:cNvSpPr/>
          <p:nvPr/>
        </p:nvSpPr>
        <p:spPr>
          <a:xfrm>
            <a:off x="5650992" y="5413248"/>
            <a:ext cx="246888" cy="246888"/>
          </a:xfrm>
          <a:prstGeom prst="ellipse">
            <a:avLst/>
          </a:prstGeom>
          <a:solidFill>
            <a:srgbClr val="C9252C"/>
          </a:solidFill>
          <a:ln w="12700">
            <a:solidFill>
              <a:srgbClr val="C9252C">
                <a:alpha val="0"/>
              </a:srgbClr>
            </a:solidFill>
            <a:prstDash val="solid"/>
          </a:ln>
        </p:spPr>
      </p:sp>
      <p:sp>
        <p:nvSpPr>
          <p:cNvPr id="131" name="Text 103"/>
          <p:cNvSpPr/>
          <p:nvPr/>
        </p:nvSpPr>
        <p:spPr>
          <a:xfrm>
            <a:off x="5650992" y="5417820"/>
            <a:ext cx="24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32" name="Text 104"/>
          <p:cNvSpPr/>
          <p:nvPr/>
        </p:nvSpPr>
        <p:spPr>
          <a:xfrm>
            <a:off x="4503419" y="55366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mismatch b*_j</a:t>
            </a:r>
            <a:endParaRPr lang="en-US" sz="650" dirty="0"/>
          </a:p>
          <a:p>
            <a:pPr marL="0" indent="0" algn="r">
              <a:buNone/>
            </a:pPr>
            <a:r>
              <a:rPr lang="en-US" sz="650" i="1" dirty="0">
                <a:solidFill>
                  <a:srgbClr val="C9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</a:t>
            </a:r>
            <a:endParaRPr lang="en-US" sz="650" dirty="0"/>
          </a:p>
        </p:txBody>
      </p:sp>
      <p:sp>
        <p:nvSpPr>
          <p:cNvPr id="133" name="Shape 105"/>
          <p:cNvSpPr/>
          <p:nvPr/>
        </p:nvSpPr>
        <p:spPr>
          <a:xfrm>
            <a:off x="3401568" y="7269480"/>
            <a:ext cx="731520" cy="0"/>
          </a:xfrm>
          <a:prstGeom prst="line">
            <a:avLst/>
          </a:prstGeom>
          <a:noFill/>
          <a:ln w="15240">
            <a:solidFill>
              <a:srgbClr val="1557A6"/>
            </a:solidFill>
            <a:prstDash val="solid"/>
            <a:tailEnd type="triangle"/>
          </a:ln>
        </p:spPr>
      </p:sp>
      <p:sp>
        <p:nvSpPr>
          <p:cNvPr id="134" name="Text 106"/>
          <p:cNvSpPr/>
          <p:nvPr/>
        </p:nvSpPr>
        <p:spPr>
          <a:xfrm>
            <a:off x="4251960" y="7187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path</a:t>
            </a:r>
            <a:endParaRPr lang="en-US" sz="720" dirty="0"/>
          </a:p>
        </p:txBody>
      </p:sp>
      <p:sp>
        <p:nvSpPr>
          <p:cNvPr id="135" name="Shape 107"/>
          <p:cNvSpPr/>
          <p:nvPr/>
        </p:nvSpPr>
        <p:spPr>
          <a:xfrm>
            <a:off x="6053328" y="7269480"/>
            <a:ext cx="731520" cy="0"/>
          </a:xfrm>
          <a:prstGeom prst="line">
            <a:avLst/>
          </a:prstGeom>
          <a:noFill/>
          <a:ln w="15240">
            <a:solidFill>
              <a:srgbClr val="C9252C"/>
            </a:solidFill>
            <a:prstDash val="dash"/>
            <a:tailEnd type="triangle"/>
          </a:ln>
        </p:spPr>
      </p:sp>
      <p:sp>
        <p:nvSpPr>
          <p:cNvPr id="136" name="Text 108"/>
          <p:cNvSpPr/>
          <p:nvPr/>
        </p:nvSpPr>
        <p:spPr>
          <a:xfrm>
            <a:off x="6903720" y="7187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1C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path</a:t>
            </a:r>
            <a:endParaRPr lang="en-US" sz="720" dirty="0"/>
          </a:p>
        </p:txBody>
      </p: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109C10DF-D645-C94B-22CF-DCF1AE474101}"/>
              </a:ext>
            </a:extLst>
          </p:cNvPr>
          <p:cNvGrpSpPr/>
          <p:nvPr/>
        </p:nvGrpSpPr>
        <p:grpSpPr>
          <a:xfrm>
            <a:off x="3293617" y="90932"/>
            <a:ext cx="2558414" cy="3246120"/>
            <a:chOff x="3316990" y="-1234440"/>
            <a:chExt cx="2558414" cy="3246120"/>
          </a:xfrm>
        </p:grpSpPr>
        <p:sp>
          <p:nvSpPr>
            <p:cNvPr id="20" name="Shape 13"/>
            <p:cNvSpPr/>
            <p:nvPr/>
          </p:nvSpPr>
          <p:spPr>
            <a:xfrm>
              <a:off x="3316990" y="-1234440"/>
              <a:ext cx="2546595" cy="3246120"/>
            </a:xfrm>
            <a:prstGeom prst="roundRect">
              <a:avLst>
                <a:gd name="adj" fmla="val 4444"/>
              </a:avLst>
            </a:prstGeom>
            <a:solidFill>
              <a:srgbClr val="FFF8ED"/>
            </a:solidFill>
            <a:ln w="16510">
              <a:solidFill>
                <a:srgbClr val="8A5A16"/>
              </a:solidFill>
              <a:prstDash val="solid"/>
            </a:ln>
          </p:spPr>
        </p:sp>
        <p:pic>
          <p:nvPicPr>
            <p:cNvPr id="21" name="Image 5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416803" y="-1053846"/>
              <a:ext cx="347472" cy="347472"/>
            </a:xfrm>
            <a:prstGeom prst="rect">
              <a:avLst/>
            </a:prstGeom>
          </p:spPr>
        </p:pic>
        <p:sp>
          <p:nvSpPr>
            <p:cNvPr id="22" name="Text 14"/>
            <p:cNvSpPr/>
            <p:nvPr/>
          </p:nvSpPr>
          <p:spPr>
            <a:xfrm>
              <a:off x="3756415" y="-1107000"/>
              <a:ext cx="1753297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Verification-aware </a:t>
              </a: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Orchestrator</a:t>
              </a:r>
              <a:endParaRPr lang="en-US" sz="1600" dirty="0"/>
            </a:p>
          </p:txBody>
        </p:sp>
        <p:sp>
          <p:nvSpPr>
            <p:cNvPr id="23" name="Text 15"/>
            <p:cNvSpPr/>
            <p:nvPr/>
          </p:nvSpPr>
          <p:spPr>
            <a:xfrm>
              <a:off x="3847851" y="-622560"/>
              <a:ext cx="17830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30" i="1" dirty="0">
                  <a:solidFill>
                    <a:srgbClr val="5F6C7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verification-aware control plane</a:t>
              </a:r>
              <a:endParaRPr lang="en-US" sz="830" dirty="0"/>
            </a:p>
          </p:txBody>
        </p:sp>
        <p:sp>
          <p:nvSpPr>
            <p:cNvPr id="24" name="Shape 16"/>
            <p:cNvSpPr/>
            <p:nvPr/>
          </p:nvSpPr>
          <p:spPr>
            <a:xfrm>
              <a:off x="3659889" y="-420624"/>
              <a:ext cx="1888697" cy="402110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10160">
              <a:solidFill>
                <a:srgbClr val="8A5A16"/>
              </a:solidFill>
              <a:prstDash val="solid"/>
            </a:ln>
          </p:spPr>
        </p:sp>
        <p:pic>
          <p:nvPicPr>
            <p:cNvPr id="25" name="Image 6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769618" y="-336042"/>
              <a:ext cx="256032" cy="256032"/>
            </a:xfrm>
            <a:prstGeom prst="rect">
              <a:avLst/>
            </a:prstGeom>
          </p:spPr>
        </p:pic>
        <p:sp>
          <p:nvSpPr>
            <p:cNvPr id="26" name="Text 17"/>
            <p:cNvSpPr/>
            <p:nvPr/>
          </p:nvSpPr>
          <p:spPr>
            <a:xfrm>
              <a:off x="4093929" y="-326705"/>
              <a:ext cx="1454658" cy="2369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provider discovery</a:t>
              </a:r>
              <a:endParaRPr lang="en-US" sz="1200" dirty="0"/>
            </a:p>
          </p:txBody>
        </p:sp>
        <p:sp>
          <p:nvSpPr>
            <p:cNvPr id="27" name="Shape 18"/>
            <p:cNvSpPr/>
            <p:nvPr/>
          </p:nvSpPr>
          <p:spPr>
            <a:xfrm>
              <a:off x="3659889" y="66294"/>
              <a:ext cx="1888691" cy="393192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10160">
              <a:solidFill>
                <a:srgbClr val="8A5A16"/>
              </a:solidFill>
              <a:prstDash val="solid"/>
            </a:ln>
          </p:spPr>
        </p:sp>
        <p:pic>
          <p:nvPicPr>
            <p:cNvPr id="28" name="Image 7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769618" y="166878"/>
              <a:ext cx="256032" cy="256032"/>
            </a:xfrm>
            <a:prstGeom prst="rect">
              <a:avLst/>
            </a:prstGeom>
          </p:spPr>
        </p:pic>
        <p:sp>
          <p:nvSpPr>
            <p:cNvPr id="29" name="Text 19"/>
            <p:cNvSpPr/>
            <p:nvPr/>
          </p:nvSpPr>
          <p:spPr>
            <a:xfrm>
              <a:off x="4098802" y="185513"/>
              <a:ext cx="11963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group selection</a:t>
              </a:r>
              <a:endParaRPr lang="en-US" sz="1200" dirty="0"/>
            </a:p>
          </p:txBody>
        </p:sp>
        <p:sp>
          <p:nvSpPr>
            <p:cNvPr id="30" name="Shape 20"/>
            <p:cNvSpPr/>
            <p:nvPr/>
          </p:nvSpPr>
          <p:spPr>
            <a:xfrm>
              <a:off x="3659890" y="569214"/>
              <a:ext cx="1888692" cy="393192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10160">
              <a:solidFill>
                <a:srgbClr val="8A5A16"/>
              </a:solidFill>
              <a:prstDash val="solid"/>
            </a:ln>
          </p:spPr>
        </p:sp>
        <p:pic>
          <p:nvPicPr>
            <p:cNvPr id="31" name="Image 8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769618" y="669798"/>
              <a:ext cx="256032" cy="256032"/>
            </a:xfrm>
            <a:prstGeom prst="rect">
              <a:avLst/>
            </a:prstGeom>
          </p:spPr>
        </p:pic>
        <p:sp>
          <p:nvSpPr>
            <p:cNvPr id="32" name="Text 21"/>
            <p:cNvSpPr/>
            <p:nvPr/>
          </p:nvSpPr>
          <p:spPr>
            <a:xfrm>
              <a:off x="4095501" y="695099"/>
              <a:ext cx="11049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shard mapping</a:t>
              </a:r>
              <a:endParaRPr lang="en-US" sz="1200" dirty="0"/>
            </a:p>
          </p:txBody>
        </p:sp>
        <p:sp>
          <p:nvSpPr>
            <p:cNvPr id="33" name="Shape 22"/>
            <p:cNvSpPr/>
            <p:nvPr/>
          </p:nvSpPr>
          <p:spPr>
            <a:xfrm>
              <a:off x="3659889" y="1072133"/>
              <a:ext cx="1888693" cy="471041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10160">
              <a:solidFill>
                <a:srgbClr val="8A5A16"/>
              </a:solidFill>
              <a:prstDash val="solid"/>
            </a:ln>
          </p:spPr>
        </p:sp>
        <p:pic>
          <p:nvPicPr>
            <p:cNvPr id="34" name="Image 9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769618" y="1172718"/>
              <a:ext cx="256032" cy="256032"/>
            </a:xfrm>
            <a:prstGeom prst="rect">
              <a:avLst/>
            </a:prstGeom>
          </p:spPr>
        </p:pic>
        <p:sp>
          <p:nvSpPr>
            <p:cNvPr id="35" name="Text 23"/>
            <p:cNvSpPr/>
            <p:nvPr/>
          </p:nvSpPr>
          <p:spPr>
            <a:xfrm>
              <a:off x="4095500" y="1226632"/>
              <a:ext cx="1779904" cy="2350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00" b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placement commitment</a:t>
              </a:r>
              <a:endParaRPr lang="en-US" sz="1000" dirty="0"/>
            </a:p>
          </p:txBody>
        </p:sp>
        <p:pic>
          <p:nvPicPr>
            <p:cNvPr id="36" name="Image 10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3753367" y="1656905"/>
              <a:ext cx="228600" cy="228600"/>
            </a:xfrm>
            <a:prstGeom prst="rect">
              <a:avLst/>
            </a:prstGeom>
          </p:spPr>
        </p:pic>
        <p:sp>
          <p:nvSpPr>
            <p:cNvPr id="37" name="Text 24"/>
            <p:cNvSpPr/>
            <p:nvPr/>
          </p:nvSpPr>
          <p:spPr>
            <a:xfrm>
              <a:off x="4025650" y="1723519"/>
              <a:ext cx="1389888" cy="1733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740" i="1" dirty="0">
                  <a:solidFill>
                    <a:srgbClr val="8A5A1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 task plaintext or access tuples</a:t>
              </a:r>
              <a:endParaRPr lang="en-US" sz="74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 27">
                  <a:extLst>
                    <a:ext uri="{FF2B5EF4-FFF2-40B4-BE49-F238E27FC236}">
                      <a16:creationId xmlns:a16="http://schemas.microsoft.com/office/drawing/2014/main" id="{04A66ED8-69F7-D55F-DB92-D751BE1B75B8}"/>
                    </a:ext>
                  </a:extLst>
                </p:cNvPr>
                <p:cNvSpPr/>
                <p:nvPr/>
              </p:nvSpPr>
              <p:spPr>
                <a:xfrm>
                  <a:off x="5246930" y="-896111"/>
                  <a:ext cx="301657" cy="189737"/>
                </a:xfrm>
                <a:prstGeom prst="rect">
                  <a:avLst/>
                </a:prstGeom>
                <a:noFill/>
                <a:ln/>
              </p:spPr>
              <p:txBody>
                <a:bodyPr wrap="square" lIns="45720" tIns="45720" rIns="45720" bIns="45720" rtlCol="0" anchor="t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rgbClr val="5F6C7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ptos" pitchFamily="34" charset="-120"/>
                          </a:rPr>
                          <m:t>𝒪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77" name="Text 27">
                  <a:extLst>
                    <a:ext uri="{FF2B5EF4-FFF2-40B4-BE49-F238E27FC236}">
                      <a16:creationId xmlns:a16="http://schemas.microsoft.com/office/drawing/2014/main" id="{04A66ED8-69F7-D55F-DB92-D751BE1B75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6930" y="-896111"/>
                  <a:ext cx="301657" cy="189737"/>
                </a:xfrm>
                <a:prstGeom prst="rect">
                  <a:avLst/>
                </a:prstGeom>
                <a:blipFill>
                  <a:blip r:embed="rId29"/>
                  <a:stretch>
                    <a:fillRect b="-61290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4ECD1CF6-8627-263F-3916-7D9556867320}"/>
              </a:ext>
            </a:extLst>
          </p:cNvPr>
          <p:cNvGrpSpPr/>
          <p:nvPr/>
        </p:nvGrpSpPr>
        <p:grpSpPr>
          <a:xfrm>
            <a:off x="116312" y="92599"/>
            <a:ext cx="2463629" cy="3235817"/>
            <a:chOff x="123823" y="163077"/>
            <a:chExt cx="2463629" cy="3235817"/>
          </a:xfrm>
        </p:grpSpPr>
        <p:sp>
          <p:nvSpPr>
            <p:cNvPr id="2" name="Shape 0"/>
            <p:cNvSpPr/>
            <p:nvPr/>
          </p:nvSpPr>
          <p:spPr>
            <a:xfrm>
              <a:off x="123823" y="163077"/>
              <a:ext cx="2463629" cy="3235817"/>
            </a:xfrm>
            <a:prstGeom prst="roundRect">
              <a:avLst>
                <a:gd name="adj" fmla="val 5490"/>
              </a:avLst>
            </a:prstGeom>
            <a:solidFill>
              <a:srgbClr val="F2F7FF"/>
            </a:solidFill>
            <a:ln w="16510">
              <a:solidFill>
                <a:srgbClr val="1557A6"/>
              </a:solidFill>
              <a:prstDash val="solid"/>
            </a:ln>
          </p:spPr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24629" y="334331"/>
              <a:ext cx="347472" cy="34747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891467" y="402336"/>
              <a:ext cx="1176383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557A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Requester</a:t>
              </a:r>
              <a:endParaRPr lang="en-US" sz="16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786384" y="707128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00" i="1" dirty="0">
                  <a:solidFill>
                    <a:srgbClr val="5F6C7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owns task plaintext</a:t>
              </a:r>
              <a:endParaRPr lang="en-US" sz="100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438912" y="932688"/>
              <a:ext cx="1856608" cy="475488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0160">
              <a:solidFill>
                <a:srgbClr val="1557A6"/>
              </a:solidFill>
              <a:prstDash val="solid"/>
            </a:ln>
          </p:spPr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532447" y="1030574"/>
              <a:ext cx="256032" cy="256032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821339" y="1004949"/>
              <a:ext cx="111290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557A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prepare task</a:t>
              </a:r>
              <a:endParaRPr lang="en-US" sz="12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820959" y="1197864"/>
              <a:ext cx="1396714" cy="1303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5F6C7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public descriptor only</a:t>
              </a:r>
              <a:endParaRPr lang="en-US" sz="100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438912" y="1527048"/>
              <a:ext cx="1856608" cy="475488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0160">
              <a:solidFill>
                <a:srgbClr val="1557A6"/>
              </a:solidFill>
              <a:prstDash val="solid"/>
            </a:ln>
          </p:spPr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548640" y="1627632"/>
              <a:ext cx="256032" cy="256032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821339" y="1628996"/>
              <a:ext cx="116890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557A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encrypt payload</a:t>
              </a:r>
              <a:endParaRPr lang="en-US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8"/>
                <p:cNvSpPr/>
                <p:nvPr/>
              </p:nvSpPr>
              <p:spPr>
                <a:xfrm>
                  <a:off x="801751" y="1801654"/>
                  <a:ext cx="806770" cy="12801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000" i="1" smtClean="0">
                                <a:solidFill>
                                  <a:srgbClr val="5F6C7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solidFill>
                                  <a:srgbClr val="5F6C78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000" i="1">
                                <a:solidFill>
                                  <a:srgbClr val="5F6C78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1000" b="0" i="1" smtClean="0">
                            <a:solidFill>
                              <a:srgbClr val="5F6C78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000" i="1">
                                <a:solidFill>
                                  <a:srgbClr val="5F6C7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solidFill>
                                  <a:srgbClr val="5F6C78"/>
                                </a:solidFill>
                                <a:latin typeface="Cambria Math" panose="02040503050406030204" pitchFamily="18" charset="0"/>
                              </a:rPr>
                              <m:t>𝐸𝑛𝑐</m:t>
                            </m:r>
                          </m:e>
                          <m:sub>
                            <m:r>
                              <a:rPr lang="en-US" altLang="zh-CN" sz="1000" i="1">
                                <a:solidFill>
                                  <a:srgbClr val="5F6C78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000" b="0" i="1" smtClean="0">
                            <a:solidFill>
                              <a:srgbClr val="5F6C78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000" b="0" i="1" smtClean="0">
                                <a:solidFill>
                                  <a:srgbClr val="5F6C7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solidFill>
                                  <a:srgbClr val="5F6C78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solidFill>
                                  <a:srgbClr val="5F6C78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1000" b="0" i="1" smtClean="0">
                            <a:solidFill>
                              <a:srgbClr val="5F6C78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3" name="Text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751" y="1801654"/>
                  <a:ext cx="806770" cy="128016"/>
                </a:xfrm>
                <a:prstGeom prst="rect">
                  <a:avLst/>
                </a:prstGeom>
                <a:blipFill>
                  <a:blip r:embed="rId33"/>
                  <a:stretch>
                    <a:fillRect l="-3030" t="-4762" r="-5303" b="-66667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Shape 9"/>
            <p:cNvSpPr/>
            <p:nvPr/>
          </p:nvSpPr>
          <p:spPr>
            <a:xfrm>
              <a:off x="438911" y="2121408"/>
              <a:ext cx="1856609" cy="493775"/>
            </a:xfrm>
            <a:prstGeom prst="roundRect">
              <a:avLst>
                <a:gd name="adj" fmla="val 12903"/>
              </a:avLst>
            </a:prstGeom>
            <a:solidFill>
              <a:srgbClr val="FFFFFF"/>
            </a:solidFill>
            <a:ln w="10160">
              <a:solidFill>
                <a:srgbClr val="1557A6"/>
              </a:solidFill>
              <a:prstDash val="solid"/>
            </a:ln>
          </p:spPr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48640" y="2221992"/>
              <a:ext cx="256032" cy="256032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836519" y="2226562"/>
              <a:ext cx="1235105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557A6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targeted access</a:t>
              </a:r>
              <a:endParaRPr lang="en-US" sz="12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11"/>
                <p:cNvSpPr/>
                <p:nvPr/>
              </p:nvSpPr>
              <p:spPr>
                <a:xfrm>
                  <a:off x="829661" y="2407113"/>
                  <a:ext cx="1442736" cy="162781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1000" dirty="0">
                      <a:solidFill>
                        <a:srgbClr val="5F6C7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release</a:t>
                  </a:r>
                  <a14:m>
                    <m:oMath xmlns:m="http://schemas.openxmlformats.org/officeDocument/2006/math">
                      <m:r>
                        <a:rPr lang="en-US" sz="1000" b="0" i="0" smtClean="0">
                          <a:solidFill>
                            <a:srgbClr val="5F6C78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 </m:t>
                      </m:r>
                      <m:sSub>
                        <m:sSubPr>
                          <m:ctrlPr>
                            <a:rPr lang="en-US" altLang="zh-CN" sz="1000" b="0" i="1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sz="1000" b="0" i="1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000" b="0" i="1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b="0" i="1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1000" b="0" i="1" smtClean="0">
                          <a:solidFill>
                            <a:srgbClr val="5F6C7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000" dirty="0">
                      <a:solidFill>
                        <a:srgbClr val="5F6C7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after commit</a:t>
                  </a:r>
                  <a:endParaRPr lang="en-US" sz="1000" dirty="0"/>
                </a:p>
              </p:txBody>
            </p:sp>
          </mc:Choice>
          <mc:Fallback xmlns="">
            <p:sp>
              <p:nvSpPr>
                <p:cNvPr id="17" name="Text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661" y="2407113"/>
                  <a:ext cx="1442736" cy="162781"/>
                </a:xfrm>
                <a:prstGeom prst="rect">
                  <a:avLst/>
                </a:prstGeom>
                <a:blipFill>
                  <a:blip r:embed="rId35"/>
                  <a:stretch>
                    <a:fillRect l="-5485" t="-22222" b="-44444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" name="Image 4" descr="preencoded.pn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347472" y="2748203"/>
              <a:ext cx="310896" cy="31089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12"/>
                <p:cNvSpPr/>
                <p:nvPr/>
              </p:nvSpPr>
              <p:spPr>
                <a:xfrm>
                  <a:off x="654713" y="2834641"/>
                  <a:ext cx="1705735" cy="2115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1000" dirty="0">
                      <a:solidFill>
                        <a:srgbClr val="5F6C7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outside access-tuple</a:t>
                  </a:r>
                  <a:r>
                    <a:rPr lang="en-US" sz="1000" dirty="0"/>
                    <a:t> </a:t>
                  </a:r>
                  <a:r>
                    <a:rPr lang="en-US" sz="1000" dirty="0">
                      <a:solidFill>
                        <a:srgbClr val="5F6C78"/>
                      </a:solidFill>
                      <a:latin typeface="Aptos" pitchFamily="34" charset="0"/>
                      <a:ea typeface="Aptos" pitchFamily="34" charset="-122"/>
                      <a:cs typeface="Aptos" pitchFamily="34" charset="-120"/>
                    </a:rPr>
                    <a:t>path of </a:t>
                  </a:r>
                  <a14:m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rgbClr val="5F6C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ptos" pitchFamily="34" charset="-120"/>
                        </a:rPr>
                        <m:t>𝒪</m:t>
                      </m:r>
                    </m:oMath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9" name="Text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713" y="2834641"/>
                  <a:ext cx="1705735" cy="211596"/>
                </a:xfrm>
                <a:prstGeom prst="rect">
                  <a:avLst/>
                </a:prstGeom>
                <a:blipFill>
                  <a:blip r:embed="rId37"/>
                  <a:stretch>
                    <a:fillRect l="-4643" t="-20000" r="-1429" b="-8571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 27">
                  <a:extLst>
                    <a:ext uri="{FF2B5EF4-FFF2-40B4-BE49-F238E27FC236}">
                      <a16:creationId xmlns:a16="http://schemas.microsoft.com/office/drawing/2014/main" id="{8C2E8BD5-C60C-1F40-90AB-59E14D0A75B7}"/>
                    </a:ext>
                  </a:extLst>
                </p:cNvPr>
                <p:cNvSpPr/>
                <p:nvPr/>
              </p:nvSpPr>
              <p:spPr>
                <a:xfrm>
                  <a:off x="1842040" y="357810"/>
                  <a:ext cx="301657" cy="189737"/>
                </a:xfrm>
                <a:prstGeom prst="rect">
                  <a:avLst/>
                </a:prstGeom>
                <a:noFill/>
                <a:ln/>
              </p:spPr>
              <p:txBody>
                <a:bodyPr wrap="square" lIns="45720" tIns="45720" rIns="45720" bIns="45720" rtlCol="0" anchor="t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dirty="0" smtClean="0">
                            <a:solidFill>
                              <a:srgbClr val="5F6C7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ptos" pitchFamily="34" charset="-120"/>
                          </a:rPr>
                          <m:t>ℛ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81" name="Text 27">
                  <a:extLst>
                    <a:ext uri="{FF2B5EF4-FFF2-40B4-BE49-F238E27FC236}">
                      <a16:creationId xmlns:a16="http://schemas.microsoft.com/office/drawing/2014/main" id="{8C2E8BD5-C60C-1F40-90AB-59E14D0A75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2040" y="357810"/>
                  <a:ext cx="301657" cy="189737"/>
                </a:xfrm>
                <a:prstGeom prst="rect">
                  <a:avLst/>
                </a:prstGeom>
                <a:blipFill>
                  <a:blip r:embed="rId38"/>
                  <a:stretch>
                    <a:fillRect t="-12903" r="-30000" b="-116129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 27">
                <a:extLst>
                  <a:ext uri="{FF2B5EF4-FFF2-40B4-BE49-F238E27FC236}">
                    <a16:creationId xmlns:a16="http://schemas.microsoft.com/office/drawing/2014/main" id="{B6434940-C28B-6C62-76FA-0B19236DB160}"/>
                  </a:ext>
                </a:extLst>
              </p:cNvPr>
              <p:cNvSpPr/>
              <p:nvPr/>
            </p:nvSpPr>
            <p:spPr>
              <a:xfrm>
                <a:off x="3824489" y="5973319"/>
                <a:ext cx="301657" cy="189737"/>
              </a:xfrm>
              <a:prstGeom prst="rect">
                <a:avLst/>
              </a:prstGeom>
              <a:noFill/>
              <a:ln/>
            </p:spPr>
            <p:txBody>
              <a:bodyPr wrap="square" lIns="45720" tIns="45720" rIns="45720" bIns="45720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5F6C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ptos" pitchFamily="34" charset="-120"/>
                        </a:rPr>
                        <m:t>ℒ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85" name="Text 27">
                <a:extLst>
                  <a:ext uri="{FF2B5EF4-FFF2-40B4-BE49-F238E27FC236}">
                    <a16:creationId xmlns:a16="http://schemas.microsoft.com/office/drawing/2014/main" id="{B6434940-C28B-6C62-76FA-0B19236DB1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489" y="5973319"/>
                <a:ext cx="301657" cy="189737"/>
              </a:xfrm>
              <a:prstGeom prst="rect">
                <a:avLst/>
              </a:prstGeom>
              <a:blipFill>
                <a:blip r:embed="rId39"/>
                <a:stretch>
                  <a:fillRect b="-612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 27">
                <a:extLst>
                  <a:ext uri="{FF2B5EF4-FFF2-40B4-BE49-F238E27FC236}">
                    <a16:creationId xmlns:a16="http://schemas.microsoft.com/office/drawing/2014/main" id="{6673FD4F-9CFB-7077-5CE8-3BE89A0D84CC}"/>
                  </a:ext>
                </a:extLst>
              </p:cNvPr>
              <p:cNvSpPr/>
              <p:nvPr/>
            </p:nvSpPr>
            <p:spPr>
              <a:xfrm>
                <a:off x="9524666" y="5947890"/>
                <a:ext cx="301657" cy="189737"/>
              </a:xfrm>
              <a:prstGeom prst="rect">
                <a:avLst/>
              </a:prstGeom>
              <a:noFill/>
              <a:ln/>
            </p:spPr>
            <p:txBody>
              <a:bodyPr wrap="square" lIns="45720" tIns="45720" rIns="45720" bIns="45720" rtlCol="0" anchor="t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5F6C7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ptos" pitchFamily="34" charset="-120"/>
                        </a:rPr>
                        <m:t>𝒟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86" name="Text 27">
                <a:extLst>
                  <a:ext uri="{FF2B5EF4-FFF2-40B4-BE49-F238E27FC236}">
                    <a16:creationId xmlns:a16="http://schemas.microsoft.com/office/drawing/2014/main" id="{6673FD4F-9CFB-7077-5CE8-3BE89A0D84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4666" y="5947890"/>
                <a:ext cx="301657" cy="189737"/>
              </a:xfrm>
              <a:prstGeom prst="rect">
                <a:avLst/>
              </a:prstGeom>
              <a:blipFill>
                <a:blip r:embed="rId40"/>
                <a:stretch>
                  <a:fillRect b="-612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Text 8">
                <a:extLst>
                  <a:ext uri="{FF2B5EF4-FFF2-40B4-BE49-F238E27FC236}">
                    <a16:creationId xmlns:a16="http://schemas.microsoft.com/office/drawing/2014/main" id="{49B9C26A-3F13-3810-DA8C-7CF7D286A60B}"/>
                  </a:ext>
                </a:extLst>
              </p:cNvPr>
              <p:cNvSpPr/>
              <p:nvPr/>
            </p:nvSpPr>
            <p:spPr>
              <a:xfrm>
                <a:off x="7843656" y="6660117"/>
                <a:ext cx="246888" cy="15801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720" i="1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720" b="0" i="1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720" i="1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720" dirty="0"/>
              </a:p>
            </p:txBody>
          </p:sp>
        </mc:Choice>
        <mc:Fallback xmlns="">
          <p:sp>
            <p:nvSpPr>
              <p:cNvPr id="189" name="Text 8">
                <a:extLst>
                  <a:ext uri="{FF2B5EF4-FFF2-40B4-BE49-F238E27FC236}">
                    <a16:creationId xmlns:a16="http://schemas.microsoft.com/office/drawing/2014/main" id="{49B9C26A-3F13-3810-DA8C-7CF7D286A6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656" y="6660117"/>
                <a:ext cx="246888" cy="158019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组合 46">
            <a:extLst>
              <a:ext uri="{FF2B5EF4-FFF2-40B4-BE49-F238E27FC236}">
                <a16:creationId xmlns:a16="http://schemas.microsoft.com/office/drawing/2014/main" id="{58490C0F-D89F-052A-7BBC-BBB57F7F8CBB}"/>
              </a:ext>
            </a:extLst>
          </p:cNvPr>
          <p:cNvGrpSpPr/>
          <p:nvPr/>
        </p:nvGrpSpPr>
        <p:grpSpPr>
          <a:xfrm>
            <a:off x="6925247" y="92599"/>
            <a:ext cx="4294539" cy="3244453"/>
            <a:chOff x="7418352" y="92599"/>
            <a:chExt cx="4294539" cy="3244453"/>
          </a:xfrm>
        </p:grpSpPr>
        <p:sp>
          <p:nvSpPr>
            <p:cNvPr id="38" name="Shape 25"/>
            <p:cNvSpPr/>
            <p:nvPr/>
          </p:nvSpPr>
          <p:spPr>
            <a:xfrm>
              <a:off x="7418352" y="92599"/>
              <a:ext cx="3230376" cy="3244453"/>
            </a:xfrm>
            <a:prstGeom prst="roundRect">
              <a:avLst>
                <a:gd name="adj" fmla="val 3457"/>
              </a:avLst>
            </a:prstGeom>
            <a:solidFill>
              <a:srgbClr val="F2FBF3"/>
            </a:solidFill>
            <a:ln w="16510">
              <a:solidFill>
                <a:srgbClr val="1F7A2E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0" name="Shape 34"/>
            <p:cNvSpPr/>
            <p:nvPr/>
          </p:nvSpPr>
          <p:spPr>
            <a:xfrm>
              <a:off x="9311795" y="2424175"/>
              <a:ext cx="984250" cy="466407"/>
            </a:xfrm>
            <a:prstGeom prst="roundRect">
              <a:avLst>
                <a:gd name="adj" fmla="val 11111"/>
              </a:avLst>
            </a:prstGeom>
            <a:solidFill>
              <a:srgbClr val="FFF3F4"/>
            </a:solidFill>
            <a:ln w="13970">
              <a:solidFill>
                <a:srgbClr val="C9252C"/>
              </a:solidFill>
              <a:prstDash val="solid"/>
            </a:ln>
          </p:spPr>
        </p:sp>
        <p:pic>
          <p:nvPicPr>
            <p:cNvPr id="51" name="Image 14" descr="preencoded.pn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9399679" y="2465642"/>
              <a:ext cx="310896" cy="310896"/>
            </a:xfrm>
            <a:prstGeom prst="rect">
              <a:avLst/>
            </a:prstGeom>
          </p:spPr>
        </p:pic>
        <p:sp>
          <p:nvSpPr>
            <p:cNvPr id="63" name="Shape 44"/>
            <p:cNvSpPr/>
            <p:nvPr/>
          </p:nvSpPr>
          <p:spPr>
            <a:xfrm>
              <a:off x="10965464" y="1251018"/>
              <a:ext cx="747427" cy="673702"/>
            </a:xfrm>
            <a:prstGeom prst="roundRect">
              <a:avLst>
                <a:gd name="adj" fmla="val 10256"/>
              </a:avLst>
            </a:prstGeom>
            <a:solidFill>
              <a:srgbClr val="F8FFF8"/>
            </a:solidFill>
            <a:ln w="11430">
              <a:solidFill>
                <a:srgbClr val="1F7A2E"/>
              </a:solidFill>
              <a:prstDash val="dash"/>
            </a:ln>
          </p:spPr>
        </p:sp>
        <p:sp>
          <p:nvSpPr>
            <p:cNvPr id="64" name="Text 45"/>
            <p:cNvSpPr/>
            <p:nvPr/>
          </p:nvSpPr>
          <p:spPr>
            <a:xfrm>
              <a:off x="10965464" y="1397703"/>
              <a:ext cx="705231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680" i="1" dirty="0">
                  <a:solidFill>
                    <a:srgbClr val="1F7A2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placement</a:t>
              </a:r>
              <a:endParaRPr lang="en-US" sz="680" dirty="0"/>
            </a:p>
            <a:p>
              <a:pPr marL="0" indent="0" algn="ctr">
                <a:buNone/>
              </a:pPr>
              <a:r>
                <a:rPr lang="en-US" sz="680" i="1" dirty="0">
                  <a:solidFill>
                    <a:srgbClr val="1F7A2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defines</a:t>
              </a:r>
              <a:endParaRPr lang="en-US" sz="680" dirty="0"/>
            </a:p>
            <a:p>
              <a:pPr marL="0" indent="0" algn="ctr">
                <a:buNone/>
              </a:pPr>
              <a:r>
                <a:rPr lang="en-US" sz="680" i="1" dirty="0">
                  <a:solidFill>
                    <a:srgbClr val="1F7A2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accountability</a:t>
              </a:r>
              <a:endParaRPr lang="en-US" sz="680" dirty="0"/>
            </a:p>
            <a:p>
              <a:pPr marL="0" indent="0" algn="ctr">
                <a:buNone/>
              </a:pPr>
              <a:r>
                <a:rPr lang="en-US" sz="680" i="1" dirty="0">
                  <a:solidFill>
                    <a:srgbClr val="1F7A2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boundary</a:t>
              </a:r>
              <a:endParaRPr lang="en-US" sz="680" dirty="0"/>
            </a:p>
          </p:txBody>
        </p:sp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77E556B1-8A21-9E15-4153-6DD41DC7C4D8}"/>
                </a:ext>
              </a:extLst>
            </p:cNvPr>
            <p:cNvGrpSpPr/>
            <p:nvPr/>
          </p:nvGrpSpPr>
          <p:grpSpPr>
            <a:xfrm>
              <a:off x="7674130" y="200971"/>
              <a:ext cx="2761694" cy="1883861"/>
              <a:chOff x="6958330" y="420427"/>
              <a:chExt cx="2761694" cy="1883861"/>
            </a:xfrm>
          </p:grpSpPr>
          <p:pic>
            <p:nvPicPr>
              <p:cNvPr id="39" name="Image 11" descr="preencoded.png"/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67874" y="498979"/>
                <a:ext cx="347472" cy="347472"/>
              </a:xfrm>
              <a:prstGeom prst="rect">
                <a:avLst/>
              </a:prstGeom>
            </p:spPr>
          </p:pic>
          <p:sp>
            <p:nvSpPr>
              <p:cNvPr id="40" name="Text 26"/>
              <p:cNvSpPr/>
              <p:nvPr/>
            </p:nvSpPr>
            <p:spPr>
              <a:xfrm>
                <a:off x="7827037" y="420427"/>
                <a:ext cx="1562941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1600" b="1" dirty="0">
                    <a:solidFill>
                      <a:srgbClr val="1F7A2E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Provider pool</a:t>
                </a:r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 27"/>
                  <p:cNvSpPr/>
                  <p:nvPr/>
                </p:nvSpPr>
                <p:spPr>
                  <a:xfrm>
                    <a:off x="7596767" y="659760"/>
                    <a:ext cx="1796829" cy="189737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ptos" pitchFamily="34" charset="-120"/>
                            </a:rPr>
                            <m:t>𝒫</m:t>
                          </m:r>
                          <m:r>
                            <a:rPr lang="en-US" sz="160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 = {</m:t>
                          </m:r>
                          <m:sSub>
                            <m:sSubPr>
                              <m:ctrlPr>
                                <a:rPr lang="en-US" altLang="zh-CN" sz="160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en-US" altLang="zh-CN" sz="160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60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}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41" name="Text 2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96767" y="659760"/>
                    <a:ext cx="1796829" cy="189737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 b="-74194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" name="Shape 28"/>
              <p:cNvSpPr/>
              <p:nvPr/>
            </p:nvSpPr>
            <p:spPr>
              <a:xfrm>
                <a:off x="6992906" y="970562"/>
                <a:ext cx="2678874" cy="1333726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12700">
                <a:solidFill>
                  <a:srgbClr val="1F7A2E"/>
                </a:solidFill>
                <a:prstDash val="dash"/>
              </a:ln>
            </p:spPr>
          </p:sp>
          <p:sp>
            <p:nvSpPr>
              <p:cNvPr id="43" name="Text 29"/>
              <p:cNvSpPr/>
              <p:nvPr/>
            </p:nvSpPr>
            <p:spPr>
              <a:xfrm>
                <a:off x="6958330" y="1043178"/>
                <a:ext cx="1930019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F7A2E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selected execution group</a:t>
                </a:r>
                <a:endParaRPr lang="en-US" sz="1200" dirty="0"/>
              </a:p>
            </p:txBody>
          </p:sp>
          <p:grpSp>
            <p:nvGrpSpPr>
              <p:cNvPr id="138" name="组合 137">
                <a:extLst>
                  <a:ext uri="{FF2B5EF4-FFF2-40B4-BE49-F238E27FC236}">
                    <a16:creationId xmlns:a16="http://schemas.microsoft.com/office/drawing/2014/main" id="{9B940E4F-7354-A3C7-BD71-235A947C60DF}"/>
                  </a:ext>
                </a:extLst>
              </p:cNvPr>
              <p:cNvGrpSpPr/>
              <p:nvPr/>
            </p:nvGrpSpPr>
            <p:grpSpPr>
              <a:xfrm>
                <a:off x="7131050" y="1417321"/>
                <a:ext cx="467614" cy="585216"/>
                <a:chOff x="7131050" y="1417321"/>
                <a:chExt cx="467614" cy="585216"/>
              </a:xfrm>
            </p:grpSpPr>
            <p:sp>
              <p:nvSpPr>
                <p:cNvPr id="44" name="Shape 30"/>
                <p:cNvSpPr/>
                <p:nvPr/>
              </p:nvSpPr>
              <p:spPr>
                <a:xfrm>
                  <a:off x="7131050" y="1417321"/>
                  <a:ext cx="467614" cy="585216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8FFF8"/>
                </a:solidFill>
                <a:ln w="13970">
                  <a:solidFill>
                    <a:srgbClr val="1F7A2E"/>
                  </a:solidFill>
                  <a:prstDash val="solid"/>
                </a:ln>
              </p:spPr>
            </p:sp>
            <p:pic>
              <p:nvPicPr>
                <p:cNvPr id="45" name="Image 12" descr="preencoded.png"/>
                <p:cNvPicPr>
                  <a:picLocks noChangeAspect="1"/>
                </p:cNvPicPr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05472" y="1472946"/>
                  <a:ext cx="310896" cy="31089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 31"/>
                    <p:cNvSpPr/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t"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950" dirty="0"/>
                    </a:p>
                  </p:txBody>
                </p:sp>
              </mc:Choice>
              <mc:Fallback xmlns="">
                <p:sp>
                  <p:nvSpPr>
                    <p:cNvPr id="46" name="Text 3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blipFill>
                      <a:blip r:embed="rId45"/>
                      <a:stretch>
                        <a:fillRect l="-5263" b="-3704"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5" name="Text 38"/>
              <p:cNvSpPr/>
              <p:nvPr/>
            </p:nvSpPr>
            <p:spPr>
              <a:xfrm>
                <a:off x="6987318" y="2075688"/>
                <a:ext cx="2651760" cy="137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740" i="1" dirty="0">
                    <a:solidFill>
                      <a:srgbClr val="1F7A2E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shard-boundary activations</a:t>
                </a:r>
                <a:endParaRPr lang="en-US" sz="74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Text 27">
                    <a:extLst>
                      <a:ext uri="{FF2B5EF4-FFF2-40B4-BE49-F238E27FC236}">
                        <a16:creationId xmlns:a16="http://schemas.microsoft.com/office/drawing/2014/main" id="{95525AE7-A23F-014B-5C89-1838760C9D47}"/>
                      </a:ext>
                    </a:extLst>
                  </p:cNvPr>
                  <p:cNvSpPr/>
                  <p:nvPr/>
                </p:nvSpPr>
                <p:spPr>
                  <a:xfrm>
                    <a:off x="8705135" y="1082041"/>
                    <a:ext cx="1014889" cy="189737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830" b="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ptos" pitchFamily="34" charset="-120"/>
                            </a:rPr>
                            <m:t>𝒢</m:t>
                          </m:r>
                          <m:r>
                            <a:rPr lang="en-US" sz="83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= {</m:t>
                          </m:r>
                          <m:sSub>
                            <m:sSubPr>
                              <m:ctrlPr>
                                <a:rPr lang="en-US" altLang="zh-CN" sz="83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3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83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83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83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3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83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83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83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30" i="1" dirty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830" b="0" i="1" dirty="0" smtClean="0">
                                  <a:solidFill>
                                    <a:srgbClr val="5F6C78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830" i="1" dirty="0" smtClean="0">
                              <a:solidFill>
                                <a:srgbClr val="5F6C78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}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>
              <p:sp>
                <p:nvSpPr>
                  <p:cNvPr id="137" name="Text 27">
                    <a:extLst>
                      <a:ext uri="{FF2B5EF4-FFF2-40B4-BE49-F238E27FC236}">
                        <a16:creationId xmlns:a16="http://schemas.microsoft.com/office/drawing/2014/main" id="{95525AE7-A23F-014B-5C89-1838760C9D4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5135" y="1082041"/>
                    <a:ext cx="1014889" cy="189737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 t="-3226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051D6E77-6883-EA7D-AB00-5208DFCFFD87}"/>
                  </a:ext>
                </a:extLst>
              </p:cNvPr>
              <p:cNvGrpSpPr/>
              <p:nvPr/>
            </p:nvGrpSpPr>
            <p:grpSpPr>
              <a:xfrm>
                <a:off x="8054594" y="1417476"/>
                <a:ext cx="467614" cy="585216"/>
                <a:chOff x="7131050" y="1417321"/>
                <a:chExt cx="467614" cy="585216"/>
              </a:xfrm>
            </p:grpSpPr>
            <p:sp>
              <p:nvSpPr>
                <p:cNvPr id="140" name="Shape 30">
                  <a:extLst>
                    <a:ext uri="{FF2B5EF4-FFF2-40B4-BE49-F238E27FC236}">
                      <a16:creationId xmlns:a16="http://schemas.microsoft.com/office/drawing/2014/main" id="{9E532B63-1338-F48E-29C6-199AE64965B9}"/>
                    </a:ext>
                  </a:extLst>
                </p:cNvPr>
                <p:cNvSpPr/>
                <p:nvPr/>
              </p:nvSpPr>
              <p:spPr>
                <a:xfrm>
                  <a:off x="7131050" y="1417321"/>
                  <a:ext cx="467614" cy="585216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8FFF8"/>
                </a:solidFill>
                <a:ln w="13970">
                  <a:solidFill>
                    <a:srgbClr val="1F7A2E"/>
                  </a:solidFill>
                  <a:prstDash val="solid"/>
                </a:ln>
              </p:spPr>
            </p:sp>
            <p:pic>
              <p:nvPicPr>
                <p:cNvPr id="141" name="Image 12" descr="preencoded.png">
                  <a:extLst>
                    <a:ext uri="{FF2B5EF4-FFF2-40B4-BE49-F238E27FC236}">
                      <a16:creationId xmlns:a16="http://schemas.microsoft.com/office/drawing/2014/main" id="{661A3500-0D4A-E9E7-7FBF-28DDE2703F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05472" y="1472946"/>
                  <a:ext cx="310896" cy="31089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Text 31">
                      <a:extLst>
                        <a:ext uri="{FF2B5EF4-FFF2-40B4-BE49-F238E27FC236}">
                          <a16:creationId xmlns:a16="http://schemas.microsoft.com/office/drawing/2014/main" id="{B3C3FFAF-66F6-A999-40B6-BD661DDBC6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t"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950" dirty="0"/>
                    </a:p>
                  </p:txBody>
                </p:sp>
              </mc:Choice>
              <mc:Fallback xmlns="">
                <p:sp>
                  <p:nvSpPr>
                    <p:cNvPr id="142" name="Text 31">
                      <a:extLst>
                        <a:ext uri="{FF2B5EF4-FFF2-40B4-BE49-F238E27FC236}">
                          <a16:creationId xmlns:a16="http://schemas.microsoft.com/office/drawing/2014/main" id="{B3C3FFAF-66F6-A999-40B6-BD661DDBC67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blipFill>
                      <a:blip r:embed="rId47"/>
                      <a:stretch>
                        <a:fillRect l="-2564" b="-7407"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43" name="组合 142">
                <a:extLst>
                  <a:ext uri="{FF2B5EF4-FFF2-40B4-BE49-F238E27FC236}">
                    <a16:creationId xmlns:a16="http://schemas.microsoft.com/office/drawing/2014/main" id="{9DE86988-5B36-BC0A-F86D-580A421C3A72}"/>
                  </a:ext>
                </a:extLst>
              </p:cNvPr>
              <p:cNvGrpSpPr/>
              <p:nvPr/>
            </p:nvGrpSpPr>
            <p:grpSpPr>
              <a:xfrm>
                <a:off x="9013952" y="1414366"/>
                <a:ext cx="467614" cy="585216"/>
                <a:chOff x="7131050" y="1417321"/>
                <a:chExt cx="467614" cy="585216"/>
              </a:xfrm>
            </p:grpSpPr>
            <p:sp>
              <p:nvSpPr>
                <p:cNvPr id="144" name="Shape 30">
                  <a:extLst>
                    <a:ext uri="{FF2B5EF4-FFF2-40B4-BE49-F238E27FC236}">
                      <a16:creationId xmlns:a16="http://schemas.microsoft.com/office/drawing/2014/main" id="{9C641A3E-39B9-18F6-603B-0BEBE0FA7431}"/>
                    </a:ext>
                  </a:extLst>
                </p:cNvPr>
                <p:cNvSpPr/>
                <p:nvPr/>
              </p:nvSpPr>
              <p:spPr>
                <a:xfrm>
                  <a:off x="7131050" y="1417321"/>
                  <a:ext cx="467614" cy="585216"/>
                </a:xfrm>
                <a:prstGeom prst="roundRect">
                  <a:avLst>
                    <a:gd name="adj" fmla="val 11111"/>
                  </a:avLst>
                </a:prstGeom>
                <a:solidFill>
                  <a:srgbClr val="F8FFF8"/>
                </a:solidFill>
                <a:ln w="13970">
                  <a:solidFill>
                    <a:srgbClr val="1F7A2E"/>
                  </a:solidFill>
                  <a:prstDash val="solid"/>
                </a:ln>
              </p:spPr>
            </p:sp>
            <p:pic>
              <p:nvPicPr>
                <p:cNvPr id="145" name="Image 12" descr="preencoded.png">
                  <a:extLst>
                    <a:ext uri="{FF2B5EF4-FFF2-40B4-BE49-F238E27FC236}">
                      <a16:creationId xmlns:a16="http://schemas.microsoft.com/office/drawing/2014/main" id="{0007A3DE-2282-D848-E4F8-14C50B82EB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05472" y="1472946"/>
                  <a:ext cx="310896" cy="31089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6" name="Text 31">
                      <a:extLst>
                        <a:ext uri="{FF2B5EF4-FFF2-40B4-BE49-F238E27FC236}">
                          <a16:creationId xmlns:a16="http://schemas.microsoft.com/office/drawing/2014/main" id="{E55151C0-5A1C-AE37-980B-D307569B04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t"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950" b="1" i="1" dirty="0" smtClean="0">
                                    <a:solidFill>
                                      <a:srgbClr val="1C263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950" dirty="0"/>
                    </a:p>
                  </p:txBody>
                </p:sp>
              </mc:Choice>
              <mc:Fallback xmlns="">
                <p:sp>
                  <p:nvSpPr>
                    <p:cNvPr id="146" name="Text 31">
                      <a:extLst>
                        <a:ext uri="{FF2B5EF4-FFF2-40B4-BE49-F238E27FC236}">
                          <a16:creationId xmlns:a16="http://schemas.microsoft.com/office/drawing/2014/main" id="{E55151C0-5A1C-AE37-980B-D307569B04A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64146" y="1792224"/>
                      <a:ext cx="233934" cy="164592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5263" b="-3704"/>
                      </a:stretch>
                    </a:blipFill>
                    <a:ln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48" name="直接箭头连接符 147">
                <a:extLst>
                  <a:ext uri="{FF2B5EF4-FFF2-40B4-BE49-F238E27FC236}">
                    <a16:creationId xmlns:a16="http://schemas.microsoft.com/office/drawing/2014/main" id="{E7AF8F9D-9E71-CCF2-5442-1D748AFD5D39}"/>
                  </a:ext>
                </a:extLst>
              </p:cNvPr>
              <p:cNvCxnSpPr>
                <a:stCxn id="44" idx="3"/>
                <a:endCxn id="140" idx="1"/>
              </p:cNvCxnSpPr>
              <p:nvPr/>
            </p:nvCxnSpPr>
            <p:spPr>
              <a:xfrm>
                <a:off x="7598664" y="1709929"/>
                <a:ext cx="455930" cy="155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箭头连接符 149">
                <a:extLst>
                  <a:ext uri="{FF2B5EF4-FFF2-40B4-BE49-F238E27FC236}">
                    <a16:creationId xmlns:a16="http://schemas.microsoft.com/office/drawing/2014/main" id="{A3883EE3-15D9-FFE6-4880-5CDB4F807551}"/>
                  </a:ext>
                </a:extLst>
              </p:cNvPr>
              <p:cNvCxnSpPr>
                <a:stCxn id="140" idx="3"/>
                <a:endCxn id="144" idx="1"/>
              </p:cNvCxnSpPr>
              <p:nvPr/>
            </p:nvCxnSpPr>
            <p:spPr>
              <a:xfrm flipV="1">
                <a:off x="8522208" y="1706974"/>
                <a:ext cx="491744" cy="311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headEnd type="stealth"/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397DCB8F-FB2B-0BA7-CAF8-9207F5903B76}"/>
                </a:ext>
              </a:extLst>
            </p:cNvPr>
            <p:cNvGrpSpPr/>
            <p:nvPr/>
          </p:nvGrpSpPr>
          <p:grpSpPr>
            <a:xfrm>
              <a:off x="7979946" y="2450147"/>
              <a:ext cx="574811" cy="712661"/>
              <a:chOff x="7264146" y="2669603"/>
              <a:chExt cx="574811" cy="712661"/>
            </a:xfrm>
          </p:grpSpPr>
          <p:sp>
            <p:nvSpPr>
              <p:cNvPr id="56" name="Shape 39"/>
              <p:cNvSpPr/>
              <p:nvPr/>
            </p:nvSpPr>
            <p:spPr>
              <a:xfrm>
                <a:off x="7264146" y="2669603"/>
                <a:ext cx="572262" cy="424684"/>
              </a:xfrm>
              <a:prstGeom prst="roundRect">
                <a:avLst>
                  <a:gd name="adj" fmla="val 14545"/>
                </a:avLst>
              </a:prstGeom>
              <a:solidFill>
                <a:srgbClr val="F6F7F8"/>
              </a:solidFill>
              <a:ln w="11430">
                <a:solidFill>
                  <a:srgbClr val="6F7782"/>
                </a:solidFill>
                <a:prstDash val="solid"/>
              </a:ln>
            </p:spPr>
          </p:sp>
          <p:pic>
            <p:nvPicPr>
              <p:cNvPr id="57" name="Image 15" descr="preencoded.png"/>
              <p:cNvPicPr>
                <a:picLocks noChangeAspect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282467" y="2718277"/>
                <a:ext cx="314800" cy="314800"/>
              </a:xfrm>
              <a:prstGeom prst="rect">
                <a:avLst/>
              </a:prstGeom>
            </p:spPr>
          </p:pic>
          <p:sp>
            <p:nvSpPr>
              <p:cNvPr id="62" name="Text 43"/>
              <p:cNvSpPr/>
              <p:nvPr/>
            </p:nvSpPr>
            <p:spPr>
              <a:xfrm>
                <a:off x="7318511" y="3129089"/>
                <a:ext cx="520446" cy="2531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740" i="1" dirty="0">
                    <a:solidFill>
                      <a:srgbClr val="6F7782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unselected </a:t>
                </a:r>
              </a:p>
              <a:p>
                <a:pPr marL="0" indent="0" algn="l">
                  <a:buNone/>
                </a:pPr>
                <a:r>
                  <a:rPr lang="en-US" sz="740" i="1" dirty="0">
                    <a:solidFill>
                      <a:srgbClr val="6F7782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(no access)</a:t>
                </a:r>
                <a:endParaRPr lang="en-US" sz="74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Text 31">
                    <a:extLst>
                      <a:ext uri="{FF2B5EF4-FFF2-40B4-BE49-F238E27FC236}">
                        <a16:creationId xmlns:a16="http://schemas.microsoft.com/office/drawing/2014/main" id="{D37A2CC8-DD75-7227-0998-FE025F5D5C1B}"/>
                      </a:ext>
                    </a:extLst>
                  </p:cNvPr>
                  <p:cNvSpPr/>
                  <p:nvPr/>
                </p:nvSpPr>
                <p:spPr>
                  <a:xfrm>
                    <a:off x="7564231" y="2805049"/>
                    <a:ext cx="233934" cy="164592"/>
                  </a:xfrm>
                  <a:prstGeom prst="rect">
                    <a:avLst/>
                  </a:prstGeom>
                  <a:noFill/>
                  <a:ln/>
                </p:spPr>
                <p:txBody>
                  <a:bodyPr wrap="square" lIns="0" tIns="0" rIns="0" bIns="0" rtlCol="0" anchor="t">
                    <a:normAutofit/>
                  </a:bodyPr>
                  <a:lstStyle/>
                  <a:p>
                    <a:pPr marL="0" indent="0" algn="ctr"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950" b="1" i="1" dirty="0" smtClean="0">
                                  <a:solidFill>
                                    <a:srgbClr val="1C263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950" b="1" i="1" dirty="0" smtClean="0">
                                  <a:solidFill>
                                    <a:srgbClr val="1C263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950" b="1" i="1" dirty="0" smtClean="0">
                                  <a:solidFill>
                                    <a:srgbClr val="1C263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sz="950" dirty="0"/>
                  </a:p>
                </p:txBody>
              </p:sp>
            </mc:Choice>
            <mc:Fallback xmlns="">
              <p:sp>
                <p:nvSpPr>
                  <p:cNvPr id="153" name="Text 31">
                    <a:extLst>
                      <a:ext uri="{FF2B5EF4-FFF2-40B4-BE49-F238E27FC236}">
                        <a16:creationId xmlns:a16="http://schemas.microsoft.com/office/drawing/2014/main" id="{D37A2CC8-DD75-7227-0998-FE025F5D5C1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64231" y="2805049"/>
                    <a:ext cx="233934" cy="16459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2632" b="-7407"/>
                    </a:stretch>
                  </a:blipFill>
                  <a:ln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 31">
                  <a:extLst>
                    <a:ext uri="{FF2B5EF4-FFF2-40B4-BE49-F238E27FC236}">
                      <a16:creationId xmlns:a16="http://schemas.microsoft.com/office/drawing/2014/main" id="{6E591DCA-0BEF-6581-94B3-76EA1C4844CF}"/>
                    </a:ext>
                  </a:extLst>
                </p:cNvPr>
                <p:cNvSpPr/>
                <p:nvPr/>
              </p:nvSpPr>
              <p:spPr>
                <a:xfrm>
                  <a:off x="9724545" y="2541905"/>
                  <a:ext cx="233934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>
                  <a:normAutofit/>
                </a:bodyPr>
                <a:lstStyle/>
                <a:p>
                  <a:pPr marL="0" indent="0"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950" b="1" i="1" dirty="0" smtClean="0">
                                <a:solidFill>
                                  <a:srgbClr val="1C263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950" b="1" i="1" dirty="0" smtClean="0">
                                <a:solidFill>
                                  <a:srgbClr val="1C263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  <m:sub>
                            <m:r>
                              <a:rPr lang="en-US" altLang="zh-CN" sz="950" b="1" i="1" dirty="0" smtClean="0">
                                <a:solidFill>
                                  <a:srgbClr val="1C263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en-US" sz="950" dirty="0"/>
                </a:p>
              </p:txBody>
            </p:sp>
          </mc:Choice>
          <mc:Fallback xmlns="">
            <p:sp>
              <p:nvSpPr>
                <p:cNvPr id="155" name="Text 31">
                  <a:extLst>
                    <a:ext uri="{FF2B5EF4-FFF2-40B4-BE49-F238E27FC236}">
                      <a16:creationId xmlns:a16="http://schemas.microsoft.com/office/drawing/2014/main" id="{6E591DCA-0BEF-6581-94B3-76EA1C4844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4545" y="2541905"/>
                  <a:ext cx="233934" cy="164592"/>
                </a:xfrm>
                <a:prstGeom prst="rect">
                  <a:avLst/>
                </a:prstGeom>
                <a:blipFill>
                  <a:blip r:embed="rId49"/>
                  <a:stretch>
                    <a:fillRect l="-5263" b="-3704"/>
                  </a:stretch>
                </a:blipFill>
                <a:ln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6" name="Text 100">
              <a:extLst>
                <a:ext uri="{FF2B5EF4-FFF2-40B4-BE49-F238E27FC236}">
                  <a16:creationId xmlns:a16="http://schemas.microsoft.com/office/drawing/2014/main" id="{9DC62E40-8E53-97AB-B794-9A5D0F2A56AC}"/>
                </a:ext>
              </a:extLst>
            </p:cNvPr>
            <p:cNvSpPr/>
            <p:nvPr/>
          </p:nvSpPr>
          <p:spPr>
            <a:xfrm>
              <a:off x="9229762" y="2963037"/>
              <a:ext cx="10789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altLang="zh-CN" sz="740" i="1" dirty="0">
                  <a:solidFill>
                    <a:srgbClr val="C9252C"/>
                  </a:solidFill>
                  <a:latin typeface="Aptos" pitchFamily="34" charset="0"/>
                </a:rPr>
                <a:t>wrong output / </a:t>
              </a:r>
            </a:p>
            <a:p>
              <a:pPr marL="0" indent="0" algn="ctr">
                <a:buNone/>
              </a:pPr>
              <a:r>
                <a:rPr lang="en-US" altLang="zh-CN" sz="740" i="1" dirty="0">
                  <a:solidFill>
                    <a:srgbClr val="C9252C"/>
                  </a:solidFill>
                  <a:latin typeface="Aptos" pitchFamily="34" charset="0"/>
                </a:rPr>
                <a:t>tampered boundary state </a:t>
              </a:r>
              <a:endParaRPr lang="en-US" sz="740" dirty="0"/>
            </a:p>
          </p:txBody>
        </p:sp>
        <p:sp>
          <p:nvSpPr>
            <p:cNvPr id="161" name="Text 100">
              <a:extLst>
                <a:ext uri="{FF2B5EF4-FFF2-40B4-BE49-F238E27FC236}">
                  <a16:creationId xmlns:a16="http://schemas.microsoft.com/office/drawing/2014/main" id="{EFEC151C-A60B-1ACF-0D0A-8C4C9437967D}"/>
                </a:ext>
              </a:extLst>
            </p:cNvPr>
            <p:cNvSpPr/>
            <p:nvPr/>
          </p:nvSpPr>
          <p:spPr>
            <a:xfrm>
              <a:off x="9255153" y="2756408"/>
              <a:ext cx="107899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altLang="zh-CN" sz="740" i="1" dirty="0">
                  <a:solidFill>
                    <a:srgbClr val="C9252C"/>
                  </a:solidFill>
                  <a:latin typeface="Aptos" pitchFamily="34" charset="0"/>
                </a:rPr>
                <a:t>faulty / malicious</a:t>
              </a:r>
              <a:endParaRPr lang="en-US" sz="740" dirty="0"/>
            </a:p>
          </p:txBody>
        </p:sp>
        <p:sp>
          <p:nvSpPr>
            <p:cNvPr id="165" name="Shape 34">
              <a:extLst>
                <a:ext uri="{FF2B5EF4-FFF2-40B4-BE49-F238E27FC236}">
                  <a16:creationId xmlns:a16="http://schemas.microsoft.com/office/drawing/2014/main" id="{BCFC0BF0-F0F8-4978-9886-0C3A31B629C7}"/>
                </a:ext>
              </a:extLst>
            </p:cNvPr>
            <p:cNvSpPr/>
            <p:nvPr/>
          </p:nvSpPr>
          <p:spPr>
            <a:xfrm>
              <a:off x="10965464" y="2286765"/>
              <a:ext cx="747427" cy="695706"/>
            </a:xfrm>
            <a:prstGeom prst="roundRect">
              <a:avLst>
                <a:gd name="adj" fmla="val 11111"/>
              </a:avLst>
            </a:prstGeom>
            <a:solidFill>
              <a:srgbClr val="FFF3F4"/>
            </a:solidFill>
            <a:ln w="13970">
              <a:solidFill>
                <a:srgbClr val="C9252C"/>
              </a:solidFill>
              <a:prstDash val="dash"/>
            </a:ln>
          </p:spPr>
        </p:sp>
        <p:sp>
          <p:nvSpPr>
            <p:cNvPr id="166" name="Text 100">
              <a:extLst>
                <a:ext uri="{FF2B5EF4-FFF2-40B4-BE49-F238E27FC236}">
                  <a16:creationId xmlns:a16="http://schemas.microsoft.com/office/drawing/2014/main" id="{6845089C-8C46-0802-A20C-E7F421CD8631}"/>
                </a:ext>
              </a:extLst>
            </p:cNvPr>
            <p:cNvSpPr/>
            <p:nvPr/>
          </p:nvSpPr>
          <p:spPr>
            <a:xfrm>
              <a:off x="11071779" y="2447118"/>
              <a:ext cx="595868" cy="3925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altLang="zh-CN" sz="740" i="1" dirty="0">
                  <a:solidFill>
                    <a:srgbClr val="C9252C"/>
                  </a:solidFill>
                  <a:latin typeface="Aptos" pitchFamily="34" charset="0"/>
                </a:rPr>
                <a:t>unselected providers do not receive access tuples</a:t>
              </a:r>
              <a:endParaRPr lang="en-US" sz="740" dirty="0"/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7E21DB7C-AA73-E3AB-F304-B707DC07258A}"/>
                </a:ext>
              </a:extLst>
            </p:cNvPr>
            <p:cNvCxnSpPr>
              <a:cxnSpLocks/>
              <a:stCxn id="63" idx="1"/>
            </p:cNvCxnSpPr>
            <p:nvPr/>
          </p:nvCxnSpPr>
          <p:spPr>
            <a:xfrm flipH="1">
              <a:off x="10651568" y="1587869"/>
              <a:ext cx="313896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BE002E32-816D-AEEB-ED0D-5F0555051EE1}"/>
                </a:ext>
              </a:extLst>
            </p:cNvPr>
            <p:cNvCxnSpPr>
              <a:cxnSpLocks/>
              <a:stCxn id="165" idx="1"/>
            </p:cNvCxnSpPr>
            <p:nvPr/>
          </p:nvCxnSpPr>
          <p:spPr>
            <a:xfrm flipH="1">
              <a:off x="10648728" y="2634618"/>
              <a:ext cx="316736" cy="0"/>
            </a:xfrm>
            <a:prstGeom prst="straightConnector1">
              <a:avLst/>
            </a:prstGeom>
            <a:ln>
              <a:solidFill>
                <a:srgbClr val="C00000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0" name="warning-triangle P5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9949716" y="2487154"/>
              <a:ext cx="256032" cy="2560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196</Words>
  <Application>Microsoft Office PowerPoint</Application>
  <PresentationFormat>自定义</PresentationFormat>
  <Paragraphs>77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Arial</vt:lpstr>
      <vt:lpstr>Cambria Math</vt:lpstr>
      <vt:lpstr>Office Theme</vt:lpstr>
      <vt:lpstr>PowerPoint 演示文稿</vt:lpstr>
    </vt:vector>
  </TitlesOfParts>
  <Company>Anonymous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VeriEdge system model and workflow</dc:title>
  <dc:subject>Figure 1 system workflow</dc:subject>
  <dc:creator>VeriEdge</dc:creator>
  <cp:lastModifiedBy>T. Wang</cp:lastModifiedBy>
  <cp:revision>11</cp:revision>
  <dcterms:created xsi:type="dcterms:W3CDTF">2026-05-05T15:07:10Z</dcterms:created>
  <dcterms:modified xsi:type="dcterms:W3CDTF">2026-05-06T11:27:32Z</dcterms:modified>
</cp:coreProperties>
</file>