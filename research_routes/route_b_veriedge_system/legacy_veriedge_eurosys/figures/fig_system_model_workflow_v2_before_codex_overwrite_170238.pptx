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344400" cy="7498080"/>
  <p:notesSz cx="7498080" cy="12344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331720" cy="3246120"/>
          </a:xfrm>
          <a:prstGeom prst="roundRect">
            <a:avLst>
              <a:gd name="adj" fmla="val 5490"/>
            </a:avLst>
          </a:prstGeom>
          <a:solidFill>
            <a:srgbClr val="F2F7FF"/>
          </a:solidFill>
          <a:ln w="16510">
            <a:solidFill>
              <a:srgbClr val="1557A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891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6696" y="4023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Requester 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96696" y="7132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5F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task plaintext</a:t>
            </a:r>
            <a:endParaRPr lang="en-US" sz="830" dirty="0"/>
          </a:p>
        </p:txBody>
      </p:sp>
      <p:sp>
        <p:nvSpPr>
          <p:cNvPr id="6" name="Shape 3"/>
          <p:cNvSpPr/>
          <p:nvPr/>
        </p:nvSpPr>
        <p:spPr>
          <a:xfrm>
            <a:off x="438912" y="932688"/>
            <a:ext cx="190195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1557A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33272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7824" y="10424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task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877824" y="125272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F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descriptor only</a:t>
            </a:r>
            <a:endParaRPr lang="en-US" sz="720" dirty="0"/>
          </a:p>
        </p:txBody>
      </p:sp>
      <p:sp>
        <p:nvSpPr>
          <p:cNvPr id="10" name="Shape 6"/>
          <p:cNvSpPr/>
          <p:nvPr/>
        </p:nvSpPr>
        <p:spPr>
          <a:xfrm>
            <a:off x="438912" y="1527048"/>
            <a:ext cx="190195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1557A6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2763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7824" y="1636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 payload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877824" y="184708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F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C_j = Enc_k(x_j)</a:t>
            </a:r>
            <a:endParaRPr lang="en-US" sz="720" dirty="0"/>
          </a:p>
        </p:txBody>
      </p:sp>
      <p:sp>
        <p:nvSpPr>
          <p:cNvPr id="14" name="Shape 9"/>
          <p:cNvSpPr/>
          <p:nvPr/>
        </p:nvSpPr>
        <p:spPr>
          <a:xfrm>
            <a:off x="438912" y="2121408"/>
            <a:ext cx="19019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1557A6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2199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7824" y="2231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access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877824" y="24414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F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e_i,j after commit</a:t>
            </a:r>
            <a:endParaRPr lang="en-US" sz="72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898648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04672" y="291693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F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outside access-tuple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5F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of O</a:t>
            </a:r>
            <a:endParaRPr lang="en-US" sz="720" dirty="0"/>
          </a:p>
        </p:txBody>
      </p:sp>
      <p:sp>
        <p:nvSpPr>
          <p:cNvPr id="20" name="Shape 13"/>
          <p:cNvSpPr/>
          <p:nvPr/>
        </p:nvSpPr>
        <p:spPr>
          <a:xfrm>
            <a:off x="2971800" y="228600"/>
            <a:ext cx="2880360" cy="3246120"/>
          </a:xfrm>
          <a:prstGeom prst="roundRect">
            <a:avLst>
              <a:gd name="adj" fmla="val 4444"/>
            </a:avLst>
          </a:prstGeom>
          <a:solidFill>
            <a:srgbClr val="FFF8ED"/>
          </a:solidFill>
          <a:ln w="16510">
            <a:solidFill>
              <a:srgbClr val="8A5A16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38912"/>
            <a:ext cx="347472" cy="34747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739896" y="4023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5A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Orchestrator O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3739896" y="7132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5F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verification-aware control plane</a:t>
            </a:r>
            <a:endParaRPr lang="en-US" sz="830" dirty="0"/>
          </a:p>
        </p:txBody>
      </p:sp>
      <p:sp>
        <p:nvSpPr>
          <p:cNvPr id="24" name="Shape 16"/>
          <p:cNvSpPr/>
          <p:nvPr/>
        </p:nvSpPr>
        <p:spPr>
          <a:xfrm>
            <a:off x="3218688" y="978408"/>
            <a:ext cx="2359152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0160">
            <a:solidFill>
              <a:srgbClr val="8A5A16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416" y="1078992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657600" y="10881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5A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discovery</a:t>
            </a:r>
            <a:endParaRPr lang="en-US" sz="850" dirty="0"/>
          </a:p>
        </p:txBody>
      </p:sp>
      <p:sp>
        <p:nvSpPr>
          <p:cNvPr id="27" name="Shape 18"/>
          <p:cNvSpPr/>
          <p:nvPr/>
        </p:nvSpPr>
        <p:spPr>
          <a:xfrm>
            <a:off x="3218688" y="1481328"/>
            <a:ext cx="2359152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0160">
            <a:solidFill>
              <a:srgbClr val="8A5A16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8416" y="1581912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657600" y="1591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5A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selection</a:t>
            </a:r>
            <a:endParaRPr lang="en-US" sz="850" dirty="0"/>
          </a:p>
        </p:txBody>
      </p:sp>
      <p:sp>
        <p:nvSpPr>
          <p:cNvPr id="30" name="Shape 20"/>
          <p:cNvSpPr/>
          <p:nvPr/>
        </p:nvSpPr>
        <p:spPr>
          <a:xfrm>
            <a:off x="3218688" y="1984248"/>
            <a:ext cx="2359152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0160">
            <a:solidFill>
              <a:srgbClr val="8A5A16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8416" y="2084832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3657600" y="20939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5A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shard mapping</a:t>
            </a:r>
            <a:endParaRPr lang="en-US" sz="850" dirty="0"/>
          </a:p>
        </p:txBody>
      </p:sp>
      <p:sp>
        <p:nvSpPr>
          <p:cNvPr id="33" name="Shape 22"/>
          <p:cNvSpPr/>
          <p:nvPr/>
        </p:nvSpPr>
        <p:spPr>
          <a:xfrm>
            <a:off x="3218688" y="2487168"/>
            <a:ext cx="2359152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0160">
            <a:solidFill>
              <a:srgbClr val="8A5A16"/>
            </a:solidFill>
            <a:prstDash val="solid"/>
          </a:ln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8416" y="2587752"/>
            <a:ext cx="256032" cy="25603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3657600" y="2596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5A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placement commitment</a:t>
            </a:r>
            <a:endParaRPr lang="en-US" sz="8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46120" y="3026664"/>
            <a:ext cx="228600" cy="22860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3529584" y="30266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i="1" dirty="0">
                <a:solidFill>
                  <a:srgbClr val="8A5A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task plaintext or access tuples</a:t>
            </a:r>
            <a:endParaRPr lang="en-US" sz="740" dirty="0"/>
          </a:p>
        </p:txBody>
      </p:sp>
      <p:sp>
        <p:nvSpPr>
          <p:cNvPr id="38" name="Shape 25"/>
          <p:cNvSpPr/>
          <p:nvPr/>
        </p:nvSpPr>
        <p:spPr>
          <a:xfrm>
            <a:off x="6400800" y="228600"/>
            <a:ext cx="5715000" cy="3703320"/>
          </a:xfrm>
          <a:prstGeom prst="roundRect">
            <a:avLst>
              <a:gd name="adj" fmla="val 3457"/>
            </a:avLst>
          </a:prstGeom>
          <a:solidFill>
            <a:srgbClr val="F2FBF3"/>
          </a:solidFill>
          <a:ln w="16510">
            <a:solidFill>
              <a:srgbClr val="1F7A2E"/>
            </a:solidFill>
            <a:prstDash val="solid"/>
          </a:ln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9984" y="438912"/>
            <a:ext cx="347472" cy="34747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7178040" y="40233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7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pool</a:t>
            </a:r>
            <a:endParaRPr lang="en-US" sz="1300" dirty="0"/>
          </a:p>
        </p:txBody>
      </p:sp>
      <p:sp>
        <p:nvSpPr>
          <p:cNvPr id="41" name="Text 27"/>
          <p:cNvSpPr/>
          <p:nvPr/>
        </p:nvSpPr>
        <p:spPr>
          <a:xfrm>
            <a:off x="7178040" y="71323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5F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{P1, ..., Pn}</a:t>
            </a:r>
            <a:endParaRPr lang="en-US" sz="830" dirty="0"/>
          </a:p>
        </p:txBody>
      </p:sp>
      <p:sp>
        <p:nvSpPr>
          <p:cNvPr id="42" name="Shape 28"/>
          <p:cNvSpPr/>
          <p:nvPr/>
        </p:nvSpPr>
        <p:spPr>
          <a:xfrm>
            <a:off x="6720840" y="960120"/>
            <a:ext cx="39776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F7A2E"/>
            </a:solidFill>
            <a:prstDash val="dash"/>
          </a:ln>
        </p:spPr>
      </p:sp>
      <p:sp>
        <p:nvSpPr>
          <p:cNvPr id="43" name="Text 29"/>
          <p:cNvSpPr/>
          <p:nvPr/>
        </p:nvSpPr>
        <p:spPr>
          <a:xfrm>
            <a:off x="6995160" y="106984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F7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execution group G_j = {P1, P2, P3}</a:t>
            </a:r>
            <a:endParaRPr lang="en-US" sz="860" dirty="0"/>
          </a:p>
        </p:txBody>
      </p:sp>
      <p:sp>
        <p:nvSpPr>
          <p:cNvPr id="44" name="Shape 30"/>
          <p:cNvSpPr/>
          <p:nvPr/>
        </p:nvSpPr>
        <p:spPr>
          <a:xfrm>
            <a:off x="6967728" y="1417320"/>
            <a:ext cx="822960" cy="658368"/>
          </a:xfrm>
          <a:prstGeom prst="roundRect">
            <a:avLst>
              <a:gd name="adj" fmla="val 11111"/>
            </a:avLst>
          </a:prstGeom>
          <a:solidFill>
            <a:srgbClr val="F8FFF8"/>
          </a:solidFill>
          <a:ln w="13970">
            <a:solidFill>
              <a:srgbClr val="1F7A2E"/>
            </a:solidFill>
            <a:prstDash val="solid"/>
          </a:ln>
        </p:spPr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05472" y="1499616"/>
            <a:ext cx="310896" cy="310896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6967728" y="18653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</a:t>
            </a:r>
            <a:endParaRPr lang="en-US" sz="950" dirty="0"/>
          </a:p>
        </p:txBody>
      </p:sp>
      <p:sp>
        <p:nvSpPr>
          <p:cNvPr id="47" name="Shape 32"/>
          <p:cNvSpPr/>
          <p:nvPr/>
        </p:nvSpPr>
        <p:spPr>
          <a:xfrm>
            <a:off x="8302752" y="1417320"/>
            <a:ext cx="822960" cy="658368"/>
          </a:xfrm>
          <a:prstGeom prst="roundRect">
            <a:avLst>
              <a:gd name="adj" fmla="val 11111"/>
            </a:avLst>
          </a:prstGeom>
          <a:solidFill>
            <a:srgbClr val="F8FFF8"/>
          </a:solidFill>
          <a:ln w="13970">
            <a:solidFill>
              <a:srgbClr val="1F7A2E"/>
            </a:solidFill>
            <a:prstDash val="solid"/>
          </a:ln>
        </p:spPr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40496" y="1499616"/>
            <a:ext cx="310896" cy="310896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8302752" y="18653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</a:t>
            </a:r>
            <a:endParaRPr lang="en-US" sz="950" dirty="0"/>
          </a:p>
        </p:txBody>
      </p:sp>
      <p:sp>
        <p:nvSpPr>
          <p:cNvPr id="50" name="Shape 34"/>
          <p:cNvSpPr/>
          <p:nvPr/>
        </p:nvSpPr>
        <p:spPr>
          <a:xfrm>
            <a:off x="9637776" y="1417320"/>
            <a:ext cx="822960" cy="658368"/>
          </a:xfrm>
          <a:prstGeom prst="roundRect">
            <a:avLst>
              <a:gd name="adj" fmla="val 11111"/>
            </a:avLst>
          </a:prstGeom>
          <a:solidFill>
            <a:srgbClr val="FFF3F4"/>
          </a:solidFill>
          <a:ln w="13970">
            <a:solidFill>
              <a:srgbClr val="C9252C"/>
            </a:solidFill>
            <a:prstDash val="solid"/>
          </a:ln>
        </p:spPr>
      </p:sp>
      <p:pic>
        <p:nvPicPr>
          <p:cNvPr id="5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75520" y="1499616"/>
            <a:ext cx="310896" cy="310896"/>
          </a:xfrm>
          <a:prstGeom prst="rect">
            <a:avLst/>
          </a:prstGeom>
        </p:spPr>
      </p:pic>
      <p:sp>
        <p:nvSpPr>
          <p:cNvPr id="52" name="Text 35"/>
          <p:cNvSpPr/>
          <p:nvPr/>
        </p:nvSpPr>
        <p:spPr>
          <a:xfrm>
            <a:off x="9637776" y="18653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P3</a:t>
            </a:r>
            <a:endParaRPr lang="en-US" sz="950" dirty="0"/>
          </a:p>
        </p:txBody>
      </p:sp>
      <p:sp>
        <p:nvSpPr>
          <p:cNvPr id="53" name="Shape 36"/>
          <p:cNvSpPr/>
          <p:nvPr/>
        </p:nvSpPr>
        <p:spPr>
          <a:xfrm>
            <a:off x="7790688" y="1737360"/>
            <a:ext cx="512064" cy="0"/>
          </a:xfrm>
          <a:prstGeom prst="line">
            <a:avLst/>
          </a:prstGeom>
          <a:noFill/>
          <a:ln w="12700">
            <a:solidFill>
              <a:srgbClr val="1C2630"/>
            </a:solidFill>
            <a:prstDash val="solid"/>
          </a:ln>
        </p:spPr>
      </p:sp>
      <p:sp>
        <p:nvSpPr>
          <p:cNvPr id="54" name="Shape 37"/>
          <p:cNvSpPr/>
          <p:nvPr/>
        </p:nvSpPr>
        <p:spPr>
          <a:xfrm>
            <a:off x="9125712" y="1737360"/>
            <a:ext cx="512064" cy="0"/>
          </a:xfrm>
          <a:prstGeom prst="line">
            <a:avLst/>
          </a:prstGeom>
          <a:noFill/>
          <a:ln w="12700">
            <a:solidFill>
              <a:srgbClr val="1C2630"/>
            </a:solidFill>
            <a:prstDash val="solid"/>
          </a:ln>
        </p:spPr>
      </p:sp>
      <p:sp>
        <p:nvSpPr>
          <p:cNvPr id="55" name="Text 38"/>
          <p:cNvSpPr/>
          <p:nvPr/>
        </p:nvSpPr>
        <p:spPr>
          <a:xfrm>
            <a:off x="7406640" y="22585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1F7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shard-boundary activations</a:t>
            </a:r>
            <a:endParaRPr lang="en-US" sz="740" dirty="0"/>
          </a:p>
        </p:txBody>
      </p:sp>
      <p:sp>
        <p:nvSpPr>
          <p:cNvPr id="56" name="Shape 39"/>
          <p:cNvSpPr/>
          <p:nvPr/>
        </p:nvSpPr>
        <p:spPr>
          <a:xfrm>
            <a:off x="7178040" y="2999232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6F7F8"/>
          </a:solidFill>
          <a:ln w="11430">
            <a:solidFill>
              <a:srgbClr val="6F7782"/>
            </a:solidFill>
            <a:prstDash val="solid"/>
          </a:ln>
        </p:spPr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33488" y="3081528"/>
            <a:ext cx="228600" cy="228600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7598664" y="3136392"/>
            <a:ext cx="329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F7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P4</a:t>
            </a:r>
            <a:endParaRPr lang="en-US" sz="860" dirty="0"/>
          </a:p>
        </p:txBody>
      </p:sp>
      <p:sp>
        <p:nvSpPr>
          <p:cNvPr id="59" name="Shape 41"/>
          <p:cNvSpPr/>
          <p:nvPr/>
        </p:nvSpPr>
        <p:spPr>
          <a:xfrm>
            <a:off x="8366760" y="2999232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6F7F8"/>
          </a:solidFill>
          <a:ln w="11430">
            <a:solidFill>
              <a:srgbClr val="6F7782"/>
            </a:solidFill>
            <a:prstDash val="solid"/>
          </a:ln>
        </p:spPr>
      </p:sp>
      <p:pic>
        <p:nvPicPr>
          <p:cNvPr id="6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22208" y="3081528"/>
            <a:ext cx="228600" cy="228600"/>
          </a:xfrm>
          <a:prstGeom prst="rect">
            <a:avLst/>
          </a:prstGeom>
        </p:spPr>
      </p:pic>
      <p:sp>
        <p:nvSpPr>
          <p:cNvPr id="61" name="Text 42"/>
          <p:cNvSpPr/>
          <p:nvPr/>
        </p:nvSpPr>
        <p:spPr>
          <a:xfrm>
            <a:off x="8787384" y="3136392"/>
            <a:ext cx="329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F7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</a:t>
            </a:r>
            <a:endParaRPr lang="en-US" sz="860" dirty="0"/>
          </a:p>
        </p:txBody>
      </p:sp>
      <p:sp>
        <p:nvSpPr>
          <p:cNvPr id="62" name="Text 43"/>
          <p:cNvSpPr/>
          <p:nvPr/>
        </p:nvSpPr>
        <p:spPr>
          <a:xfrm>
            <a:off x="9454896" y="299923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i="1" dirty="0">
                <a:solidFill>
                  <a:srgbClr val="6F7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unselected providers</a:t>
            </a:r>
            <a:endParaRPr lang="en-US" sz="740" dirty="0"/>
          </a:p>
          <a:p>
            <a:pPr algn="l" indent="0" marL="0">
              <a:buNone/>
            </a:pPr>
            <a:r>
              <a:rPr lang="en-US" sz="740" i="1" dirty="0">
                <a:solidFill>
                  <a:srgbClr val="6F7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(no access packages)</a:t>
            </a:r>
            <a:endParaRPr lang="en-US" sz="740" dirty="0"/>
          </a:p>
        </p:txBody>
      </p:sp>
      <p:sp>
        <p:nvSpPr>
          <p:cNvPr id="63" name="Shape 44"/>
          <p:cNvSpPr/>
          <p:nvPr/>
        </p:nvSpPr>
        <p:spPr>
          <a:xfrm>
            <a:off x="10899648" y="841248"/>
            <a:ext cx="960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1F7A2E"/>
            </a:solidFill>
            <a:prstDash val="dash"/>
          </a:ln>
        </p:spPr>
      </p:sp>
      <p:sp>
        <p:nvSpPr>
          <p:cNvPr id="64" name="Text 45"/>
          <p:cNvSpPr/>
          <p:nvPr/>
        </p:nvSpPr>
        <p:spPr>
          <a:xfrm>
            <a:off x="10972800" y="91440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1F7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placement</a:t>
            </a:r>
            <a:endParaRPr lang="en-US" sz="680" dirty="0"/>
          </a:p>
          <a:p>
            <a:pPr algn="ctr" indent="0" marL="0">
              <a:buNone/>
            </a:pPr>
            <a:r>
              <a:rPr lang="en-US" sz="680" i="1" dirty="0">
                <a:solidFill>
                  <a:srgbClr val="1F7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</a:t>
            </a:r>
            <a:endParaRPr lang="en-US" sz="680" dirty="0"/>
          </a:p>
          <a:p>
            <a:pPr algn="ctr" indent="0" marL="0">
              <a:buNone/>
            </a:pPr>
            <a:r>
              <a:rPr lang="en-US" sz="680" i="1" dirty="0">
                <a:solidFill>
                  <a:srgbClr val="1F7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</a:t>
            </a:r>
            <a:endParaRPr lang="en-US" sz="680" dirty="0"/>
          </a:p>
          <a:p>
            <a:pPr algn="ctr" indent="0" marL="0">
              <a:buNone/>
            </a:pPr>
            <a:r>
              <a:rPr lang="en-US" sz="680" i="1" dirty="0">
                <a:solidFill>
                  <a:srgbClr val="1F7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</a:t>
            </a:r>
            <a:endParaRPr lang="en-US" sz="680" dirty="0"/>
          </a:p>
        </p:txBody>
      </p:sp>
      <p:sp>
        <p:nvSpPr>
          <p:cNvPr id="65" name="Shape 46"/>
          <p:cNvSpPr/>
          <p:nvPr/>
        </p:nvSpPr>
        <p:spPr>
          <a:xfrm>
            <a:off x="502920" y="5815584"/>
            <a:ext cx="5943600" cy="1261872"/>
          </a:xfrm>
          <a:prstGeom prst="roundRect">
            <a:avLst>
              <a:gd name="adj" fmla="val 8696"/>
            </a:avLst>
          </a:prstGeom>
          <a:solidFill>
            <a:srgbClr val="F7F3FF"/>
          </a:solidFill>
          <a:ln w="15240">
            <a:solidFill>
              <a:srgbClr val="5B3B93"/>
            </a:solidFill>
            <a:prstDash val="solid"/>
          </a:ln>
        </p:spPr>
      </p:sp>
      <p:pic>
        <p:nvPicPr>
          <p:cNvPr id="6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9808" y="5989320"/>
            <a:ext cx="347472" cy="347472"/>
          </a:xfrm>
          <a:prstGeom prst="rect">
            <a:avLst/>
          </a:prstGeom>
        </p:spPr>
      </p:pic>
      <p:sp>
        <p:nvSpPr>
          <p:cNvPr id="67" name="Text 47"/>
          <p:cNvSpPr/>
          <p:nvPr/>
        </p:nvSpPr>
        <p:spPr>
          <a:xfrm>
            <a:off x="1170432" y="59801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5B3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/ Ledger L</a:t>
            </a:r>
            <a:endParaRPr lang="en-US" sz="1230" dirty="0"/>
          </a:p>
        </p:txBody>
      </p:sp>
      <p:sp>
        <p:nvSpPr>
          <p:cNvPr id="68" name="Shape 48"/>
          <p:cNvSpPr/>
          <p:nvPr/>
        </p:nvSpPr>
        <p:spPr>
          <a:xfrm>
            <a:off x="731520" y="6437376"/>
            <a:ext cx="117043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D8CCE9"/>
            </a:solidFill>
            <a:prstDash val="solid"/>
          </a:ln>
        </p:spPr>
      </p:sp>
      <p:pic>
        <p:nvPicPr>
          <p:cNvPr id="6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3816" y="6519672"/>
            <a:ext cx="201168" cy="201168"/>
          </a:xfrm>
          <a:prstGeom prst="rect">
            <a:avLst/>
          </a:prstGeom>
        </p:spPr>
      </p:pic>
      <p:sp>
        <p:nvSpPr>
          <p:cNvPr id="70" name="Text 49"/>
          <p:cNvSpPr/>
          <p:nvPr/>
        </p:nvSpPr>
        <p:spPr>
          <a:xfrm>
            <a:off x="1078992" y="65105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commitments</a:t>
            </a:r>
            <a:endParaRPr lang="en-US" sz="680" dirty="0"/>
          </a:p>
        </p:txBody>
      </p:sp>
      <p:sp>
        <p:nvSpPr>
          <p:cNvPr id="71" name="Shape 50"/>
          <p:cNvSpPr/>
          <p:nvPr/>
        </p:nvSpPr>
        <p:spPr>
          <a:xfrm>
            <a:off x="2121408" y="6437376"/>
            <a:ext cx="117043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D8CCE9"/>
            </a:solidFill>
            <a:prstDash val="solid"/>
          </a:ln>
        </p:spPr>
      </p:sp>
      <p:pic>
        <p:nvPicPr>
          <p:cNvPr id="7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03704" y="6519672"/>
            <a:ext cx="201168" cy="201168"/>
          </a:xfrm>
          <a:prstGeom prst="rect">
            <a:avLst/>
          </a:prstGeom>
        </p:spPr>
      </p:pic>
      <p:sp>
        <p:nvSpPr>
          <p:cNvPr id="73" name="Text 51"/>
          <p:cNvSpPr/>
          <p:nvPr/>
        </p:nvSpPr>
        <p:spPr>
          <a:xfrm>
            <a:off x="2468880" y="65105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escrow</a:t>
            </a:r>
            <a:endParaRPr lang="en-US" sz="680" dirty="0"/>
          </a:p>
        </p:txBody>
      </p:sp>
      <p:sp>
        <p:nvSpPr>
          <p:cNvPr id="74" name="Shape 52"/>
          <p:cNvSpPr/>
          <p:nvPr/>
        </p:nvSpPr>
        <p:spPr>
          <a:xfrm>
            <a:off x="3511296" y="6437376"/>
            <a:ext cx="117043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D8CCE9"/>
            </a:solidFill>
            <a:prstDash val="solid"/>
          </a:ln>
        </p:spPr>
      </p:sp>
      <p:pic>
        <p:nvPicPr>
          <p:cNvPr id="7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93592" y="6519672"/>
            <a:ext cx="201168" cy="201168"/>
          </a:xfrm>
          <a:prstGeom prst="rect">
            <a:avLst/>
          </a:prstGeom>
        </p:spPr>
      </p:pic>
      <p:sp>
        <p:nvSpPr>
          <p:cNvPr id="76" name="Text 53"/>
          <p:cNvSpPr/>
          <p:nvPr/>
        </p:nvSpPr>
        <p:spPr>
          <a:xfrm>
            <a:off x="3858768" y="65105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680" dirty="0"/>
          </a:p>
        </p:txBody>
      </p:sp>
      <p:sp>
        <p:nvSpPr>
          <p:cNvPr id="77" name="Shape 54"/>
          <p:cNvSpPr/>
          <p:nvPr/>
        </p:nvSpPr>
        <p:spPr>
          <a:xfrm>
            <a:off x="4901184" y="6437376"/>
            <a:ext cx="117043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D8CCE9"/>
            </a:solidFill>
            <a:prstDash val="solid"/>
          </a:ln>
        </p:spPr>
      </p:sp>
      <p:pic>
        <p:nvPicPr>
          <p:cNvPr id="7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83480" y="6519672"/>
            <a:ext cx="201168" cy="201168"/>
          </a:xfrm>
          <a:prstGeom prst="rect">
            <a:avLst/>
          </a:prstGeom>
        </p:spPr>
      </p:pic>
      <p:sp>
        <p:nvSpPr>
          <p:cNvPr id="79" name="Text 55"/>
          <p:cNvSpPr/>
          <p:nvPr/>
        </p:nvSpPr>
        <p:spPr>
          <a:xfrm>
            <a:off x="5248656" y="65105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</a:t>
            </a:r>
            <a:endParaRPr lang="en-US" sz="680" dirty="0"/>
          </a:p>
        </p:txBody>
      </p:sp>
      <p:sp>
        <p:nvSpPr>
          <p:cNvPr id="80" name="Shape 56"/>
          <p:cNvSpPr/>
          <p:nvPr/>
        </p:nvSpPr>
        <p:spPr>
          <a:xfrm>
            <a:off x="6812280" y="5815584"/>
            <a:ext cx="4892040" cy="1261872"/>
          </a:xfrm>
          <a:prstGeom prst="roundRect">
            <a:avLst>
              <a:gd name="adj" fmla="val 8696"/>
            </a:avLst>
          </a:prstGeom>
          <a:solidFill>
            <a:srgbClr val="F1F8FF"/>
          </a:solidFill>
          <a:ln w="15240">
            <a:solidFill>
              <a:srgbClr val="0B65A3"/>
            </a:solidFill>
            <a:prstDash val="solid"/>
          </a:ln>
        </p:spPr>
      </p:sp>
      <p:pic>
        <p:nvPicPr>
          <p:cNvPr id="8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086600" y="5980176"/>
            <a:ext cx="347472" cy="347472"/>
          </a:xfrm>
          <a:prstGeom prst="rect">
            <a:avLst/>
          </a:prstGeom>
        </p:spPr>
      </p:pic>
      <p:sp>
        <p:nvSpPr>
          <p:cNvPr id="82" name="Text 57"/>
          <p:cNvSpPr/>
          <p:nvPr/>
        </p:nvSpPr>
        <p:spPr>
          <a:xfrm>
            <a:off x="7498080" y="59801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65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Off-chain Data Store D</a:t>
            </a:r>
            <a:endParaRPr lang="en-US" sz="1230" dirty="0"/>
          </a:p>
        </p:txBody>
      </p:sp>
      <p:sp>
        <p:nvSpPr>
          <p:cNvPr id="83" name="Shape 58"/>
          <p:cNvSpPr/>
          <p:nvPr/>
        </p:nvSpPr>
        <p:spPr>
          <a:xfrm>
            <a:off x="7086600" y="6437376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8E1F5"/>
            </a:solidFill>
            <a:prstDash val="solid"/>
          </a:ln>
        </p:spPr>
      </p:sp>
      <p:pic>
        <p:nvPicPr>
          <p:cNvPr id="84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05472" y="6510528"/>
            <a:ext cx="219456" cy="219456"/>
          </a:xfrm>
          <a:prstGeom prst="rect">
            <a:avLst/>
          </a:prstGeom>
        </p:spPr>
      </p:pic>
      <p:sp>
        <p:nvSpPr>
          <p:cNvPr id="85" name="Text 59"/>
          <p:cNvSpPr/>
          <p:nvPr/>
        </p:nvSpPr>
        <p:spPr>
          <a:xfrm>
            <a:off x="7498080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encrypted task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C_j</a:t>
            </a:r>
            <a:endParaRPr lang="en-US" sz="680" dirty="0"/>
          </a:p>
        </p:txBody>
      </p:sp>
      <p:sp>
        <p:nvSpPr>
          <p:cNvPr id="86" name="Shape 60"/>
          <p:cNvSpPr/>
          <p:nvPr/>
        </p:nvSpPr>
        <p:spPr>
          <a:xfrm>
            <a:off x="9372600" y="6437376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8E1F5"/>
            </a:solidFill>
            <a:prstDash val="solid"/>
          </a:ln>
        </p:spPr>
      </p:sp>
      <p:pic>
        <p:nvPicPr>
          <p:cNvPr id="8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00616" y="6510528"/>
            <a:ext cx="219456" cy="219456"/>
          </a:xfrm>
          <a:prstGeom prst="rect">
            <a:avLst/>
          </a:prstGeom>
        </p:spPr>
      </p:pic>
      <p:sp>
        <p:nvSpPr>
          <p:cNvPr id="88" name="Text 61"/>
          <p:cNvSpPr/>
          <p:nvPr/>
        </p:nvSpPr>
        <p:spPr>
          <a:xfrm>
            <a:off x="9802368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680" dirty="0"/>
          </a:p>
        </p:txBody>
      </p:sp>
      <p:sp>
        <p:nvSpPr>
          <p:cNvPr id="89" name="Shape 62"/>
          <p:cNvSpPr/>
          <p:nvPr/>
        </p:nvSpPr>
        <p:spPr>
          <a:xfrm>
            <a:off x="4983480" y="4526280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5B3B93"/>
            </a:solidFill>
            <a:prstDash val="solid"/>
          </a:ln>
        </p:spPr>
      </p:sp>
      <p:pic>
        <p:nvPicPr>
          <p:cNvPr id="90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66360" y="4681728"/>
            <a:ext cx="256032" cy="256032"/>
          </a:xfrm>
          <a:prstGeom prst="rect">
            <a:avLst/>
          </a:prstGeom>
        </p:spPr>
      </p:pic>
      <p:sp>
        <p:nvSpPr>
          <p:cNvPr id="91" name="Text 63"/>
          <p:cNvSpPr/>
          <p:nvPr/>
        </p:nvSpPr>
        <p:spPr>
          <a:xfrm>
            <a:off x="5486400" y="47091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B3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Verify(E_j, pi_j, theta_j)</a:t>
            </a:r>
            <a:endParaRPr lang="en-US" sz="860" dirty="0"/>
          </a:p>
        </p:txBody>
      </p:sp>
      <p:sp>
        <p:nvSpPr>
          <p:cNvPr id="92" name="Text 64"/>
          <p:cNvSpPr/>
          <p:nvPr/>
        </p:nvSpPr>
        <p:spPr>
          <a:xfrm>
            <a:off x="5486400" y="49194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i="1" dirty="0">
                <a:solidFill>
                  <a:srgbClr val="5F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TSTC challenge verifier</a:t>
            </a:r>
            <a:endParaRPr lang="en-US" sz="680" dirty="0"/>
          </a:p>
        </p:txBody>
      </p:sp>
      <p:sp>
        <p:nvSpPr>
          <p:cNvPr id="93" name="Shape 65"/>
          <p:cNvSpPr/>
          <p:nvPr/>
        </p:nvSpPr>
        <p:spPr>
          <a:xfrm>
            <a:off x="2560320" y="1261872"/>
            <a:ext cx="411480" cy="0"/>
          </a:xfrm>
          <a:prstGeom prst="line">
            <a:avLst/>
          </a:prstGeom>
          <a:noFill/>
          <a:ln w="17780">
            <a:solidFill>
              <a:srgbClr val="1557A6"/>
            </a:solidFill>
            <a:prstDash val="solid"/>
            <a:tailEnd type="triangle"/>
          </a:ln>
        </p:spPr>
      </p:sp>
      <p:sp>
        <p:nvSpPr>
          <p:cNvPr id="94" name="Shape 66"/>
          <p:cNvSpPr/>
          <p:nvPr/>
        </p:nvSpPr>
        <p:spPr>
          <a:xfrm>
            <a:off x="2670048" y="978408"/>
            <a:ext cx="246888" cy="246888"/>
          </a:xfrm>
          <a:prstGeom prst="ellipse">
            <a:avLst/>
          </a:prstGeom>
          <a:solidFill>
            <a:srgbClr val="1557A6"/>
          </a:solidFill>
          <a:ln w="12700">
            <a:solidFill>
              <a:srgbClr val="1557A6">
                <a:alpha val="0"/>
              </a:srgbClr>
            </a:solidFill>
            <a:prstDash val="solid"/>
          </a:ln>
        </p:spPr>
      </p:sp>
      <p:sp>
        <p:nvSpPr>
          <p:cNvPr id="95" name="Text 67"/>
          <p:cNvSpPr/>
          <p:nvPr/>
        </p:nvSpPr>
        <p:spPr>
          <a:xfrm>
            <a:off x="2670048" y="98298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96" name="Text 68"/>
          <p:cNvSpPr/>
          <p:nvPr/>
        </p:nvSpPr>
        <p:spPr>
          <a:xfrm>
            <a:off x="2633472" y="84124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descriptor</a:t>
            </a:r>
            <a:endParaRPr lang="en-US" sz="660" dirty="0"/>
          </a:p>
        </p:txBody>
      </p:sp>
      <p:sp>
        <p:nvSpPr>
          <p:cNvPr id="97" name="Shape 69"/>
          <p:cNvSpPr/>
          <p:nvPr/>
        </p:nvSpPr>
        <p:spPr>
          <a:xfrm>
            <a:off x="6400800" y="1298448"/>
            <a:ext cx="-548640" cy="0"/>
          </a:xfrm>
          <a:prstGeom prst="line">
            <a:avLst/>
          </a:prstGeom>
          <a:noFill/>
          <a:ln w="17780">
            <a:solidFill>
              <a:srgbClr val="1557A6"/>
            </a:solidFill>
            <a:prstDash val="solid"/>
            <a:tailEnd type="triangle"/>
          </a:ln>
        </p:spPr>
      </p:sp>
      <p:sp>
        <p:nvSpPr>
          <p:cNvPr id="98" name="Shape 70"/>
          <p:cNvSpPr/>
          <p:nvPr/>
        </p:nvSpPr>
        <p:spPr>
          <a:xfrm>
            <a:off x="6053328" y="1014984"/>
            <a:ext cx="246888" cy="246888"/>
          </a:xfrm>
          <a:prstGeom prst="ellipse">
            <a:avLst/>
          </a:prstGeom>
          <a:solidFill>
            <a:srgbClr val="1557A6"/>
          </a:solidFill>
          <a:ln w="12700">
            <a:solidFill>
              <a:srgbClr val="1557A6">
                <a:alpha val="0"/>
              </a:srgbClr>
            </a:solidFill>
            <a:prstDash val="solid"/>
          </a:ln>
        </p:spPr>
      </p:sp>
      <p:sp>
        <p:nvSpPr>
          <p:cNvPr id="99" name="Text 71"/>
          <p:cNvSpPr/>
          <p:nvPr/>
        </p:nvSpPr>
        <p:spPr>
          <a:xfrm>
            <a:off x="6053328" y="1019556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00" name="Text 72"/>
          <p:cNvSpPr/>
          <p:nvPr/>
        </p:nvSpPr>
        <p:spPr>
          <a:xfrm>
            <a:off x="5943600" y="86868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profiles</a:t>
            </a:r>
            <a:endParaRPr lang="en-US" sz="660" dirty="0"/>
          </a:p>
        </p:txBody>
      </p:sp>
      <p:sp>
        <p:nvSpPr>
          <p:cNvPr id="101" name="Shape 73"/>
          <p:cNvSpPr/>
          <p:nvPr/>
        </p:nvSpPr>
        <p:spPr>
          <a:xfrm>
            <a:off x="4434840" y="3474720"/>
            <a:ext cx="0" cy="2340864"/>
          </a:xfrm>
          <a:prstGeom prst="line">
            <a:avLst/>
          </a:prstGeom>
          <a:noFill/>
          <a:ln w="17145">
            <a:solidFill>
              <a:srgbClr val="1557A6"/>
            </a:solidFill>
            <a:prstDash val="solid"/>
            <a:tailEnd type="triangle"/>
          </a:ln>
        </p:spPr>
      </p:sp>
      <p:sp>
        <p:nvSpPr>
          <p:cNvPr id="102" name="Shape 74"/>
          <p:cNvSpPr/>
          <p:nvPr/>
        </p:nvSpPr>
        <p:spPr>
          <a:xfrm>
            <a:off x="4187952" y="3840480"/>
            <a:ext cx="246888" cy="246888"/>
          </a:xfrm>
          <a:prstGeom prst="ellipse">
            <a:avLst/>
          </a:prstGeom>
          <a:solidFill>
            <a:srgbClr val="1557A6"/>
          </a:solidFill>
          <a:ln w="12700">
            <a:solidFill>
              <a:srgbClr val="1557A6">
                <a:alpha val="0"/>
              </a:srgbClr>
            </a:solidFill>
            <a:prstDash val="solid"/>
          </a:ln>
        </p:spPr>
      </p:sp>
      <p:sp>
        <p:nvSpPr>
          <p:cNvPr id="103" name="Text 75"/>
          <p:cNvSpPr/>
          <p:nvPr/>
        </p:nvSpPr>
        <p:spPr>
          <a:xfrm>
            <a:off x="4187952" y="3845052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04" name="Text 76"/>
          <p:cNvSpPr/>
          <p:nvPr/>
        </p:nvSpPr>
        <p:spPr>
          <a:xfrm>
            <a:off x="3401568" y="407822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placement record</a:t>
            </a:r>
            <a:endParaRPr lang="en-US" sz="63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(G_j, sigma_j, theta_j)</a:t>
            </a:r>
            <a:endParaRPr lang="en-US" sz="630" dirty="0"/>
          </a:p>
        </p:txBody>
      </p:sp>
      <p:sp>
        <p:nvSpPr>
          <p:cNvPr id="105" name="Shape 77"/>
          <p:cNvSpPr/>
          <p:nvPr/>
        </p:nvSpPr>
        <p:spPr>
          <a:xfrm>
            <a:off x="1389888" y="3474720"/>
            <a:ext cx="0" cy="1965960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</a:ln>
        </p:spPr>
      </p:sp>
      <p:sp>
        <p:nvSpPr>
          <p:cNvPr id="106" name="Shape 78"/>
          <p:cNvSpPr/>
          <p:nvPr/>
        </p:nvSpPr>
        <p:spPr>
          <a:xfrm>
            <a:off x="1389888" y="5440680"/>
            <a:ext cx="5696712" cy="0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</a:ln>
        </p:spPr>
      </p:sp>
      <p:sp>
        <p:nvSpPr>
          <p:cNvPr id="107" name="Shape 79"/>
          <p:cNvSpPr/>
          <p:nvPr/>
        </p:nvSpPr>
        <p:spPr>
          <a:xfrm>
            <a:off x="7086600" y="5440680"/>
            <a:ext cx="0" cy="374904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  <a:tailEnd type="triangle"/>
          </a:ln>
        </p:spPr>
      </p:sp>
      <p:sp>
        <p:nvSpPr>
          <p:cNvPr id="108" name="Shape 80"/>
          <p:cNvSpPr/>
          <p:nvPr/>
        </p:nvSpPr>
        <p:spPr>
          <a:xfrm>
            <a:off x="1060704" y="4443984"/>
            <a:ext cx="246888" cy="246888"/>
          </a:xfrm>
          <a:prstGeom prst="ellipse">
            <a:avLst/>
          </a:prstGeom>
          <a:solidFill>
            <a:srgbClr val="1557A6"/>
          </a:solidFill>
          <a:ln w="12700">
            <a:solidFill>
              <a:srgbClr val="1557A6">
                <a:alpha val="0"/>
              </a:srgbClr>
            </a:solidFill>
            <a:prstDash val="solid"/>
          </a:ln>
        </p:spPr>
      </p:sp>
      <p:sp>
        <p:nvSpPr>
          <p:cNvPr id="109" name="Text 81"/>
          <p:cNvSpPr/>
          <p:nvPr/>
        </p:nvSpPr>
        <p:spPr>
          <a:xfrm>
            <a:off x="1060704" y="4448556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110" name="Text 82"/>
          <p:cNvSpPr/>
          <p:nvPr/>
        </p:nvSpPr>
        <p:spPr>
          <a:xfrm>
            <a:off x="1536192" y="48280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encrypted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C_j</a:t>
            </a:r>
            <a:endParaRPr lang="en-US" sz="680" dirty="0"/>
          </a:p>
        </p:txBody>
      </p:sp>
      <p:sp>
        <p:nvSpPr>
          <p:cNvPr id="111" name="Shape 83"/>
          <p:cNvSpPr/>
          <p:nvPr/>
        </p:nvSpPr>
        <p:spPr>
          <a:xfrm>
            <a:off x="2560320" y="2542032"/>
            <a:ext cx="137160" cy="0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</a:ln>
        </p:spPr>
      </p:sp>
      <p:sp>
        <p:nvSpPr>
          <p:cNvPr id="112" name="Shape 84"/>
          <p:cNvSpPr/>
          <p:nvPr/>
        </p:nvSpPr>
        <p:spPr>
          <a:xfrm>
            <a:off x="2697480" y="2542032"/>
            <a:ext cx="0" cy="1499616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</a:ln>
        </p:spPr>
      </p:sp>
      <p:sp>
        <p:nvSpPr>
          <p:cNvPr id="113" name="Shape 85"/>
          <p:cNvSpPr/>
          <p:nvPr/>
        </p:nvSpPr>
        <p:spPr>
          <a:xfrm>
            <a:off x="2697480" y="4041648"/>
            <a:ext cx="4023360" cy="0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</a:ln>
        </p:spPr>
      </p:sp>
      <p:sp>
        <p:nvSpPr>
          <p:cNvPr id="114" name="Shape 86"/>
          <p:cNvSpPr/>
          <p:nvPr/>
        </p:nvSpPr>
        <p:spPr>
          <a:xfrm>
            <a:off x="6720840" y="4041648"/>
            <a:ext cx="0" cy="-1499616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  <a:tailEnd type="triangle"/>
          </a:ln>
        </p:spPr>
      </p:sp>
      <p:sp>
        <p:nvSpPr>
          <p:cNvPr id="115" name="Shape 87"/>
          <p:cNvSpPr/>
          <p:nvPr/>
        </p:nvSpPr>
        <p:spPr>
          <a:xfrm>
            <a:off x="6510528" y="3767328"/>
            <a:ext cx="246888" cy="246888"/>
          </a:xfrm>
          <a:prstGeom prst="ellipse">
            <a:avLst/>
          </a:prstGeom>
          <a:solidFill>
            <a:srgbClr val="1557A6"/>
          </a:solidFill>
          <a:ln w="12700">
            <a:solidFill>
              <a:srgbClr val="1557A6">
                <a:alpha val="0"/>
              </a:srgbClr>
            </a:solidFill>
            <a:prstDash val="solid"/>
          </a:ln>
        </p:spPr>
      </p:sp>
      <p:sp>
        <p:nvSpPr>
          <p:cNvPr id="116" name="Text 88"/>
          <p:cNvSpPr/>
          <p:nvPr/>
        </p:nvSpPr>
        <p:spPr>
          <a:xfrm>
            <a:off x="6510528" y="377190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117" name="Text 89"/>
          <p:cNvSpPr/>
          <p:nvPr/>
        </p:nvSpPr>
        <p:spPr>
          <a:xfrm>
            <a:off x="5559552" y="38221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packages e_i,j</a:t>
            </a:r>
            <a:endParaRPr lang="en-US" sz="650" dirty="0"/>
          </a:p>
        </p:txBody>
      </p:sp>
      <p:sp>
        <p:nvSpPr>
          <p:cNvPr id="118" name="Text 90"/>
          <p:cNvSpPr/>
          <p:nvPr/>
        </p:nvSpPr>
        <p:spPr>
          <a:xfrm>
            <a:off x="8229600" y="249631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1F7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sigma_j and return y_j</a:t>
            </a:r>
            <a:endParaRPr lang="en-US" sz="680" dirty="0"/>
          </a:p>
        </p:txBody>
      </p:sp>
      <p:sp>
        <p:nvSpPr>
          <p:cNvPr id="119" name="Shape 91"/>
          <p:cNvSpPr/>
          <p:nvPr/>
        </p:nvSpPr>
        <p:spPr>
          <a:xfrm>
            <a:off x="713232" y="3474720"/>
            <a:ext cx="0" cy="1207008"/>
          </a:xfrm>
          <a:prstGeom prst="line">
            <a:avLst/>
          </a:prstGeom>
          <a:noFill/>
          <a:ln w="14605">
            <a:solidFill>
              <a:srgbClr val="C9252C"/>
            </a:solidFill>
            <a:prstDash val="dash"/>
          </a:ln>
        </p:spPr>
      </p:sp>
      <p:sp>
        <p:nvSpPr>
          <p:cNvPr id="120" name="Shape 92"/>
          <p:cNvSpPr/>
          <p:nvPr/>
        </p:nvSpPr>
        <p:spPr>
          <a:xfrm>
            <a:off x="713232" y="4681728"/>
            <a:ext cx="4270248" cy="0"/>
          </a:xfrm>
          <a:prstGeom prst="line">
            <a:avLst/>
          </a:prstGeom>
          <a:noFill/>
          <a:ln w="14605">
            <a:solidFill>
              <a:srgbClr val="C9252C"/>
            </a:solidFill>
            <a:prstDash val="dash"/>
            <a:tailEnd type="triangle"/>
          </a:ln>
        </p:spPr>
      </p:sp>
      <p:sp>
        <p:nvSpPr>
          <p:cNvPr id="121" name="Shape 93"/>
          <p:cNvSpPr/>
          <p:nvPr/>
        </p:nvSpPr>
        <p:spPr>
          <a:xfrm>
            <a:off x="457200" y="4041648"/>
            <a:ext cx="246888" cy="246888"/>
          </a:xfrm>
          <a:prstGeom prst="ellipse">
            <a:avLst/>
          </a:prstGeom>
          <a:solidFill>
            <a:srgbClr val="C9252C"/>
          </a:solidFill>
          <a:ln w="12700">
            <a:solidFill>
              <a:srgbClr val="C9252C">
                <a:alpha val="0"/>
              </a:srgbClr>
            </a:solidFill>
            <a:prstDash val="solid"/>
          </a:ln>
        </p:spPr>
      </p:sp>
      <p:sp>
        <p:nvSpPr>
          <p:cNvPr id="122" name="Text 94"/>
          <p:cNvSpPr/>
          <p:nvPr/>
        </p:nvSpPr>
        <p:spPr>
          <a:xfrm>
            <a:off x="457200" y="404622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123" name="Text 95"/>
          <p:cNvSpPr/>
          <p:nvPr/>
        </p:nvSpPr>
        <p:spPr>
          <a:xfrm>
            <a:off x="502920" y="431596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i="1" dirty="0">
                <a:solidFill>
                  <a:srgbClr val="C9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</a:t>
            </a:r>
            <a:endParaRPr lang="en-US" sz="680" dirty="0"/>
          </a:p>
        </p:txBody>
      </p:sp>
      <p:sp>
        <p:nvSpPr>
          <p:cNvPr id="124" name="Shape 96"/>
          <p:cNvSpPr/>
          <p:nvPr/>
        </p:nvSpPr>
        <p:spPr>
          <a:xfrm>
            <a:off x="10058400" y="2057400"/>
            <a:ext cx="0" cy="2167128"/>
          </a:xfrm>
          <a:prstGeom prst="line">
            <a:avLst/>
          </a:prstGeom>
          <a:noFill/>
          <a:ln w="14605">
            <a:solidFill>
              <a:srgbClr val="C9252C"/>
            </a:solidFill>
            <a:prstDash val="dash"/>
          </a:ln>
        </p:spPr>
      </p:sp>
      <p:sp>
        <p:nvSpPr>
          <p:cNvPr id="125" name="Shape 97"/>
          <p:cNvSpPr/>
          <p:nvPr/>
        </p:nvSpPr>
        <p:spPr>
          <a:xfrm>
            <a:off x="10058400" y="4224528"/>
            <a:ext cx="-2971800" cy="457200"/>
          </a:xfrm>
          <a:prstGeom prst="line">
            <a:avLst/>
          </a:prstGeom>
          <a:noFill/>
          <a:ln w="14605">
            <a:solidFill>
              <a:srgbClr val="C9252C"/>
            </a:solidFill>
            <a:prstDash val="dash"/>
            <a:tailEnd type="triangle"/>
          </a:ln>
        </p:spPr>
      </p:sp>
      <p:sp>
        <p:nvSpPr>
          <p:cNvPr id="126" name="Shape 98"/>
          <p:cNvSpPr/>
          <p:nvPr/>
        </p:nvSpPr>
        <p:spPr>
          <a:xfrm>
            <a:off x="9765792" y="3685032"/>
            <a:ext cx="246888" cy="246888"/>
          </a:xfrm>
          <a:prstGeom prst="ellipse">
            <a:avLst/>
          </a:prstGeom>
          <a:solidFill>
            <a:srgbClr val="C9252C"/>
          </a:solidFill>
          <a:ln w="12700">
            <a:solidFill>
              <a:srgbClr val="C9252C">
                <a:alpha val="0"/>
              </a:srgbClr>
            </a:solidFill>
            <a:prstDash val="solid"/>
          </a:ln>
        </p:spPr>
      </p:sp>
      <p:sp>
        <p:nvSpPr>
          <p:cNvPr id="127" name="Text 99"/>
          <p:cNvSpPr/>
          <p:nvPr/>
        </p:nvSpPr>
        <p:spPr>
          <a:xfrm>
            <a:off x="9765792" y="3689604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128" name="Text 100"/>
          <p:cNvSpPr/>
          <p:nvPr/>
        </p:nvSpPr>
        <p:spPr>
          <a:xfrm>
            <a:off x="9253728" y="398678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C9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 evidence E_j</a:t>
            </a:r>
            <a:endParaRPr lang="en-US" sz="650" dirty="0"/>
          </a:p>
        </p:txBody>
      </p:sp>
      <p:sp>
        <p:nvSpPr>
          <p:cNvPr id="129" name="Shape 101"/>
          <p:cNvSpPr/>
          <p:nvPr/>
        </p:nvSpPr>
        <p:spPr>
          <a:xfrm>
            <a:off x="6035040" y="5184648"/>
            <a:ext cx="0" cy="630936"/>
          </a:xfrm>
          <a:prstGeom prst="line">
            <a:avLst/>
          </a:prstGeom>
          <a:noFill/>
          <a:ln w="14605">
            <a:solidFill>
              <a:srgbClr val="C9252C"/>
            </a:solidFill>
            <a:prstDash val="dash"/>
            <a:tailEnd type="triangle"/>
          </a:ln>
        </p:spPr>
      </p:sp>
      <p:sp>
        <p:nvSpPr>
          <p:cNvPr id="130" name="Shape 102"/>
          <p:cNvSpPr/>
          <p:nvPr/>
        </p:nvSpPr>
        <p:spPr>
          <a:xfrm>
            <a:off x="5650992" y="5413248"/>
            <a:ext cx="246888" cy="246888"/>
          </a:xfrm>
          <a:prstGeom prst="ellipse">
            <a:avLst/>
          </a:prstGeom>
          <a:solidFill>
            <a:srgbClr val="C9252C"/>
          </a:solidFill>
          <a:ln w="12700">
            <a:solidFill>
              <a:srgbClr val="C9252C">
                <a:alpha val="0"/>
              </a:srgbClr>
            </a:solidFill>
            <a:prstDash val="solid"/>
          </a:ln>
        </p:spPr>
      </p:sp>
      <p:sp>
        <p:nvSpPr>
          <p:cNvPr id="131" name="Text 103"/>
          <p:cNvSpPr/>
          <p:nvPr/>
        </p:nvSpPr>
        <p:spPr>
          <a:xfrm>
            <a:off x="5650992" y="541782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132" name="Text 104"/>
          <p:cNvSpPr/>
          <p:nvPr/>
        </p:nvSpPr>
        <p:spPr>
          <a:xfrm>
            <a:off x="4590288" y="53949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C9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mismatch b*_j</a:t>
            </a:r>
            <a:endParaRPr lang="en-US" sz="650" dirty="0"/>
          </a:p>
          <a:p>
            <a:pPr algn="r" indent="0" marL="0">
              <a:buNone/>
            </a:pPr>
            <a:r>
              <a:rPr lang="en-US" sz="650" i="1" dirty="0">
                <a:solidFill>
                  <a:srgbClr val="C9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</a:t>
            </a:r>
            <a:endParaRPr lang="en-US" sz="650" dirty="0"/>
          </a:p>
        </p:txBody>
      </p:sp>
      <p:sp>
        <p:nvSpPr>
          <p:cNvPr id="133" name="Shape 105"/>
          <p:cNvSpPr/>
          <p:nvPr/>
        </p:nvSpPr>
        <p:spPr>
          <a:xfrm>
            <a:off x="3401568" y="7269480"/>
            <a:ext cx="731520" cy="0"/>
          </a:xfrm>
          <a:prstGeom prst="line">
            <a:avLst/>
          </a:prstGeom>
          <a:noFill/>
          <a:ln w="15240">
            <a:solidFill>
              <a:srgbClr val="1557A6"/>
            </a:solidFill>
            <a:prstDash val="solid"/>
            <a:tailEnd type="triangle"/>
          </a:ln>
        </p:spPr>
      </p:sp>
      <p:sp>
        <p:nvSpPr>
          <p:cNvPr id="134" name="Text 106"/>
          <p:cNvSpPr/>
          <p:nvPr/>
        </p:nvSpPr>
        <p:spPr>
          <a:xfrm>
            <a:off x="4251960" y="7187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Routine path</a:t>
            </a:r>
            <a:endParaRPr lang="en-US" sz="720" dirty="0"/>
          </a:p>
        </p:txBody>
      </p:sp>
      <p:sp>
        <p:nvSpPr>
          <p:cNvPr id="135" name="Shape 107"/>
          <p:cNvSpPr/>
          <p:nvPr/>
        </p:nvSpPr>
        <p:spPr>
          <a:xfrm>
            <a:off x="6053328" y="7269480"/>
            <a:ext cx="731520" cy="0"/>
          </a:xfrm>
          <a:prstGeom prst="line">
            <a:avLst/>
          </a:prstGeom>
          <a:noFill/>
          <a:ln w="15240">
            <a:solidFill>
              <a:srgbClr val="C9252C"/>
            </a:solidFill>
            <a:prstDash val="dash"/>
            <a:tailEnd type="triangle"/>
          </a:ln>
        </p:spPr>
      </p:sp>
      <p:sp>
        <p:nvSpPr>
          <p:cNvPr id="136" name="Text 108"/>
          <p:cNvSpPr/>
          <p:nvPr/>
        </p:nvSpPr>
        <p:spPr>
          <a:xfrm>
            <a:off x="6903720" y="7187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 path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Anonymous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VeriEdge system model and workflow</dc:title>
  <dc:subject>Figure 1 system workflow</dc:subject>
  <dc:creator>VeriEdge</dc:creator>
  <cp:lastModifiedBy>VeriEdge</cp:lastModifiedBy>
  <cp:revision>1</cp:revision>
  <dcterms:created xsi:type="dcterms:W3CDTF">2026-05-05T15:07:10Z</dcterms:created>
  <dcterms:modified xsi:type="dcterms:W3CDTF">2026-05-05T15:07:10Z</dcterms:modified>
</cp:coreProperties>
</file>