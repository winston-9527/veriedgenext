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72800" cy="7543800"/>
  <p:notesSz cx="75438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4.png"/><Relationship Id="rId7" Type="http://schemas.openxmlformats.org/officeDocument/2006/relationships/image" Target="../media/image-1-7.png"/><Relationship Id="rId8" Type="http://schemas.openxmlformats.org/officeDocument/2006/relationships/image" Target="../media/image-1-4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20040"/>
            <a:ext cx="9930384" cy="1627632"/>
          </a:xfrm>
          <a:prstGeom prst="roundRect">
            <a:avLst>
              <a:gd name="adj" fmla="val 6742"/>
            </a:avLst>
          </a:prstGeom>
          <a:solidFill>
            <a:srgbClr val="FFF5EF">
              <a:alpha val="90000"/>
            </a:srgbClr>
          </a:solidFill>
          <a:ln w="12065">
            <a:solidFill>
              <a:srgbClr val="F05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6683" y="173736"/>
            <a:ext cx="3177723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9930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metadata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" y="2267712"/>
            <a:ext cx="10497312" cy="4315968"/>
          </a:xfrm>
          <a:prstGeom prst="roundRect">
            <a:avLst>
              <a:gd name="adj" fmla="val 2542"/>
            </a:avLst>
          </a:prstGeom>
          <a:solidFill>
            <a:srgbClr val="F4F8FF">
              <a:alpha val="90000"/>
            </a:srgbClr>
          </a:solidFill>
          <a:ln w="12065">
            <a:solidFill>
              <a:srgbClr val="0B4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830" y="2121408"/>
            <a:ext cx="335914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2148840"/>
            <a:ext cx="10497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Selective-delivery data plane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566928"/>
            <a:ext cx="217627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C:\Users\postm\Dropbox\ProjectsWorkingSpace\VeriEdge\paper1_veriedge\img\icons\figure2_tight\icon_allocation_commit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3909" y="658368"/>
            <a:ext cx="313302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00600" y="658368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group G_j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23360" y="1325880"/>
            <a:ext cx="24505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F05A24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C:\Users\postm\Dropbox\ProjectsWorkingSpace\VeriEdge\paper1_veriedge\img\icons\figure2_tight\icon_result_trace_commit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227" y="1417320"/>
            <a:ext cx="300345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1417320"/>
            <a:ext cx="170078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payload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05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438912" y="3182112"/>
            <a:ext cx="1170432" cy="1371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3970">
            <a:solidFill>
              <a:srgbClr val="0B4DBB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C:\Users\postm\Dropbox\ProjectsWorkingSpace\VeriEdge\paper1_veriedge\img\icons\figure2_tight\icon_reque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13" y="3401568"/>
            <a:ext cx="629941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" y="4005072"/>
            <a:ext cx="9875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331720" y="278892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3005425"/>
            <a:ext cx="438912" cy="3899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026664" y="2880360"/>
            <a:ext cx="1115568" cy="3127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payload</a:t>
            </a:r>
            <a:endParaRPr lang="en-US" sz="880" dirty="0"/>
          </a:p>
        </p:txBody>
      </p:sp>
      <p:sp>
        <p:nvSpPr>
          <p:cNvPr id="20" name="Text 14"/>
          <p:cNvSpPr/>
          <p:nvPr/>
        </p:nvSpPr>
        <p:spPr>
          <a:xfrm>
            <a:off x="3026664" y="3241548"/>
            <a:ext cx="11155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C_j = E_sym(k_j,m_j)</a:t>
            </a:r>
            <a:endParaRPr lang="en-US" sz="710" dirty="0"/>
          </a:p>
        </p:txBody>
      </p:sp>
      <p:sp>
        <p:nvSpPr>
          <p:cNvPr id="21" name="Shape 15"/>
          <p:cNvSpPr/>
          <p:nvPr/>
        </p:nvSpPr>
        <p:spPr>
          <a:xfrm>
            <a:off x="4892040" y="2788920"/>
            <a:ext cx="175564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C:\Users\postm\Dropbox\ProjectsWorkingSpace\VeriEdge\paper1_veriedge\img\icons\figure2_tight\icon_ipfs_stor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951" y="2980944"/>
            <a:ext cx="40912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86984" y="2880360"/>
            <a:ext cx="950976" cy="3127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/ storage</a:t>
            </a:r>
            <a:endParaRPr lang="en-US" sz="870" dirty="0"/>
          </a:p>
        </p:txBody>
      </p:sp>
      <p:sp>
        <p:nvSpPr>
          <p:cNvPr id="24" name="Text 17"/>
          <p:cNvSpPr/>
          <p:nvPr/>
        </p:nvSpPr>
        <p:spPr>
          <a:xfrm>
            <a:off x="5586984" y="3241548"/>
            <a:ext cx="9509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ciphertext object</a:t>
            </a:r>
            <a:endParaRPr lang="en-US" sz="710" dirty="0"/>
          </a:p>
        </p:txBody>
      </p:sp>
      <p:sp>
        <p:nvSpPr>
          <p:cNvPr id="25" name="Shape 18"/>
          <p:cNvSpPr/>
          <p:nvPr/>
        </p:nvSpPr>
        <p:spPr>
          <a:xfrm>
            <a:off x="2395728" y="4407408"/>
            <a:ext cx="193852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3744" y="4623913"/>
            <a:ext cx="438912" cy="3899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090672" y="4498848"/>
            <a:ext cx="1133856" cy="3127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access tuple</a:t>
            </a:r>
            <a:endParaRPr lang="en-US" sz="880" dirty="0"/>
          </a:p>
        </p:txBody>
      </p:sp>
      <p:sp>
        <p:nvSpPr>
          <p:cNvPr id="28" name="Text 20"/>
          <p:cNvSpPr/>
          <p:nvPr/>
        </p:nvSpPr>
        <p:spPr>
          <a:xfrm>
            <a:off x="3090672" y="4860036"/>
            <a:ext cx="11338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(ℓ_j,k_j)</a:t>
            </a:r>
            <a:endParaRPr lang="en-US" sz="710" dirty="0"/>
          </a:p>
        </p:txBody>
      </p:sp>
      <p:sp>
        <p:nvSpPr>
          <p:cNvPr id="29" name="Shape 21"/>
          <p:cNvSpPr/>
          <p:nvPr/>
        </p:nvSpPr>
        <p:spPr>
          <a:xfrm>
            <a:off x="6016752" y="3730752"/>
            <a:ext cx="1335024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335">
            <a:solidFill>
              <a:srgbClr val="0B4DBB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6" descr="C:\Users\postm\Dropbox\ProjectsWorkingSpace\VeriEdge\paper1_veriedge\img\icons\figure2_tight\icon_server_gpu_cluster_v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211516"/>
            <a:ext cx="713232" cy="3003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86016" y="3822192"/>
            <a:ext cx="256032" cy="4795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provider</a:t>
            </a:r>
            <a:endParaRPr lang="en-US" sz="860" dirty="0"/>
          </a:p>
        </p:txBody>
      </p:sp>
      <p:sp>
        <p:nvSpPr>
          <p:cNvPr id="32" name="Text 23"/>
          <p:cNvSpPr/>
          <p:nvPr/>
        </p:nvSpPr>
        <p:spPr>
          <a:xfrm>
            <a:off x="6986016" y="4424782"/>
            <a:ext cx="256032" cy="3785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∈ G_j</a:t>
            </a:r>
            <a:endParaRPr lang="en-US" sz="710" dirty="0"/>
          </a:p>
        </p:txBody>
      </p:sp>
      <p:sp>
        <p:nvSpPr>
          <p:cNvPr id="33" name="Shape 24"/>
          <p:cNvSpPr/>
          <p:nvPr/>
        </p:nvSpPr>
        <p:spPr>
          <a:xfrm>
            <a:off x="8275320" y="3611880"/>
            <a:ext cx="144475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12000"/>
              </a:srgbClr>
            </a:outerShdw>
          </a:effectLst>
        </p:spPr>
      </p:sp>
      <p:pic>
        <p:nvPicPr>
          <p:cNvPr id="34" name="Image 7" descr="C:\Users\postm\Dropbox\ProjectsWorkingSpace\VeriEdge\paper1_veriedge\img\icons\figure2_tight\icon_targeted_key_rele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3922867"/>
            <a:ext cx="411480" cy="36557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42832" y="3703320"/>
            <a:ext cx="667512" cy="375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(ℓ_j,k_j),</a:t>
            </a:r>
            <a:endParaRPr lang="en-US" sz="840" dirty="0"/>
          </a:p>
        </p:txBody>
      </p:sp>
      <p:sp>
        <p:nvSpPr>
          <p:cNvPr id="36" name="Text 26"/>
          <p:cNvSpPr/>
          <p:nvPr/>
        </p:nvSpPr>
        <p:spPr>
          <a:xfrm>
            <a:off x="8942832" y="4155034"/>
            <a:ext cx="667512" cy="2962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C_j, decrypt</a:t>
            </a:r>
            <a:endParaRPr lang="en-US" sz="710" dirty="0"/>
          </a:p>
        </p:txBody>
      </p:sp>
      <p:sp>
        <p:nvSpPr>
          <p:cNvPr id="37" name="Shape 27"/>
          <p:cNvSpPr/>
          <p:nvPr/>
        </p:nvSpPr>
        <p:spPr>
          <a:xfrm>
            <a:off x="5715000" y="5440680"/>
            <a:ext cx="1572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335">
            <a:solidFill>
              <a:srgbClr val="6B7280"/>
            </a:solidFill>
            <a:prstDash val="dash"/>
          </a:ln>
          <a:effectLst>
            <a:outerShdw sx="100000" sy="100000" kx="0" ky="0" algn="bl" rotWithShape="0" blurRad="50800" dist="15240" dir="2700000">
              <a:srgbClr val="000000">
                <a:alpha val="6000"/>
              </a:srgbClr>
            </a:outerShdw>
          </a:effectLst>
        </p:spPr>
      </p:sp>
      <p:pic>
        <p:nvPicPr>
          <p:cNvPr id="38" name="Image 8" descr="C:\Users\postm\Dropbox\ProjectsWorkingSpace\VeriEdge\paper1_veriedge\img\icons\figure2_tight\icon_provider_gro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739117"/>
            <a:ext cx="475488" cy="15293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446520" y="5532120"/>
            <a:ext cx="731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Non-winner /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760" dirty="0"/>
          </a:p>
        </p:txBody>
      </p:sp>
      <p:sp>
        <p:nvSpPr>
          <p:cNvPr id="40" name="Shape 29"/>
          <p:cNvSpPr/>
          <p:nvPr/>
        </p:nvSpPr>
        <p:spPr>
          <a:xfrm>
            <a:off x="8366760" y="5440680"/>
            <a:ext cx="1737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065">
            <a:solidFill>
              <a:srgbClr val="6B7280"/>
            </a:solidFill>
            <a:prstDash val="dash"/>
          </a:ln>
          <a:effectLst>
            <a:outerShdw sx="100000" sy="100000" kx="0" ky="0" algn="bl" rotWithShape="0" blurRad="50800" dist="15240" dir="2700000">
              <a:srgbClr val="000000">
                <a:alpha val="6000"/>
              </a:srgbClr>
            </a:outerShdw>
          </a:effectLst>
        </p:spPr>
      </p:sp>
      <p:sp>
        <p:nvSpPr>
          <p:cNvPr id="41" name="Text 30"/>
          <p:cNvSpPr/>
          <p:nvPr/>
        </p:nvSpPr>
        <p:spPr>
          <a:xfrm>
            <a:off x="8522208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</a:t>
            </a:r>
            <a:endParaRPr lang="en-US" sz="2200" dirty="0"/>
          </a:p>
        </p:txBody>
      </p:sp>
      <p:sp>
        <p:nvSpPr>
          <p:cNvPr id="42" name="Text 31"/>
          <p:cNvSpPr/>
          <p:nvPr/>
        </p:nvSpPr>
        <p:spPr>
          <a:xfrm>
            <a:off x="8942832" y="5550408"/>
            <a:ext cx="1005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tuple,</a:t>
            </a:r>
            <a:endParaRPr lang="en-US" sz="820" dirty="0"/>
          </a:p>
        </p:txBody>
      </p:sp>
      <p:sp>
        <p:nvSpPr>
          <p:cNvPr id="43" name="Text 32"/>
          <p:cNvSpPr/>
          <p:nvPr/>
        </p:nvSpPr>
        <p:spPr>
          <a:xfrm>
            <a:off x="8942832" y="5797296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plaintext recovery</a:t>
            </a:r>
            <a:endParaRPr lang="en-US" sz="700" dirty="0"/>
          </a:p>
        </p:txBody>
      </p:sp>
      <p:sp>
        <p:nvSpPr>
          <p:cNvPr id="44" name="Shape 33"/>
          <p:cNvSpPr/>
          <p:nvPr/>
        </p:nvSpPr>
        <p:spPr>
          <a:xfrm>
            <a:off x="1773936" y="5596128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795">
            <a:solidFill>
              <a:srgbClr val="0B4DBB"/>
            </a:solidFill>
            <a:prstDash val="solid"/>
          </a:ln>
          <a:effectLst>
            <a:outerShdw sx="100000" sy="100000" kx="0" ky="0" algn="bl" rotWithShape="0" blurRad="50800" dist="15240" dir="2700000">
              <a:srgbClr val="000000">
                <a:alpha val="7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2514600" y="5687568"/>
            <a:ext cx="1051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PPD intuition:</a:t>
            </a:r>
            <a:endParaRPr lang="en-US" sz="850" dirty="0"/>
          </a:p>
        </p:txBody>
      </p:sp>
      <p:sp>
        <p:nvSpPr>
          <p:cNvPr id="46" name="Text 35"/>
          <p:cNvSpPr/>
          <p:nvPr/>
        </p:nvSpPr>
        <p:spPr>
          <a:xfrm>
            <a:off x="2514600" y="5870448"/>
            <a:ext cx="2240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ciphertext once;</a:t>
            </a:r>
            <a:endParaRPr lang="en-US" sz="710" dirty="0"/>
          </a:p>
          <a:p>
            <a:pPr algn="l" indent="0" marL="0">
              <a:buNone/>
            </a:pPr>
            <a:r>
              <a:rPr lang="en-US" sz="7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only per-winner access material.</a:t>
            </a:r>
            <a:endParaRPr lang="en-US" sz="710" dirty="0"/>
          </a:p>
        </p:txBody>
      </p:sp>
      <p:sp>
        <p:nvSpPr>
          <p:cNvPr id="47" name="Text 36"/>
          <p:cNvSpPr/>
          <p:nvPr/>
        </p:nvSpPr>
        <p:spPr>
          <a:xfrm>
            <a:off x="2029968" y="5705856"/>
            <a:ext cx="2926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4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600" dirty="0"/>
          </a:p>
        </p:txBody>
      </p:sp>
      <p:sp>
        <p:nvSpPr>
          <p:cNvPr id="48" name="Shape 37"/>
          <p:cNvSpPr/>
          <p:nvPr/>
        </p:nvSpPr>
        <p:spPr>
          <a:xfrm>
            <a:off x="2011680" y="850392"/>
            <a:ext cx="214884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49" name="Shape 38"/>
          <p:cNvSpPr/>
          <p:nvPr/>
        </p:nvSpPr>
        <p:spPr>
          <a:xfrm>
            <a:off x="2011680" y="850392"/>
            <a:ext cx="0" cy="233172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0" name="Shape 39"/>
          <p:cNvSpPr/>
          <p:nvPr/>
        </p:nvSpPr>
        <p:spPr>
          <a:xfrm>
            <a:off x="1609344" y="3182112"/>
            <a:ext cx="402336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1" name="Text 40"/>
          <p:cNvSpPr/>
          <p:nvPr/>
        </p:nvSpPr>
        <p:spPr>
          <a:xfrm>
            <a:off x="1627632" y="1234440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winners</a:t>
            </a:r>
            <a:endParaRPr lang="en-US" sz="740" dirty="0"/>
          </a:p>
        </p:txBody>
      </p:sp>
      <p:sp>
        <p:nvSpPr>
          <p:cNvPr id="52" name="Shape 41"/>
          <p:cNvSpPr/>
          <p:nvPr/>
        </p:nvSpPr>
        <p:spPr>
          <a:xfrm>
            <a:off x="6336792" y="850392"/>
            <a:ext cx="1481328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3" name="Shape 42"/>
          <p:cNvSpPr/>
          <p:nvPr/>
        </p:nvSpPr>
        <p:spPr>
          <a:xfrm>
            <a:off x="7818120" y="850392"/>
            <a:ext cx="0" cy="288036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4" name="Shape 43"/>
          <p:cNvSpPr/>
          <p:nvPr/>
        </p:nvSpPr>
        <p:spPr>
          <a:xfrm>
            <a:off x="7351776" y="3730752"/>
            <a:ext cx="466344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5" name="Text 44"/>
          <p:cNvSpPr/>
          <p:nvPr/>
        </p:nvSpPr>
        <p:spPr>
          <a:xfrm>
            <a:off x="7479792" y="1234440"/>
            <a:ext cx="11155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 G_j</a:t>
            </a:r>
            <a:endParaRPr lang="en-US" sz="740" dirty="0"/>
          </a:p>
        </p:txBody>
      </p:sp>
      <p:sp>
        <p:nvSpPr>
          <p:cNvPr id="56" name="Shape 45"/>
          <p:cNvSpPr/>
          <p:nvPr/>
        </p:nvSpPr>
        <p:spPr>
          <a:xfrm>
            <a:off x="3291840" y="2011680"/>
            <a:ext cx="0" cy="77724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7" name="Shape 46"/>
          <p:cNvSpPr/>
          <p:nvPr/>
        </p:nvSpPr>
        <p:spPr>
          <a:xfrm>
            <a:off x="3291840" y="2011680"/>
            <a:ext cx="1956816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none"/>
          </a:ln>
        </p:spPr>
      </p:sp>
      <p:sp>
        <p:nvSpPr>
          <p:cNvPr id="58" name="Shape 47"/>
          <p:cNvSpPr/>
          <p:nvPr/>
        </p:nvSpPr>
        <p:spPr>
          <a:xfrm>
            <a:off x="5248656" y="1325880"/>
            <a:ext cx="0" cy="68580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triangle"/>
            <a:tailEnd type="none"/>
          </a:ln>
        </p:spPr>
      </p:sp>
      <p:sp>
        <p:nvSpPr>
          <p:cNvPr id="59" name="Text 48"/>
          <p:cNvSpPr/>
          <p:nvPr/>
        </p:nvSpPr>
        <p:spPr>
          <a:xfrm>
            <a:off x="3401568" y="2139696"/>
            <a:ext cx="8412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com_j</a:t>
            </a:r>
            <a:endParaRPr lang="en-US" sz="740" dirty="0"/>
          </a:p>
        </p:txBody>
      </p:sp>
      <p:sp>
        <p:nvSpPr>
          <p:cNvPr id="60" name="Shape 49"/>
          <p:cNvSpPr/>
          <p:nvPr/>
        </p:nvSpPr>
        <p:spPr>
          <a:xfrm>
            <a:off x="1609344" y="3566160"/>
            <a:ext cx="292608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1" name="Shape 50"/>
          <p:cNvSpPr/>
          <p:nvPr/>
        </p:nvSpPr>
        <p:spPr>
          <a:xfrm>
            <a:off x="1901952" y="3200400"/>
            <a:ext cx="0" cy="36576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2" name="Shape 51"/>
          <p:cNvSpPr/>
          <p:nvPr/>
        </p:nvSpPr>
        <p:spPr>
          <a:xfrm>
            <a:off x="1901952" y="3200400"/>
            <a:ext cx="429768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3" name="Text 52"/>
          <p:cNvSpPr/>
          <p:nvPr/>
        </p:nvSpPr>
        <p:spPr>
          <a:xfrm>
            <a:off x="1627632" y="2871216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m_j</a:t>
            </a:r>
            <a:endParaRPr lang="en-US" sz="740" dirty="0"/>
          </a:p>
        </p:txBody>
      </p:sp>
      <p:sp>
        <p:nvSpPr>
          <p:cNvPr id="64" name="Shape 53"/>
          <p:cNvSpPr/>
          <p:nvPr/>
        </p:nvSpPr>
        <p:spPr>
          <a:xfrm>
            <a:off x="1609344" y="4160520"/>
            <a:ext cx="420624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5" name="Shape 54"/>
          <p:cNvSpPr/>
          <p:nvPr/>
        </p:nvSpPr>
        <p:spPr>
          <a:xfrm>
            <a:off x="2029968" y="4160520"/>
            <a:ext cx="0" cy="612648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66" name="Shape 55"/>
          <p:cNvSpPr/>
          <p:nvPr/>
        </p:nvSpPr>
        <p:spPr>
          <a:xfrm>
            <a:off x="2029968" y="4773168"/>
            <a:ext cx="365760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7" name="Text 56"/>
          <p:cNvSpPr/>
          <p:nvPr/>
        </p:nvSpPr>
        <p:spPr>
          <a:xfrm>
            <a:off x="1481328" y="4590288"/>
            <a:ext cx="822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 k_j</a:t>
            </a:r>
            <a:endParaRPr lang="en-US" sz="740" dirty="0"/>
          </a:p>
        </p:txBody>
      </p:sp>
      <p:sp>
        <p:nvSpPr>
          <p:cNvPr id="68" name="Shape 57"/>
          <p:cNvSpPr/>
          <p:nvPr/>
        </p:nvSpPr>
        <p:spPr>
          <a:xfrm>
            <a:off x="4251960" y="3200400"/>
            <a:ext cx="640080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69" name="Text 58"/>
          <p:cNvSpPr/>
          <p:nvPr/>
        </p:nvSpPr>
        <p:spPr>
          <a:xfrm>
            <a:off x="4315968" y="2907792"/>
            <a:ext cx="530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upload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C_j</a:t>
            </a:r>
            <a:endParaRPr lang="en-US" sz="740" dirty="0"/>
          </a:p>
        </p:txBody>
      </p:sp>
      <p:sp>
        <p:nvSpPr>
          <p:cNvPr id="70" name="Shape 59"/>
          <p:cNvSpPr/>
          <p:nvPr/>
        </p:nvSpPr>
        <p:spPr>
          <a:xfrm>
            <a:off x="5440680" y="3611880"/>
            <a:ext cx="0" cy="429768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1" name="Shape 60"/>
          <p:cNvSpPr/>
          <p:nvPr/>
        </p:nvSpPr>
        <p:spPr>
          <a:xfrm>
            <a:off x="4334256" y="4041648"/>
            <a:ext cx="1106424" cy="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2" name="Shape 61"/>
          <p:cNvSpPr/>
          <p:nvPr/>
        </p:nvSpPr>
        <p:spPr>
          <a:xfrm>
            <a:off x="4334256" y="4041648"/>
            <a:ext cx="0" cy="640080"/>
          </a:xfrm>
          <a:prstGeom prst="line">
            <a:avLst/>
          </a:prstGeom>
          <a:noFill/>
          <a:ln w="17145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3" name="Text 62"/>
          <p:cNvSpPr/>
          <p:nvPr/>
        </p:nvSpPr>
        <p:spPr>
          <a:xfrm>
            <a:off x="4133088" y="3767328"/>
            <a:ext cx="685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 ℓ_j</a:t>
            </a:r>
            <a:endParaRPr lang="en-US" sz="740" dirty="0"/>
          </a:p>
        </p:txBody>
      </p:sp>
      <p:sp>
        <p:nvSpPr>
          <p:cNvPr id="74" name="Shape 63"/>
          <p:cNvSpPr/>
          <p:nvPr/>
        </p:nvSpPr>
        <p:spPr>
          <a:xfrm>
            <a:off x="4334256" y="4791456"/>
            <a:ext cx="896112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5" name="Shape 64"/>
          <p:cNvSpPr/>
          <p:nvPr/>
        </p:nvSpPr>
        <p:spPr>
          <a:xfrm>
            <a:off x="5230368" y="4361688"/>
            <a:ext cx="0" cy="429768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6" name="Shape 65"/>
          <p:cNvSpPr/>
          <p:nvPr/>
        </p:nvSpPr>
        <p:spPr>
          <a:xfrm>
            <a:off x="5230368" y="4361688"/>
            <a:ext cx="786384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77" name="Text 66"/>
          <p:cNvSpPr/>
          <p:nvPr/>
        </p:nvSpPr>
        <p:spPr>
          <a:xfrm>
            <a:off x="4462272" y="4498848"/>
            <a:ext cx="1051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encrypted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e_{i,j}</a:t>
            </a:r>
            <a:endParaRPr lang="en-US" sz="740" dirty="0"/>
          </a:p>
        </p:txBody>
      </p:sp>
      <p:sp>
        <p:nvSpPr>
          <p:cNvPr id="78" name="Shape 67"/>
          <p:cNvSpPr/>
          <p:nvPr/>
        </p:nvSpPr>
        <p:spPr>
          <a:xfrm>
            <a:off x="6647688" y="3200400"/>
            <a:ext cx="1271016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79" name="Shape 68"/>
          <p:cNvSpPr/>
          <p:nvPr/>
        </p:nvSpPr>
        <p:spPr>
          <a:xfrm>
            <a:off x="7918704" y="3200400"/>
            <a:ext cx="0" cy="804672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none"/>
          </a:ln>
        </p:spPr>
      </p:sp>
      <p:sp>
        <p:nvSpPr>
          <p:cNvPr id="80" name="Shape 69"/>
          <p:cNvSpPr/>
          <p:nvPr/>
        </p:nvSpPr>
        <p:spPr>
          <a:xfrm>
            <a:off x="7918704" y="4005072"/>
            <a:ext cx="356616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1" name="Text 70"/>
          <p:cNvSpPr/>
          <p:nvPr/>
        </p:nvSpPr>
        <p:spPr>
          <a:xfrm>
            <a:off x="7059168" y="2889504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740" dirty="0"/>
          </a:p>
        </p:txBody>
      </p:sp>
      <p:sp>
        <p:nvSpPr>
          <p:cNvPr id="82" name="Shape 71"/>
          <p:cNvSpPr/>
          <p:nvPr/>
        </p:nvSpPr>
        <p:spPr>
          <a:xfrm>
            <a:off x="7351776" y="4361688"/>
            <a:ext cx="923544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83" name="Text 72"/>
          <p:cNvSpPr/>
          <p:nvPr/>
        </p:nvSpPr>
        <p:spPr>
          <a:xfrm>
            <a:off x="7479792" y="4050792"/>
            <a:ext cx="7132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 with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(ℓ_j,k_j)</a:t>
            </a:r>
            <a:endParaRPr lang="en-US" sz="740" dirty="0"/>
          </a:p>
        </p:txBody>
      </p:sp>
      <p:sp>
        <p:nvSpPr>
          <p:cNvPr id="84" name="Shape 73"/>
          <p:cNvSpPr/>
          <p:nvPr/>
        </p:nvSpPr>
        <p:spPr>
          <a:xfrm>
            <a:off x="5486400" y="3611880"/>
            <a:ext cx="0" cy="1280160"/>
          </a:xfrm>
          <a:prstGeom prst="line">
            <a:avLst/>
          </a:prstGeom>
          <a:noFill/>
          <a:ln w="17145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85" name="Shape 74"/>
          <p:cNvSpPr/>
          <p:nvPr/>
        </p:nvSpPr>
        <p:spPr>
          <a:xfrm>
            <a:off x="5486400" y="4892040"/>
            <a:ext cx="228600" cy="886968"/>
          </a:xfrm>
          <a:prstGeom prst="line">
            <a:avLst/>
          </a:prstGeom>
          <a:noFill/>
          <a:ln w="17145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86" name="Text 75"/>
          <p:cNvSpPr/>
          <p:nvPr/>
        </p:nvSpPr>
        <p:spPr>
          <a:xfrm>
            <a:off x="525780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740" dirty="0"/>
          </a:p>
        </p:txBody>
      </p:sp>
      <p:sp>
        <p:nvSpPr>
          <p:cNvPr id="87" name="Shape 76"/>
          <p:cNvSpPr/>
          <p:nvPr/>
        </p:nvSpPr>
        <p:spPr>
          <a:xfrm>
            <a:off x="7287768" y="5815584"/>
            <a:ext cx="1078992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88" name="Text 77"/>
          <p:cNvSpPr/>
          <p:nvPr/>
        </p:nvSpPr>
        <p:spPr>
          <a:xfrm>
            <a:off x="7424928" y="5559552"/>
            <a:ext cx="658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e_{i,j},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k_j</a:t>
            </a:r>
            <a:endParaRPr lang="en-US" sz="740" dirty="0"/>
          </a:p>
        </p:txBody>
      </p:sp>
      <p:sp>
        <p:nvSpPr>
          <p:cNvPr id="89" name="Shape 78"/>
          <p:cNvSpPr/>
          <p:nvPr/>
        </p:nvSpPr>
        <p:spPr>
          <a:xfrm>
            <a:off x="1965960" y="7022592"/>
            <a:ext cx="548640" cy="0"/>
          </a:xfrm>
          <a:prstGeom prst="line">
            <a:avLst/>
          </a:prstGeom>
          <a:noFill/>
          <a:ln w="17145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90" name="Text 79"/>
          <p:cNvSpPr/>
          <p:nvPr/>
        </p:nvSpPr>
        <p:spPr>
          <a:xfrm>
            <a:off x="2624328" y="693115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coordination path</a:t>
            </a:r>
            <a:endParaRPr lang="en-US" sz="700" dirty="0"/>
          </a:p>
        </p:txBody>
      </p:sp>
      <p:sp>
        <p:nvSpPr>
          <p:cNvPr id="91" name="Shape 80"/>
          <p:cNvSpPr/>
          <p:nvPr/>
        </p:nvSpPr>
        <p:spPr>
          <a:xfrm>
            <a:off x="4526280" y="7022592"/>
            <a:ext cx="548640" cy="0"/>
          </a:xfrm>
          <a:prstGeom prst="line">
            <a:avLst/>
          </a:prstGeom>
          <a:noFill/>
          <a:ln w="19050">
            <a:solidFill>
              <a:srgbClr val="0B4DBB"/>
            </a:solidFill>
            <a:prstDash val="solid"/>
            <a:headEnd type="none"/>
            <a:tailEnd type="triangle"/>
          </a:ln>
        </p:spPr>
      </p:sp>
      <p:sp>
        <p:nvSpPr>
          <p:cNvPr id="92" name="Text 81"/>
          <p:cNvSpPr/>
          <p:nvPr/>
        </p:nvSpPr>
        <p:spPr>
          <a:xfrm>
            <a:off x="5184648" y="693115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delivery path</a:t>
            </a:r>
            <a:endParaRPr lang="en-US" sz="700" dirty="0"/>
          </a:p>
        </p:txBody>
      </p:sp>
      <p:sp>
        <p:nvSpPr>
          <p:cNvPr id="93" name="Shape 82"/>
          <p:cNvSpPr/>
          <p:nvPr/>
        </p:nvSpPr>
        <p:spPr>
          <a:xfrm>
            <a:off x="6492240" y="7022592"/>
            <a:ext cx="548640" cy="0"/>
          </a:xfrm>
          <a:prstGeom prst="line">
            <a:avLst/>
          </a:prstGeom>
          <a:noFill/>
          <a:ln w="17145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94" name="Text 83"/>
          <p:cNvSpPr/>
          <p:nvPr/>
        </p:nvSpPr>
        <p:spPr>
          <a:xfrm>
            <a:off x="7150608" y="693115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/ inaccessible path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Figure 2 Reference Style</dc:title>
  <dc:subject>Reference-style Figure 2 for VeriEdge</dc:subject>
  <dc:creator>Codex</dc:creator>
  <cp:lastModifiedBy>Codex</cp:lastModifiedBy>
  <cp:revision>1</cp:revision>
  <dcterms:created xsi:type="dcterms:W3CDTF">2026-05-03T10:36:48Z</dcterms:created>
  <dcterms:modified xsi:type="dcterms:W3CDTF">2026-05-03T10:36:48Z</dcterms:modified>
</cp:coreProperties>
</file>